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67" r:id="rId4"/>
  </p:sldMasterIdLst>
  <p:notesMasterIdLst>
    <p:notesMasterId r:id="rId25"/>
  </p:notesMasterIdLst>
  <p:sldIdLst>
    <p:sldId id="852" r:id="rId5"/>
    <p:sldId id="854" r:id="rId6"/>
    <p:sldId id="1217" r:id="rId7"/>
    <p:sldId id="1309" r:id="rId8"/>
    <p:sldId id="1322" r:id="rId9"/>
    <p:sldId id="1333" r:id="rId10"/>
    <p:sldId id="1334" r:id="rId11"/>
    <p:sldId id="1327" r:id="rId12"/>
    <p:sldId id="1328" r:id="rId13"/>
    <p:sldId id="1329" r:id="rId14"/>
    <p:sldId id="1251" r:id="rId15"/>
    <p:sldId id="1285" r:id="rId16"/>
    <p:sldId id="1331" r:id="rId17"/>
    <p:sldId id="1332" r:id="rId18"/>
    <p:sldId id="1326" r:id="rId19"/>
    <p:sldId id="1330" r:id="rId20"/>
    <p:sldId id="1354" r:id="rId21"/>
    <p:sldId id="1286" r:id="rId22"/>
    <p:sldId id="1355" r:id="rId23"/>
    <p:sldId id="1113" r:id="rId24"/>
  </p:sldIdLst>
  <p:sldSz cx="12192000" cy="6858000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0" userDrawn="1">
          <p15:clr>
            <a:srgbClr val="A4A3A4"/>
          </p15:clr>
        </p15:guide>
        <p15:guide id="2" orient="horz" pos="436" userDrawn="1">
          <p15:clr>
            <a:srgbClr val="A4A3A4"/>
          </p15:clr>
        </p15:guide>
        <p15:guide id="3" pos="347" userDrawn="1">
          <p15:clr>
            <a:srgbClr val="A4A3A4"/>
          </p15:clr>
        </p15:guide>
        <p15:guide id="4" pos="7214" userDrawn="1">
          <p15:clr>
            <a:srgbClr val="A4A3A4"/>
          </p15:clr>
        </p15:guide>
        <p15:guide id="5" orient="horz" pos="3929" userDrawn="1">
          <p15:clr>
            <a:srgbClr val="A4A3A4"/>
          </p15:clr>
        </p15:guide>
        <p15:guide id="6" orient="horz" pos="2073" userDrawn="1">
          <p15:clr>
            <a:srgbClr val="A4A3A4"/>
          </p15:clr>
        </p15:guide>
        <p15:guide id="7" pos="366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  <p:cmAuthor id="75" name="作者" initials="A" lastIdx="0" clrIdx="24"/>
  <p:cmAuthor id="0" name="微软用户" initials="微软用户" lastIdx="1" clrIdx="0"/>
  <p:cmAuthor id="2" name="Administrator" initials="A" lastIdx="1" clrIdx="1"/>
  <p:cmAuthor id="1" name="kingsoft" initials="k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C000"/>
    <a:srgbClr val="FFF2CC"/>
    <a:srgbClr val="10356A"/>
    <a:srgbClr val="3333FF"/>
    <a:srgbClr val="FFFFCC"/>
    <a:srgbClr val="22180F"/>
    <a:srgbClr val="312519"/>
    <a:srgbClr val="0F3670"/>
    <a:srgbClr val="4661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19" autoAdjust="0"/>
    <p:restoredTop sz="86427" autoAdjust="0"/>
  </p:normalViewPr>
  <p:slideViewPr>
    <p:cSldViewPr showGuides="1">
      <p:cViewPr varScale="1">
        <p:scale>
          <a:sx n="87" d="100"/>
          <a:sy n="87" d="100"/>
        </p:scale>
        <p:origin x="48" y="40"/>
      </p:cViewPr>
      <p:guideLst>
        <p:guide orient="horz" pos="300"/>
        <p:guide orient="horz" pos="436"/>
        <p:guide pos="347"/>
        <p:guide pos="7214"/>
        <p:guide orient="horz" pos="3929"/>
        <p:guide orient="horz" pos="2073"/>
        <p:guide pos="366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0" Type="http://schemas.openxmlformats.org/officeDocument/2006/relationships/tags" Target="tags/tag35.xml"/><Relationship Id="rId3" Type="http://schemas.openxmlformats.org/officeDocument/2006/relationships/slideMaster" Target="slideMasters/slideMaster2.xml"/><Relationship Id="rId29" Type="http://schemas.openxmlformats.org/officeDocument/2006/relationships/commentAuthors" Target="commentAuthors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package" Target="../embeddings/Workbook6.xlsx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package" Target="../embeddings/Workbook7.xlsx"/></Relationships>
</file>

<file path=ppt/charts/_rels/chart8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package" Target="../embeddings/Workbook8.xlsx"/></Relationships>
</file>

<file path=ppt/charts/_rels/chart9.xml.rels><?xml version="1.0" encoding="UTF-8" standalone="yes"?>
<Relationships xmlns="http://schemas.openxmlformats.org/package/2006/relationships"><Relationship Id="rId3" Type="http://schemas.microsoft.com/office/2011/relationships/chartColorStyle" Target="colors9.xml"/><Relationship Id="rId2" Type="http://schemas.microsoft.com/office/2011/relationships/chartStyle" Target="style9.xml"/><Relationship Id="rId1" Type="http://schemas.openxmlformats.org/officeDocument/2006/relationships/package" Target="../embeddings/Workbook9.xlsx"/></Relationships>
</file>

<file path=ppt/charts/_rels/chart10.xml.rels><?xml version="1.0" encoding="UTF-8" standalone="yes"?>
<Relationships xmlns="http://schemas.openxmlformats.org/package/2006/relationships"><Relationship Id="rId3" Type="http://schemas.microsoft.com/office/2011/relationships/chartColorStyle" Target="colors10.xml"/><Relationship Id="rId2" Type="http://schemas.microsoft.com/office/2011/relationships/chartStyle" Target="style10.xml"/><Relationship Id="rId1" Type="http://schemas.openxmlformats.org/officeDocument/2006/relationships/package" Target="../embeddings/Workbook10.xlsx"/></Relationships>
</file>

<file path=ppt/charts/_rels/chart11.xml.rels><?xml version="1.0" encoding="UTF-8" standalone="yes"?>
<Relationships xmlns="http://schemas.openxmlformats.org/package/2006/relationships"><Relationship Id="rId3" Type="http://schemas.microsoft.com/office/2011/relationships/chartColorStyle" Target="colors11.xml"/><Relationship Id="rId2" Type="http://schemas.microsoft.com/office/2011/relationships/chartStyle" Target="style11.xml"/><Relationship Id="rId1" Type="http://schemas.openxmlformats.org/officeDocument/2006/relationships/package" Target="../embeddings/Workbook11.xlsx"/></Relationships>
</file>

<file path=ppt/charts/_rels/chart12.xml.rels><?xml version="1.0" encoding="UTF-8" standalone="yes"?>
<Relationships xmlns="http://schemas.openxmlformats.org/package/2006/relationships"><Relationship Id="rId3" Type="http://schemas.microsoft.com/office/2011/relationships/chartColorStyle" Target="colors12.xml"/><Relationship Id="rId2" Type="http://schemas.microsoft.com/office/2011/relationships/chartStyle" Target="style12.xml"/><Relationship Id="rId1" Type="http://schemas.openxmlformats.org/officeDocument/2006/relationships/package" Target="../embeddings/Workbook12.xlsx"/></Relationships>
</file>

<file path=ppt/charts/_rels/chart13.xml.rels><?xml version="1.0" encoding="UTF-8" standalone="yes"?>
<Relationships xmlns="http://schemas.openxmlformats.org/package/2006/relationships"><Relationship Id="rId3" Type="http://schemas.microsoft.com/office/2011/relationships/chartColorStyle" Target="colors13.xml"/><Relationship Id="rId2" Type="http://schemas.microsoft.com/office/2011/relationships/chartStyle" Target="style13.xml"/><Relationship Id="rId1" Type="http://schemas.openxmlformats.org/officeDocument/2006/relationships/package" Target="../embeddings/Workbook13.xlsx"/></Relationships>
</file>

<file path=ppt/charts/_rels/chart14.xml.rels><?xml version="1.0" encoding="UTF-8" standalone="yes"?>
<Relationships xmlns="http://schemas.openxmlformats.org/package/2006/relationships"><Relationship Id="rId3" Type="http://schemas.microsoft.com/office/2011/relationships/chartColorStyle" Target="colors14.xml"/><Relationship Id="rId2" Type="http://schemas.microsoft.com/office/2011/relationships/chartStyle" Target="style14.xml"/><Relationship Id="rId1" Type="http://schemas.openxmlformats.org/officeDocument/2006/relationships/package" Target="../embeddings/Workbook14.xlsx"/></Relationships>
</file>

<file path=ppt/charts/_rels/chart15.xml.rels><?xml version="1.0" encoding="UTF-8" standalone="yes"?>
<Relationships xmlns="http://schemas.openxmlformats.org/package/2006/relationships"><Relationship Id="rId3" Type="http://schemas.microsoft.com/office/2011/relationships/chartColorStyle" Target="colors15.xml"/><Relationship Id="rId2" Type="http://schemas.microsoft.com/office/2011/relationships/chartStyle" Target="style15.xml"/><Relationship Id="rId1" Type="http://schemas.openxmlformats.org/officeDocument/2006/relationships/package" Target="../embeddings/Workbook15.xlsx"/></Relationships>
</file>

<file path=ppt/charts/_rels/chart16.xml.rels><?xml version="1.0" encoding="UTF-8" standalone="yes"?>
<Relationships xmlns="http://schemas.openxmlformats.org/package/2006/relationships"><Relationship Id="rId4" Type="http://schemas.microsoft.com/office/2011/relationships/chartColorStyle" Target="colors16.xml"/><Relationship Id="rId3" Type="http://schemas.microsoft.com/office/2011/relationships/chartStyle" Target="style16.xml"/><Relationship Id="rId2" Type="http://schemas.openxmlformats.org/officeDocument/2006/relationships/themeOverride" Target="../theme/themeOverride1.xml"/><Relationship Id="rId1" Type="http://schemas.openxmlformats.org/officeDocument/2006/relationships/package" Target="../embeddings/Workbook16.xlsx"/></Relationships>
</file>

<file path=ppt/charts/_rels/chart17.xml.rels><?xml version="1.0" encoding="UTF-8" standalone="yes"?>
<Relationships xmlns="http://schemas.openxmlformats.org/package/2006/relationships"><Relationship Id="rId3" Type="http://schemas.microsoft.com/office/2011/relationships/chartColorStyle" Target="colors17.xml"/><Relationship Id="rId2" Type="http://schemas.microsoft.com/office/2011/relationships/chartStyle" Target="style17.xml"/><Relationship Id="rId1" Type="http://schemas.openxmlformats.org/officeDocument/2006/relationships/package" Target="../embeddings/Workbook17.xlsx"/></Relationships>
</file>

<file path=ppt/charts/_rels/chart18.xml.rels><?xml version="1.0" encoding="UTF-8" standalone="yes"?>
<Relationships xmlns="http://schemas.openxmlformats.org/package/2006/relationships"><Relationship Id="rId3" Type="http://schemas.microsoft.com/office/2011/relationships/chartColorStyle" Target="colors18.xml"/><Relationship Id="rId2" Type="http://schemas.microsoft.com/office/2011/relationships/chartStyle" Target="style18.xml"/><Relationship Id="rId1" Type="http://schemas.openxmlformats.org/officeDocument/2006/relationships/package" Target="../embeddings/Workbook18.xlsx"/></Relationships>
</file>

<file path=ppt/charts/_rels/chart19.xml.rels><?xml version="1.0" encoding="UTF-8" standalone="yes"?>
<Relationships xmlns="http://schemas.openxmlformats.org/package/2006/relationships"><Relationship Id="rId3" Type="http://schemas.microsoft.com/office/2011/relationships/chartColorStyle" Target="colors19.xml"/><Relationship Id="rId2" Type="http://schemas.microsoft.com/office/2011/relationships/chartStyle" Target="style19.xml"/><Relationship Id="rId1" Type="http://schemas.openxmlformats.org/officeDocument/2006/relationships/package" Target="../embeddings/Workbook19.xlsx"/></Relationships>
</file>

<file path=ppt/charts/_rels/chart20.xml.rels><?xml version="1.0" encoding="UTF-8" standalone="yes"?>
<Relationships xmlns="http://schemas.openxmlformats.org/package/2006/relationships"><Relationship Id="rId3" Type="http://schemas.microsoft.com/office/2011/relationships/chartColorStyle" Target="colors20.xml"/><Relationship Id="rId2" Type="http://schemas.microsoft.com/office/2011/relationships/chartStyle" Target="style20.xml"/><Relationship Id="rId1" Type="http://schemas.openxmlformats.org/officeDocument/2006/relationships/package" Target="../embeddings/Workbook20.xlsx"/></Relationships>
</file>

<file path=ppt/charts/_rels/chart21.xml.rels><?xml version="1.0" encoding="UTF-8" standalone="yes"?>
<Relationships xmlns="http://schemas.openxmlformats.org/package/2006/relationships"><Relationship Id="rId3" Type="http://schemas.microsoft.com/office/2011/relationships/chartColorStyle" Target="colors21.xml"/><Relationship Id="rId2" Type="http://schemas.microsoft.com/office/2011/relationships/chartStyle" Target="style21.xml"/><Relationship Id="rId1" Type="http://schemas.openxmlformats.org/officeDocument/2006/relationships/package" Target="../embeddings/Workbook21.xlsx"/></Relationships>
</file>

<file path=ppt/charts/_rels/chart22.xml.rels><?xml version="1.0" encoding="UTF-8" standalone="yes"?>
<Relationships xmlns="http://schemas.openxmlformats.org/package/2006/relationships"><Relationship Id="rId3" Type="http://schemas.microsoft.com/office/2011/relationships/chartColorStyle" Target="colors22.xml"/><Relationship Id="rId2" Type="http://schemas.microsoft.com/office/2011/relationships/chartStyle" Target="style22.xml"/><Relationship Id="rId1" Type="http://schemas.openxmlformats.org/officeDocument/2006/relationships/package" Target="../embeddings/Workbook22.xlsx"/></Relationships>
</file>

<file path=ppt/charts/_rels/chart23.xml.rels><?xml version="1.0" encoding="UTF-8" standalone="yes"?>
<Relationships xmlns="http://schemas.openxmlformats.org/package/2006/relationships"><Relationship Id="rId3" Type="http://schemas.microsoft.com/office/2011/relationships/chartColorStyle" Target="colors23.xml"/><Relationship Id="rId2" Type="http://schemas.microsoft.com/office/2011/relationships/chartStyle" Target="style23.xml"/><Relationship Id="rId1" Type="http://schemas.openxmlformats.org/officeDocument/2006/relationships/package" Target="../embeddings/Workbook23.xlsx"/></Relationships>
</file>

<file path=ppt/charts/_rels/chart24.xml.rels><?xml version="1.0" encoding="UTF-8" standalone="yes"?>
<Relationships xmlns="http://schemas.openxmlformats.org/package/2006/relationships"><Relationship Id="rId3" Type="http://schemas.microsoft.com/office/2011/relationships/chartColorStyle" Target="colors24.xml"/><Relationship Id="rId2" Type="http://schemas.microsoft.com/office/2011/relationships/chartStyle" Target="style24.xml"/><Relationship Id="rId1" Type="http://schemas.openxmlformats.org/officeDocument/2006/relationships/package" Target="../embeddings/Workbook24.xlsx"/></Relationships>
</file>

<file path=ppt/charts/_rels/chart25.xml.rels><?xml version="1.0" encoding="UTF-8" standalone="yes"?>
<Relationships xmlns="http://schemas.openxmlformats.org/package/2006/relationships"><Relationship Id="rId3" Type="http://schemas.microsoft.com/office/2011/relationships/chartColorStyle" Target="colors25.xml"/><Relationship Id="rId2" Type="http://schemas.microsoft.com/office/2011/relationships/chartStyle" Target="style25.xml"/><Relationship Id="rId1" Type="http://schemas.openxmlformats.org/officeDocument/2006/relationships/package" Target="../embeddings/Workbook25.xlsx"/></Relationships>
</file>

<file path=ppt/charts/_rels/chart26.xml.rels><?xml version="1.0" encoding="UTF-8" standalone="yes"?>
<Relationships xmlns="http://schemas.openxmlformats.org/package/2006/relationships"><Relationship Id="rId3" Type="http://schemas.microsoft.com/office/2011/relationships/chartColorStyle" Target="colors26.xml"/><Relationship Id="rId2" Type="http://schemas.microsoft.com/office/2011/relationships/chartStyle" Target="style26.xml"/><Relationship Id="rId1" Type="http://schemas.openxmlformats.org/officeDocument/2006/relationships/package" Target="../embeddings/Workbook26.xlsx"/></Relationships>
</file>

<file path=ppt/charts/_rels/chart27.xml.rels><?xml version="1.0" encoding="UTF-8" standalone="yes"?>
<Relationships xmlns="http://schemas.openxmlformats.org/package/2006/relationships"><Relationship Id="rId3" Type="http://schemas.microsoft.com/office/2011/relationships/chartColorStyle" Target="colors27.xml"/><Relationship Id="rId2" Type="http://schemas.microsoft.com/office/2011/relationships/chartStyle" Target="style27.xml"/><Relationship Id="rId1" Type="http://schemas.openxmlformats.org/officeDocument/2006/relationships/package" Target="../embeddings/Workbook27.xlsx"/></Relationships>
</file>

<file path=ppt/charts/_rels/chart28.xml.rels><?xml version="1.0" encoding="UTF-8" standalone="yes"?>
<Relationships xmlns="http://schemas.openxmlformats.org/package/2006/relationships"><Relationship Id="rId3" Type="http://schemas.microsoft.com/office/2011/relationships/chartColorStyle" Target="colors28.xml"/><Relationship Id="rId2" Type="http://schemas.microsoft.com/office/2011/relationships/chartStyle" Target="style28.xml"/><Relationship Id="rId1" Type="http://schemas.openxmlformats.org/officeDocument/2006/relationships/package" Target="../embeddings/Workbook2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2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sz="2400"/>
              <a:t>经销商合作年限</a:t>
            </a:r>
            <a:endParaRPr sz="2400"/>
          </a:p>
        </c:rich>
      </c:tx>
      <c:layout>
        <c:manualLayout>
          <c:xMode val="edge"/>
          <c:yMode val="edge"/>
          <c:x val="0.25495"/>
          <c:y val="0.0198664712587527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rgbClr val="92D05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Lbls>
            <c:dLbl>
              <c:idx val="3"/>
              <c:layout>
                <c:manualLayout>
                  <c:x val="0.0261551200605589"/>
                  <c:y val="0.196828620544315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2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0-2年</c:v>
                </c:pt>
                <c:pt idx="1">
                  <c:v>3-5年</c:v>
                </c:pt>
                <c:pt idx="2">
                  <c:v>6-10年</c:v>
                </c:pt>
                <c:pt idx="3">
                  <c:v>10年以上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</c:v>
                </c:pt>
                <c:pt idx="1">
                  <c:v>72</c:v>
                </c:pt>
                <c:pt idx="2">
                  <c:v>51</c:v>
                </c:pt>
                <c:pt idx="3">
                  <c:v>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8421"/>
          <c:y val="0.300666666666667"/>
          <c:w val="0.1459"/>
          <c:h val="0.309066666666667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20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lang="zh-CN" sz="20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92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sz="1920"/>
              <a:t>经销商年龄结构</a:t>
            </a:r>
            <a:endParaRPr sz="192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1"/>
                </a:innerShdw>
              </a:effectLst>
            </c:spPr>
          </c:dPt>
          <c:dPt>
            <c:idx val="1"/>
            <c:bubble3D val="0"/>
            <c:spPr>
              <a:pattFill prst="ltUpDiag">
                <a:fgClr>
                  <a:schemeClr val="accent2"/>
                </a:fgClr>
                <a:bgClr>
                  <a:schemeClr val="accent2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2"/>
                </a:innerShdw>
              </a:effectLst>
            </c:spPr>
          </c:dPt>
          <c:dPt>
            <c:idx val="2"/>
            <c:bubble3D val="0"/>
            <c:spPr>
              <a:pattFill prst="ltUpDiag">
                <a:fgClr>
                  <a:schemeClr val="accent3"/>
                </a:fgClr>
                <a:bgClr>
                  <a:schemeClr val="accent3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3"/>
                </a:innerShdw>
              </a:effectLst>
            </c:spPr>
          </c:dPt>
          <c:dPt>
            <c:idx val="3"/>
            <c:bubble3D val="0"/>
            <c:spPr>
              <a:pattFill prst="ltUpDiag">
                <a:fgClr>
                  <a:schemeClr val="accent4"/>
                </a:fgClr>
                <a:bgClr>
                  <a:schemeClr val="accent4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4"/>
                </a:innerShdw>
              </a:effectLst>
            </c:spPr>
          </c:dPt>
          <c:dLbls>
            <c:dLbl>
              <c:idx val="3"/>
              <c:layout>
                <c:manualLayout>
                  <c:x val="0.018917716699622"/>
                  <c:y val="0.186678650587939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gradFill>
                  <a:gsLst>
                    <a:gs pos="100000">
                      <a:schemeClr val="dk1">
                        <a:lumMod val="95000"/>
                        <a:lumOff val="5000"/>
                        <a:alpha val="42000"/>
                      </a:schemeClr>
                    </a:gs>
                    <a:gs pos="0">
                      <a:schemeClr val="lt1">
                        <a:lumMod val="75000"/>
                        <a:alpha val="36000"/>
                      </a:schemeClr>
                    </a:gs>
                  </a:gsLst>
                  <a:lin ang="5400000" scaled="1"/>
                </a:gradFill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2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35岁以下</c:v>
                </c:pt>
                <c:pt idx="1">
                  <c:v>36-45岁</c:v>
                </c:pt>
                <c:pt idx="2">
                  <c:v>46-55岁</c:v>
                </c:pt>
                <c:pt idx="3">
                  <c:v>56岁以上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</c:v>
                </c:pt>
                <c:pt idx="1">
                  <c:v>80</c:v>
                </c:pt>
                <c:pt idx="2">
                  <c:v>43</c:v>
                </c:pt>
                <c:pt idx="3">
                  <c:v>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1909"/>
          <c:y val="0.12893670096663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600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600" b="1" i="0" u="none" strike="noStrike" kern="1200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t>经销商经营模式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gradFill>
                <a:gsLst>
                  <a:gs pos="100000">
                    <a:schemeClr val="accent2">
                      <a:lumMod val="60000"/>
                      <a:lumOff val="40000"/>
                    </a:schemeClr>
                  </a:gs>
                  <a:gs pos="0">
                    <a:schemeClr val="accent2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2400" b="0" i="0" u="none" strike="noStrike" kern="1200" baseline="0">
                        <a:solidFill>
                          <a:schemeClr val="dk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sz="2400"/>
                      <a:t>56%</a:t>
                    </a:r>
                    <a:endParaRPr sz="2400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2400" b="0" i="0" u="none" strike="noStrike" kern="1200" baseline="0">
                        <a:solidFill>
                          <a:schemeClr val="dk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sz="2400"/>
                      <a:t>44%</a:t>
                    </a:r>
                    <a:endParaRPr sz="2400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24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夫妻店</c:v>
                </c:pt>
                <c:pt idx="1">
                  <c:v>团队运作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89</c:v>
                </c:pt>
                <c:pt idx="1">
                  <c:v>70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808650362318841"/>
          <c:y val="0.252244475138122"/>
          <c:w val="0.17776268115942"/>
          <c:h val="0.476691988950276"/>
        </c:manualLayout>
      </c:layout>
      <c:overlay val="0"/>
      <c:spPr>
        <a:solidFill>
          <a:schemeClr val="lt1">
            <a:alpha val="50000"/>
          </a:schemeClr>
        </a:solidFill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pattFill prst="dkDnDiag">
      <a:fgClr>
        <a:schemeClr val="lt1"/>
      </a:fgClr>
      <a:bgClr>
        <a:schemeClr val="dk1">
          <a:lumMod val="10000"/>
          <a:lumOff val="90000"/>
        </a:schemeClr>
      </a:bgClr>
    </a:patt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600" b="1" i="0" u="none" strike="noStrike" kern="1200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t>经销商团队规模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gradFill>
                <a:gsLst>
                  <a:gs pos="100000">
                    <a:schemeClr val="accent2">
                      <a:lumMod val="60000"/>
                      <a:lumOff val="40000"/>
                    </a:schemeClr>
                  </a:gs>
                  <a:gs pos="0">
                    <a:schemeClr val="accent2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gradFill>
                <a:gsLst>
                  <a:gs pos="100000">
                    <a:schemeClr val="accent3">
                      <a:lumMod val="60000"/>
                      <a:lumOff val="40000"/>
                    </a:schemeClr>
                  </a:gs>
                  <a:gs pos="0">
                    <a:schemeClr val="accent3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gradFill>
                <a:gsLst>
                  <a:gs pos="100000">
                    <a:schemeClr val="accent4">
                      <a:lumMod val="60000"/>
                      <a:lumOff val="40000"/>
                    </a:schemeClr>
                  </a:gs>
                  <a:gs pos="0">
                    <a:schemeClr val="accent4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24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1-3人</c:v>
                </c:pt>
                <c:pt idx="1">
                  <c:v>4-5人</c:v>
                </c:pt>
                <c:pt idx="2">
                  <c:v>5-10人</c:v>
                </c:pt>
                <c:pt idx="3">
                  <c:v>10人以上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</c:v>
                </c:pt>
                <c:pt idx="1">
                  <c:v>54</c:v>
                </c:pt>
                <c:pt idx="2">
                  <c:v>37</c:v>
                </c:pt>
                <c:pt idx="3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773097826086957"/>
          <c:y val="0.337303642326946"/>
          <c:w val="0.213315217391304"/>
          <c:h val="0.335059554634904"/>
        </c:manualLayout>
      </c:layout>
      <c:overlay val="0"/>
      <c:spPr>
        <a:solidFill>
          <a:schemeClr val="lt1">
            <a:alpha val="50000"/>
          </a:schemeClr>
        </a:solidFill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pattFill prst="dkDnDiag">
      <a:fgClr>
        <a:schemeClr val="lt1"/>
      </a:fgClr>
      <a:bgClr>
        <a:schemeClr val="dk1">
          <a:lumMod val="10000"/>
          <a:lumOff val="90000"/>
        </a:schemeClr>
      </a:bgClr>
    </a:patt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2880" b="1" i="0" u="none" strike="noStrike" kern="1200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sz="2880"/>
              <a:t>经销商店面情况</a:t>
            </a:r>
            <a:endParaRPr sz="288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gradFill>
                <a:gsLst>
                  <a:gs pos="100000">
                    <a:schemeClr val="accent2">
                      <a:lumMod val="60000"/>
                      <a:lumOff val="40000"/>
                    </a:schemeClr>
                  </a:gs>
                  <a:gs pos="0">
                    <a:schemeClr val="accent2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2400" b="0" i="0" u="none" strike="noStrike" kern="1200" baseline="0">
                        <a:solidFill>
                          <a:schemeClr val="dk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sz="2400"/>
                      <a:t>64 </a:t>
                    </a:r>
                    <a:endParaRPr sz="2400"/>
                  </a:p>
                  <a:p>
                    <a:pPr defTabSz="914400">
                      <a:defRPr lang="zh-CN" sz="2400" b="0" i="0" u="none" strike="noStrike" kern="1200" baseline="0">
                        <a:solidFill>
                          <a:schemeClr val="dk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sz="2400"/>
                      <a:t>40%</a:t>
                    </a:r>
                    <a:endParaRPr sz="240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2400" b="0" i="0" u="none" strike="noStrike" kern="1200" baseline="0">
                        <a:solidFill>
                          <a:schemeClr val="dk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sz="2400"/>
                      <a:t>95 </a:t>
                    </a:r>
                    <a:endParaRPr sz="2400"/>
                  </a:p>
                  <a:p>
                    <a:pPr defTabSz="914400">
                      <a:defRPr lang="zh-CN" sz="2400" b="0" i="0" u="none" strike="noStrike" kern="1200" baseline="0">
                        <a:solidFill>
                          <a:schemeClr val="dk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sz="2400"/>
                      <a:t>60%</a:t>
                    </a:r>
                    <a:endParaRPr sz="240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24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1"/>
            <c:showBubbleSize val="0"/>
            <c:separator> </c:separator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新形象店</c:v>
                </c:pt>
                <c:pt idx="1">
                  <c:v>旧形象店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64</c:v>
                </c:pt>
                <c:pt idx="1">
                  <c:v>95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835824275362319"/>
          <c:y val="0.246499072043192"/>
          <c:w val="0.129076086956522"/>
          <c:h val="0.482368820651257"/>
        </c:manualLayout>
      </c:layout>
      <c:overlay val="0"/>
      <c:spPr>
        <a:solidFill>
          <a:schemeClr val="lt1">
            <a:alpha val="50000"/>
          </a:schemeClr>
        </a:solidFill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8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pattFill prst="dkDnDiag">
      <a:fgClr>
        <a:schemeClr val="lt1"/>
      </a:fgClr>
      <a:bgClr>
        <a:schemeClr val="dk1">
          <a:lumMod val="10000"/>
          <a:lumOff val="90000"/>
        </a:schemeClr>
      </a:bgClr>
    </a:patt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 lang="zh-CN" sz="2400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680" b="1" i="0" u="none" strike="noStrike" kern="1200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sz="2000"/>
              <a:t>经销商店面面积</a:t>
            </a:r>
            <a:endParaRPr sz="200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gradFill>
                <a:gsLst>
                  <a:gs pos="100000">
                    <a:schemeClr val="accent2">
                      <a:lumMod val="60000"/>
                      <a:lumOff val="40000"/>
                    </a:schemeClr>
                  </a:gs>
                  <a:gs pos="0">
                    <a:schemeClr val="accent2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gradFill>
                <a:gsLst>
                  <a:gs pos="100000">
                    <a:schemeClr val="accent3">
                      <a:lumMod val="60000"/>
                      <a:lumOff val="40000"/>
                    </a:schemeClr>
                  </a:gs>
                  <a:gs pos="0">
                    <a:schemeClr val="accent3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gradFill>
                <a:gsLst>
                  <a:gs pos="100000">
                    <a:schemeClr val="accent4">
                      <a:lumMod val="60000"/>
                      <a:lumOff val="40000"/>
                    </a:schemeClr>
                  </a:gs>
                  <a:gs pos="0">
                    <a:schemeClr val="accent4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24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200方以下</c:v>
                </c:pt>
                <c:pt idx="1">
                  <c:v>200-300方</c:v>
                </c:pt>
                <c:pt idx="2">
                  <c:v>300-500方</c:v>
                </c:pt>
                <c:pt idx="3">
                  <c:v>500方以上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</c:v>
                </c:pt>
                <c:pt idx="1">
                  <c:v>65</c:v>
                </c:pt>
                <c:pt idx="2">
                  <c:v>51</c:v>
                </c:pt>
                <c:pt idx="3">
                  <c:v>14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solidFill>
          <a:schemeClr val="lt1">
            <a:alpha val="50000"/>
          </a:schemeClr>
        </a:solidFill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4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pattFill prst="dkDnDiag">
      <a:fgClr>
        <a:schemeClr val="lt1"/>
      </a:fgClr>
      <a:bgClr>
        <a:schemeClr val="dk1">
          <a:lumMod val="10000"/>
          <a:lumOff val="90000"/>
        </a:schemeClr>
      </a:bgClr>
    </a:patt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 lang="zh-CN" sz="1400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216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sz="2160"/>
              <a:t>经销商品牌经营情况</a:t>
            </a:r>
            <a:endParaRPr sz="216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rgbClr val="92D05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单品牌</c:v>
                </c:pt>
                <c:pt idx="1">
                  <c:v>其他瓷砖品牌</c:v>
                </c:pt>
                <c:pt idx="2">
                  <c:v>其他品类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</c:v>
                </c:pt>
                <c:pt idx="1">
                  <c:v>96</c:v>
                </c:pt>
                <c:pt idx="2">
                  <c:v>22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798122669409798"/>
          <c:y val="0.194886441826528"/>
          <c:w val="0.18991899189919"/>
          <c:h val="0.5988065182465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8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92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sz="1920"/>
              <a:t>单品牌经营</a:t>
            </a:r>
            <a:endParaRPr sz="192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</c:spPr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2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2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2">
                    <a:shade val="95000"/>
                  </a:schemeClr>
                </a:solidFill>
                <a:round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增长</c:v>
                </c:pt>
                <c:pt idx="1">
                  <c:v>下滑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</c:v>
                </c:pt>
                <c:pt idx="1">
                  <c:v>27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6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600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多瓷砖品牌经营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</c:spPr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2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2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2">
                    <a:shade val="95000"/>
                  </a:schemeClr>
                </a:solidFill>
                <a:round/>
              </a:ln>
              <a:effectLst/>
            </c:spPr>
          </c:dPt>
          <c:dLbls>
            <c:dLbl>
              <c:idx val="0"/>
              <c:layout>
                <c:manualLayout>
                  <c:x val="-0.0880858702546123"/>
                  <c:y val="0.154271697066028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增长</c:v>
                </c:pt>
                <c:pt idx="1">
                  <c:v>下滑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</c:v>
                </c:pt>
                <c:pt idx="1">
                  <c:v>71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6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3-5月份经销商总销售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666"/>
          <c:y val="0.0986666666666667"/>
          <c:w val="0.673"/>
          <c:h val="0.897333333333333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1"/>
            <c:showBubbleSize val="0"/>
            <c:separator>
</c:separator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0-30万</c:v>
                </c:pt>
                <c:pt idx="1">
                  <c:v>30-60万</c:v>
                </c:pt>
                <c:pt idx="2">
                  <c:v>60-90万</c:v>
                </c:pt>
                <c:pt idx="3">
                  <c:v>90-120万</c:v>
                </c:pt>
                <c:pt idx="4">
                  <c:v>120万以上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</c:v>
                </c:pt>
                <c:pt idx="1">
                  <c:v>53</c:v>
                </c:pt>
                <c:pt idx="2">
                  <c:v>33</c:v>
                </c:pt>
                <c:pt idx="3">
                  <c:v>15</c:v>
                </c:pt>
                <c:pt idx="4">
                  <c:v>35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68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sz="1680"/>
              <a:t>3-5月份经销商设计师渠道销售</a:t>
            </a:r>
            <a:endParaRPr sz="1680"/>
          </a:p>
        </c:rich>
      </c:tx>
      <c:layout>
        <c:manualLayout>
          <c:xMode val="edge"/>
          <c:yMode val="edge"/>
          <c:x val="0.0681423922162316"/>
          <c:y val="0.0122209165687427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666"/>
          <c:y val="0.0986666666666667"/>
          <c:w val="0.673"/>
          <c:h val="0.897333333333333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1"/>
            <c:bubble3D val="0"/>
            <c:spPr>
              <a:solidFill>
                <a:srgbClr val="92D05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Lbls>
            <c:dLbl>
              <c:idx val="0"/>
              <c:layout>
                <c:manualLayout>
                  <c:x val="-0.201020057367447"/>
                  <c:y val="0.019601125460154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688076778337096"/>
                  <c:y val="0.160223750183528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.0390927339329282"/>
                  <c:y val="0.179494436288138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eparator>
</c:separator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1-10万</c:v>
                </c:pt>
                <c:pt idx="2">
                  <c:v>10-20万</c:v>
                </c:pt>
                <c:pt idx="3">
                  <c:v>20-30万</c:v>
                </c:pt>
                <c:pt idx="4">
                  <c:v>30万以上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83</c:v>
                </c:pt>
                <c:pt idx="1">
                  <c:v>30</c:v>
                </c:pt>
                <c:pt idx="2">
                  <c:v>24</c:v>
                </c:pt>
                <c:pt idx="3">
                  <c:v>16</c:v>
                </c:pt>
                <c:pt idx="4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lang="zh-CN" sz="1400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68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sz="1680"/>
              <a:t>3-5月份经销商整装渠道销售</a:t>
            </a:r>
            <a:endParaRPr sz="1680"/>
          </a:p>
        </c:rich>
      </c:tx>
      <c:layout>
        <c:manualLayout>
          <c:xMode val="edge"/>
          <c:yMode val="edge"/>
          <c:x val="0.10371245134474"/>
          <c:y val="0.00753768844221105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666"/>
          <c:y val="0.0986666666666667"/>
          <c:w val="0.673"/>
          <c:h val="0.897333333333333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1"/>
            <c:bubble3D val="0"/>
            <c:spPr>
              <a:solidFill>
                <a:srgbClr val="92D05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eparator>
</c:separator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1-10万</c:v>
                </c:pt>
                <c:pt idx="2">
                  <c:v>10-30万</c:v>
                </c:pt>
                <c:pt idx="3">
                  <c:v>30-60万</c:v>
                </c:pt>
                <c:pt idx="4">
                  <c:v>60万以上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23</c:v>
                </c:pt>
                <c:pt idx="2">
                  <c:v>44</c:v>
                </c:pt>
                <c:pt idx="3">
                  <c:v>40</c:v>
                </c:pt>
                <c:pt idx="4">
                  <c:v>28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lang="zh-CN" sz="1400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4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sz="1440"/>
              <a:t>3-5月份经销商工程渠道销售</a:t>
            </a:r>
            <a:endParaRPr sz="1440"/>
          </a:p>
        </c:rich>
      </c:tx>
      <c:layout>
        <c:manualLayout>
          <c:xMode val="edge"/>
          <c:yMode val="edge"/>
          <c:x val="0.194859992328347"/>
          <c:y val="0.0071616137502984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666"/>
          <c:y val="0.0986666666666667"/>
          <c:w val="0.673"/>
          <c:h val="0.897333333333333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1"/>
            <c:bubble3D val="0"/>
            <c:spPr>
              <a:solidFill>
                <a:srgbClr val="92D05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Lbls>
            <c:dLbl>
              <c:idx val="1"/>
              <c:layout>
                <c:manualLayout>
                  <c:x val="0.0424281292209351"/>
                  <c:y val="0.157366433748319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0287666944655149"/>
                  <c:y val="0.0443349811422947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278121686492202"/>
                  <c:y val="0.153967088959014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.019407372168372"/>
                  <c:y val="0.143005068485744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eparator>
</c:separator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1-30万</c:v>
                </c:pt>
                <c:pt idx="2">
                  <c:v>30-50万</c:v>
                </c:pt>
                <c:pt idx="3">
                  <c:v>50-100万</c:v>
                </c:pt>
                <c:pt idx="4">
                  <c:v>100万以上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138</c:v>
                </c:pt>
                <c:pt idx="1">
                  <c:v>8</c:v>
                </c:pt>
                <c:pt idx="2">
                  <c:v>2</c:v>
                </c:pt>
                <c:pt idx="3">
                  <c:v>5</c:v>
                </c:pt>
                <c:pt idx="4">
                  <c:v>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lang="zh-CN" sz="1200"/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经销商库存金额</a:t>
            </a:r>
          </a:p>
        </c:rich>
      </c:tx>
      <c:layout>
        <c:manualLayout>
          <c:xMode val="edge"/>
          <c:yMode val="edge"/>
          <c:x val="0.246097875836169"/>
          <c:y val="0.0118601747815231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666"/>
          <c:y val="0.0986666666666667"/>
          <c:w val="0.673"/>
          <c:h val="0.897333333333333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1"/>
            <c:showBubbleSize val="0"/>
            <c:separator>
</c:separator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0-30万</c:v>
                </c:pt>
                <c:pt idx="1">
                  <c:v>30-60万</c:v>
                </c:pt>
                <c:pt idx="2">
                  <c:v>60-100万</c:v>
                </c:pt>
                <c:pt idx="3">
                  <c:v>100-200万</c:v>
                </c:pt>
                <c:pt idx="4">
                  <c:v>200万以上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50</c:v>
                </c:pt>
                <c:pt idx="2">
                  <c:v>37</c:v>
                </c:pt>
                <c:pt idx="3">
                  <c:v>21</c:v>
                </c:pt>
                <c:pt idx="4">
                  <c:v>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92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sz="1920"/>
              <a:t>经销商库存周转率</a:t>
            </a:r>
            <a:endParaRPr sz="1920"/>
          </a:p>
        </c:rich>
      </c:tx>
      <c:layout>
        <c:manualLayout>
          <c:xMode val="edge"/>
          <c:yMode val="edge"/>
          <c:x val="0.243105269334585"/>
          <c:y val="0.0118601747815231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666"/>
          <c:y val="0.0986666666666667"/>
          <c:w val="0.673"/>
          <c:h val="0.897333333333333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eparator>
</c:separator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2个月内</c:v>
                </c:pt>
                <c:pt idx="1">
                  <c:v>2-3个月</c:v>
                </c:pt>
                <c:pt idx="2">
                  <c:v>3-5个月</c:v>
                </c:pt>
                <c:pt idx="3">
                  <c:v>5-8个月</c:v>
                </c:pt>
                <c:pt idx="4">
                  <c:v>8个月以上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31</c:v>
                </c:pt>
                <c:pt idx="2">
                  <c:v>46</c:v>
                </c:pt>
                <c:pt idx="3">
                  <c:v>40</c:v>
                </c:pt>
                <c:pt idx="4">
                  <c:v>26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6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lang="zh-CN" sz="1600"/>
      </a:pPr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24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sz="2400"/>
              <a:t>经销商质量评估</a:t>
            </a:r>
            <a:endParaRPr sz="240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1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-0.0528227361695941"/>
                  <c:y val="0.227292269564668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2400" b="0" i="0" u="none" strike="noStrike" kern="1200" baseline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1"/>
            <c:showBubbleSize val="0"/>
            <c:separator>
</c:separator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优质</c:v>
                </c:pt>
                <c:pt idx="1">
                  <c:v>良好</c:v>
                </c:pt>
                <c:pt idx="2">
                  <c:v>较差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</c:v>
                </c:pt>
                <c:pt idx="1">
                  <c:v>86</c:v>
                </c:pt>
                <c:pt idx="2">
                  <c:v>56</c:v>
                </c:pt>
              </c:numCache>
            </c:numRef>
          </c:val>
        </c:ser>
        <c:ser>
          <c:idx val="2"/>
          <c:order val="1"/>
          <c:tx>
            <c:strRef>
              <c:f>Sheet1!#REF!</c:f>
              <c:strCache>
                <c:ptCount val="1"/>
                <c:pt idx="0">
                  <c:v/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优质</c:v>
                </c:pt>
                <c:pt idx="1">
                  <c:v>良好</c:v>
                </c:pt>
                <c:pt idx="2">
                  <c:v>较差</c:v>
                </c:pt>
              </c:strCache>
            </c:str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ser>
          <c:idx val="3"/>
          <c:order val="2"/>
          <c:tx>
            <c:strRef>
              <c:f>Sheet1!#REF!</c:f>
              <c:strCache>
                <c:ptCount val="1"/>
                <c:pt idx="0">
                  <c:v/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优质</c:v>
                </c:pt>
                <c:pt idx="1">
                  <c:v>良好</c:v>
                </c:pt>
                <c:pt idx="2">
                  <c:v>较差</c:v>
                </c:pt>
              </c:strCache>
            </c:str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2000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 sz="2000"/>
      </a:pPr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t>华中运营中心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770750058782036"/>
          <c:y val="0.215322034390771"/>
          <c:w val="0.894004232306607"/>
          <c:h val="0.54473829201101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24年任务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dLbl>
              <c:idx val="1"/>
              <c:layout>
                <c:manualLayout>
                  <c:x val="0.0103456383729132"/>
                  <c:y val="-0.03691496374423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1-3月</c:v>
                </c:pt>
                <c:pt idx="1">
                  <c:v>4月</c:v>
                </c:pt>
                <c:pt idx="2">
                  <c:v>5月</c:v>
                </c:pt>
                <c:pt idx="3">
                  <c:v>6月</c:v>
                </c:pt>
                <c:pt idx="4">
                  <c:v>7月</c:v>
                </c:pt>
                <c:pt idx="5">
                  <c:v>8月</c:v>
                </c:pt>
                <c:pt idx="6">
                  <c:v>9月</c:v>
                </c:pt>
                <c:pt idx="7">
                  <c:v>10月</c:v>
                </c:pt>
                <c:pt idx="8">
                  <c:v>11月</c:v>
                </c:pt>
                <c:pt idx="9">
                  <c:v>12月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5962</c:v>
                </c:pt>
                <c:pt idx="1">
                  <c:v>3833</c:v>
                </c:pt>
                <c:pt idx="2">
                  <c:v>4258</c:v>
                </c:pt>
                <c:pt idx="3">
                  <c:v>4684</c:v>
                </c:pt>
                <c:pt idx="4">
                  <c:v>3833</c:v>
                </c:pt>
                <c:pt idx="5">
                  <c:v>3833</c:v>
                </c:pt>
                <c:pt idx="6">
                  <c:v>4258</c:v>
                </c:pt>
                <c:pt idx="7">
                  <c:v>3833</c:v>
                </c:pt>
                <c:pt idx="8">
                  <c:v>3833</c:v>
                </c:pt>
                <c:pt idx="9">
                  <c:v>4258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24年实际</c:v>
                </c:pt>
              </c:strCache>
            </c:strRef>
          </c:tx>
          <c:spPr>
            <a:ln w="34925" cap="rnd">
              <a:solidFill>
                <a:srgbClr val="FF0000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dLbl>
              <c:idx val="0"/>
              <c:layout>
                <c:manualLayout>
                  <c:x val="-0.00940512579355749"/>
                  <c:y val="0.04570424082619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1-3月</c:v>
                </c:pt>
                <c:pt idx="1">
                  <c:v>4月</c:v>
                </c:pt>
                <c:pt idx="2">
                  <c:v>5月</c:v>
                </c:pt>
                <c:pt idx="3">
                  <c:v>6月</c:v>
                </c:pt>
                <c:pt idx="4">
                  <c:v>7月</c:v>
                </c:pt>
                <c:pt idx="5">
                  <c:v>8月</c:v>
                </c:pt>
                <c:pt idx="6">
                  <c:v>9月</c:v>
                </c:pt>
                <c:pt idx="7">
                  <c:v>10月</c:v>
                </c:pt>
                <c:pt idx="8">
                  <c:v>11月</c:v>
                </c:pt>
                <c:pt idx="9">
                  <c:v>12月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5717</c:v>
                </c:pt>
                <c:pt idx="1">
                  <c:v>2445</c:v>
                </c:pt>
                <c:pt idx="2">
                  <c:v>2938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23年实际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dLbl>
              <c:idx val="0"/>
              <c:layout>
                <c:manualLayout>
                  <c:x val="0.003762050317423"/>
                  <c:y val="-0.02460997582948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0282153773806725"/>
                  <c:y val="0.02285212041309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1-3月</c:v>
                </c:pt>
                <c:pt idx="1">
                  <c:v>4月</c:v>
                </c:pt>
                <c:pt idx="2">
                  <c:v>5月</c:v>
                </c:pt>
                <c:pt idx="3">
                  <c:v>6月</c:v>
                </c:pt>
                <c:pt idx="4">
                  <c:v>7月</c:v>
                </c:pt>
                <c:pt idx="5">
                  <c:v>8月</c:v>
                </c:pt>
                <c:pt idx="6">
                  <c:v>9月</c:v>
                </c:pt>
                <c:pt idx="7">
                  <c:v>10月</c:v>
                </c:pt>
                <c:pt idx="8">
                  <c:v>11月</c:v>
                </c:pt>
                <c:pt idx="9">
                  <c:v>12月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6296</c:v>
                </c:pt>
                <c:pt idx="1">
                  <c:v>3659</c:v>
                </c:pt>
                <c:pt idx="2">
                  <c:v>3722</c:v>
                </c:pt>
                <c:pt idx="3">
                  <c:v>3778</c:v>
                </c:pt>
                <c:pt idx="4">
                  <c:v>3030</c:v>
                </c:pt>
                <c:pt idx="5">
                  <c:v>3046</c:v>
                </c:pt>
                <c:pt idx="6">
                  <c:v>2929</c:v>
                </c:pt>
                <c:pt idx="7">
                  <c:v>3109</c:v>
                </c:pt>
                <c:pt idx="8">
                  <c:v>2742</c:v>
                </c:pt>
                <c:pt idx="9">
                  <c:v>3547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512564095"/>
        <c:axId val="79766500"/>
      </c:lineChart>
      <c:catAx>
        <c:axId val="51256409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9766500"/>
        <c:crosses val="autoZero"/>
        <c:auto val="1"/>
        <c:lblAlgn val="ctr"/>
        <c:lblOffset val="100"/>
        <c:noMultiLvlLbl val="0"/>
      </c:catAx>
      <c:valAx>
        <c:axId val="797665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125640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</a:gra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20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t>河南省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770750058782036"/>
          <c:y val="0.217079889807163"/>
          <c:w val="0.894004232306607"/>
          <c:h val="0.544738292011019"/>
        </c:manualLayout>
      </c:layout>
      <c:lineChart>
        <c:grouping val="standard"/>
        <c:varyColors val="0"/>
        <c:ser>
          <c:idx val="0"/>
          <c:order val="0"/>
          <c:tx>
            <c:strRef>
              <c:f>Sheet1!#REF!</c:f>
              <c:strCache>
                <c:ptCount val="1"/>
                <c:pt idx="0">
                  <c:v/>
                </c:pt>
              </c:strCache>
            </c:strRef>
          </c:tx>
          <c:spPr>
            <a:ln w="381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1-3月</c:v>
                </c:pt>
                <c:pt idx="1">
                  <c:v>4月</c:v>
                </c:pt>
                <c:pt idx="2">
                  <c:v>5月</c:v>
                </c:pt>
                <c:pt idx="3">
                  <c:v>6月</c:v>
                </c:pt>
                <c:pt idx="4">
                  <c:v>7月</c:v>
                </c:pt>
                <c:pt idx="5">
                  <c:v>8月</c:v>
                </c:pt>
                <c:pt idx="6">
                  <c:v>9月</c:v>
                </c:pt>
                <c:pt idx="7">
                  <c:v>10月</c:v>
                </c:pt>
                <c:pt idx="8">
                  <c:v>11月</c:v>
                </c:pt>
                <c:pt idx="9">
                  <c:v>12月</c:v>
                </c:pt>
              </c:strCache>
            </c:str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24年实际</c:v>
                </c:pt>
              </c:strCache>
            </c:strRef>
          </c:tx>
          <c:spPr>
            <a:ln w="381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1-3月</c:v>
                </c:pt>
                <c:pt idx="1">
                  <c:v>4月</c:v>
                </c:pt>
                <c:pt idx="2">
                  <c:v>5月</c:v>
                </c:pt>
                <c:pt idx="3">
                  <c:v>6月</c:v>
                </c:pt>
                <c:pt idx="4">
                  <c:v>7月</c:v>
                </c:pt>
                <c:pt idx="5">
                  <c:v>8月</c:v>
                </c:pt>
                <c:pt idx="6">
                  <c:v>9月</c:v>
                </c:pt>
                <c:pt idx="7">
                  <c:v>10月</c:v>
                </c:pt>
                <c:pt idx="8">
                  <c:v>11月</c:v>
                </c:pt>
                <c:pt idx="9">
                  <c:v>12月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2188</c:v>
                </c:pt>
                <c:pt idx="1">
                  <c:v>945</c:v>
                </c:pt>
                <c:pt idx="2">
                  <c:v>1299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Sheet1!$C$1</c:f>
              <c:strCache>
                <c:ptCount val="1"/>
                <c:pt idx="0">
                  <c:v>23年实际</c:v>
                </c:pt>
              </c:strCache>
            </c:strRef>
          </c:tx>
          <c:spPr>
            <a:ln w="3810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1-3月</c:v>
                </c:pt>
                <c:pt idx="1">
                  <c:v>4月</c:v>
                </c:pt>
                <c:pt idx="2">
                  <c:v>5月</c:v>
                </c:pt>
                <c:pt idx="3">
                  <c:v>6月</c:v>
                </c:pt>
                <c:pt idx="4">
                  <c:v>7月</c:v>
                </c:pt>
                <c:pt idx="5">
                  <c:v>8月</c:v>
                </c:pt>
                <c:pt idx="6">
                  <c:v>9月</c:v>
                </c:pt>
                <c:pt idx="7">
                  <c:v>10月</c:v>
                </c:pt>
                <c:pt idx="8">
                  <c:v>11月</c:v>
                </c:pt>
                <c:pt idx="9">
                  <c:v>12月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2834</c:v>
                </c:pt>
                <c:pt idx="1">
                  <c:v>1405</c:v>
                </c:pt>
                <c:pt idx="2">
                  <c:v>1468</c:v>
                </c:pt>
                <c:pt idx="3">
                  <c:v>1458</c:v>
                </c:pt>
                <c:pt idx="4">
                  <c:v>1210</c:v>
                </c:pt>
                <c:pt idx="5">
                  <c:v>1224</c:v>
                </c:pt>
                <c:pt idx="6">
                  <c:v>1067</c:v>
                </c:pt>
                <c:pt idx="7">
                  <c:v>1260</c:v>
                </c:pt>
                <c:pt idx="8">
                  <c:v>1027</c:v>
                </c:pt>
                <c:pt idx="9">
                  <c:v>1234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512564095"/>
        <c:axId val="79766500"/>
      </c:lineChart>
      <c:catAx>
        <c:axId val="51256409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9766500"/>
        <c:crosses val="autoZero"/>
        <c:auto val="1"/>
        <c:lblAlgn val="ctr"/>
        <c:lblOffset val="100"/>
        <c:noMultiLvlLbl val="0"/>
      </c:catAx>
      <c:valAx>
        <c:axId val="797665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125640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20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t>湖北省</a:t>
            </a:r>
          </a:p>
        </c:rich>
      </c:tx>
      <c:layout>
        <c:manualLayout>
          <c:xMode val="edge"/>
          <c:yMode val="edge"/>
          <c:x val="0.450152833294145"/>
          <c:y val="0.00826446280991736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770750058782036"/>
          <c:y val="0.217079889807163"/>
          <c:w val="0.894004232306607"/>
          <c:h val="0.544738292011019"/>
        </c:manualLayout>
      </c:layout>
      <c:lineChart>
        <c:grouping val="standard"/>
        <c:varyColors val="0"/>
        <c:ser>
          <c:idx val="0"/>
          <c:order val="0"/>
          <c:tx>
            <c:strRef>
              <c:f>Sheet1!#REF!</c:f>
              <c:strCache>
                <c:ptCount val="1"/>
                <c:pt idx="0">
                  <c:v/>
                </c:pt>
              </c:strCache>
            </c:strRef>
          </c:tx>
          <c:spPr>
            <a:ln w="381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1-3月</c:v>
                </c:pt>
                <c:pt idx="1">
                  <c:v>4月</c:v>
                </c:pt>
                <c:pt idx="2">
                  <c:v>5月</c:v>
                </c:pt>
                <c:pt idx="3">
                  <c:v>6月</c:v>
                </c:pt>
                <c:pt idx="4">
                  <c:v>7月</c:v>
                </c:pt>
                <c:pt idx="5">
                  <c:v>8月</c:v>
                </c:pt>
                <c:pt idx="6">
                  <c:v>9月</c:v>
                </c:pt>
                <c:pt idx="7">
                  <c:v>10月</c:v>
                </c:pt>
                <c:pt idx="8">
                  <c:v>11月</c:v>
                </c:pt>
                <c:pt idx="9">
                  <c:v>12月</c:v>
                </c:pt>
              </c:strCache>
            </c:str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24年实际</c:v>
                </c:pt>
              </c:strCache>
            </c:strRef>
          </c:tx>
          <c:spPr>
            <a:ln w="381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1-3月</c:v>
                </c:pt>
                <c:pt idx="1">
                  <c:v>4月</c:v>
                </c:pt>
                <c:pt idx="2">
                  <c:v>5月</c:v>
                </c:pt>
                <c:pt idx="3">
                  <c:v>6月</c:v>
                </c:pt>
                <c:pt idx="4">
                  <c:v>7月</c:v>
                </c:pt>
                <c:pt idx="5">
                  <c:v>8月</c:v>
                </c:pt>
                <c:pt idx="6">
                  <c:v>9月</c:v>
                </c:pt>
                <c:pt idx="7">
                  <c:v>10月</c:v>
                </c:pt>
                <c:pt idx="8">
                  <c:v>11月</c:v>
                </c:pt>
                <c:pt idx="9">
                  <c:v>12月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1363</c:v>
                </c:pt>
                <c:pt idx="1">
                  <c:v>398</c:v>
                </c:pt>
                <c:pt idx="2">
                  <c:v>652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Sheet1!$C$1</c:f>
              <c:strCache>
                <c:ptCount val="1"/>
                <c:pt idx="0">
                  <c:v>23年实际</c:v>
                </c:pt>
              </c:strCache>
            </c:strRef>
          </c:tx>
          <c:spPr>
            <a:ln w="3810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1-3月</c:v>
                </c:pt>
                <c:pt idx="1">
                  <c:v>4月</c:v>
                </c:pt>
                <c:pt idx="2">
                  <c:v>5月</c:v>
                </c:pt>
                <c:pt idx="3">
                  <c:v>6月</c:v>
                </c:pt>
                <c:pt idx="4">
                  <c:v>7月</c:v>
                </c:pt>
                <c:pt idx="5">
                  <c:v>8月</c:v>
                </c:pt>
                <c:pt idx="6">
                  <c:v>9月</c:v>
                </c:pt>
                <c:pt idx="7">
                  <c:v>10月</c:v>
                </c:pt>
                <c:pt idx="8">
                  <c:v>11月</c:v>
                </c:pt>
                <c:pt idx="9">
                  <c:v>12月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1394</c:v>
                </c:pt>
                <c:pt idx="1">
                  <c:v>769</c:v>
                </c:pt>
                <c:pt idx="2">
                  <c:v>922</c:v>
                </c:pt>
                <c:pt idx="3">
                  <c:v>970</c:v>
                </c:pt>
                <c:pt idx="4">
                  <c:v>759</c:v>
                </c:pt>
                <c:pt idx="5">
                  <c:v>729</c:v>
                </c:pt>
                <c:pt idx="6">
                  <c:v>757</c:v>
                </c:pt>
                <c:pt idx="7">
                  <c:v>689</c:v>
                </c:pt>
                <c:pt idx="8">
                  <c:v>660</c:v>
                </c:pt>
                <c:pt idx="9">
                  <c:v>1020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512564095"/>
        <c:axId val="79766500"/>
      </c:lineChart>
      <c:catAx>
        <c:axId val="51256409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9766500"/>
        <c:crosses val="autoZero"/>
        <c:auto val="1"/>
        <c:lblAlgn val="ctr"/>
        <c:lblOffset val="100"/>
        <c:noMultiLvlLbl val="0"/>
      </c:catAx>
      <c:valAx>
        <c:axId val="797665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125640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delete val="1"/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20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t>安徽省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770750058782036"/>
          <c:y val="0.217079889807163"/>
          <c:w val="0.894004232306607"/>
          <c:h val="0.544738292011019"/>
        </c:manualLayout>
      </c:layout>
      <c:lineChart>
        <c:grouping val="standard"/>
        <c:varyColors val="0"/>
        <c:ser>
          <c:idx val="0"/>
          <c:order val="0"/>
          <c:tx>
            <c:strRef>
              <c:f>Sheet1!#REF!</c:f>
              <c:strCache>
                <c:ptCount val="1"/>
                <c:pt idx="0">
                  <c:v/>
                </c:pt>
              </c:strCache>
            </c:strRef>
          </c:tx>
          <c:spPr>
            <a:ln w="381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1-3月</c:v>
                </c:pt>
                <c:pt idx="1">
                  <c:v>4月</c:v>
                </c:pt>
                <c:pt idx="2">
                  <c:v>5月</c:v>
                </c:pt>
                <c:pt idx="3">
                  <c:v>6月</c:v>
                </c:pt>
                <c:pt idx="4">
                  <c:v>7月</c:v>
                </c:pt>
                <c:pt idx="5">
                  <c:v>8月</c:v>
                </c:pt>
                <c:pt idx="6">
                  <c:v>9月</c:v>
                </c:pt>
                <c:pt idx="7">
                  <c:v>10月</c:v>
                </c:pt>
                <c:pt idx="8">
                  <c:v>11月</c:v>
                </c:pt>
                <c:pt idx="9">
                  <c:v>12月</c:v>
                </c:pt>
              </c:strCache>
            </c:str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24年实际</c:v>
                </c:pt>
              </c:strCache>
            </c:strRef>
          </c:tx>
          <c:spPr>
            <a:ln w="381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1-3月</c:v>
                </c:pt>
                <c:pt idx="1">
                  <c:v>4月</c:v>
                </c:pt>
                <c:pt idx="2">
                  <c:v>5月</c:v>
                </c:pt>
                <c:pt idx="3">
                  <c:v>6月</c:v>
                </c:pt>
                <c:pt idx="4">
                  <c:v>7月</c:v>
                </c:pt>
                <c:pt idx="5">
                  <c:v>8月</c:v>
                </c:pt>
                <c:pt idx="6">
                  <c:v>9月</c:v>
                </c:pt>
                <c:pt idx="7">
                  <c:v>10月</c:v>
                </c:pt>
                <c:pt idx="8">
                  <c:v>11月</c:v>
                </c:pt>
                <c:pt idx="9">
                  <c:v>12月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2166</c:v>
                </c:pt>
                <c:pt idx="1">
                  <c:v>1101</c:v>
                </c:pt>
                <c:pt idx="2">
                  <c:v>986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Sheet1!$C$1</c:f>
              <c:strCache>
                <c:ptCount val="1"/>
                <c:pt idx="0">
                  <c:v>23年实际</c:v>
                </c:pt>
              </c:strCache>
            </c:strRef>
          </c:tx>
          <c:spPr>
            <a:ln w="3810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1-3月</c:v>
                </c:pt>
                <c:pt idx="1">
                  <c:v>4月</c:v>
                </c:pt>
                <c:pt idx="2">
                  <c:v>5月</c:v>
                </c:pt>
                <c:pt idx="3">
                  <c:v>6月</c:v>
                </c:pt>
                <c:pt idx="4">
                  <c:v>7月</c:v>
                </c:pt>
                <c:pt idx="5">
                  <c:v>8月</c:v>
                </c:pt>
                <c:pt idx="6">
                  <c:v>9月</c:v>
                </c:pt>
                <c:pt idx="7">
                  <c:v>10月</c:v>
                </c:pt>
                <c:pt idx="8">
                  <c:v>11月</c:v>
                </c:pt>
                <c:pt idx="9">
                  <c:v>12月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2518</c:v>
                </c:pt>
                <c:pt idx="1">
                  <c:v>1485</c:v>
                </c:pt>
                <c:pt idx="2">
                  <c:v>1334</c:v>
                </c:pt>
                <c:pt idx="3">
                  <c:v>1349</c:v>
                </c:pt>
                <c:pt idx="4">
                  <c:v>1060</c:v>
                </c:pt>
                <c:pt idx="5">
                  <c:v>1092</c:v>
                </c:pt>
                <c:pt idx="6">
                  <c:v>1104</c:v>
                </c:pt>
                <c:pt idx="7">
                  <c:v>1160</c:v>
                </c:pt>
                <c:pt idx="8">
                  <c:v>1055</c:v>
                </c:pt>
                <c:pt idx="9">
                  <c:v>1293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512564095"/>
        <c:axId val="79766500"/>
      </c:lineChart>
      <c:catAx>
        <c:axId val="51256409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9766500"/>
        <c:crosses val="autoZero"/>
        <c:auto val="1"/>
        <c:lblAlgn val="ctr"/>
        <c:lblOffset val="100"/>
        <c:noMultiLvlLbl val="0"/>
      </c:catAx>
      <c:valAx>
        <c:axId val="797665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125640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delete val="1"/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4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sz="1440"/>
              <a:t>周口同盟</a:t>
            </a:r>
            <a:endParaRPr sz="144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24"/>
          <c:y val="0.110728832552586"/>
          <c:w val="0.956"/>
          <c:h val="0.76098666666666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23年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总业绩-22%</c:v>
                </c:pt>
                <c:pt idx="1">
                  <c:v>盟主-1%</c:v>
                </c:pt>
                <c:pt idx="2">
                  <c:v>盟员-29%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3704</c:v>
                </c:pt>
                <c:pt idx="1">
                  <c:v>837</c:v>
                </c:pt>
                <c:pt idx="2">
                  <c:v>2867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24年</c:v>
                </c:pt>
              </c:strCache>
            </c:strRef>
          </c:tx>
          <c:spPr>
            <a:solidFill>
              <a:schemeClr val="accent5">
                <a:lumMod val="40000"/>
                <a:lumOff val="60000"/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dLbl>
              <c:idx val="1"/>
              <c:layout>
                <c:manualLayout>
                  <c:x val="0.0353153153153153"/>
                  <c:y val="-0.0903830256268945"/>
                </c:manualLayout>
              </c:layout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总业绩-22%</c:v>
                </c:pt>
                <c:pt idx="1">
                  <c:v>盟主-1%</c:v>
                </c:pt>
                <c:pt idx="2">
                  <c:v>盟员-29%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2871</c:v>
                </c:pt>
                <c:pt idx="1">
                  <c:v>832</c:v>
                </c:pt>
                <c:pt idx="2">
                  <c:v>2038</c:v>
                </c:pt>
              </c:numCache>
            </c:numRef>
          </c:val>
        </c:ser>
        <c:ser>
          <c:idx val="2"/>
          <c:order val="2"/>
          <c:tx>
            <c:strRef>
              <c:f>Sheet1!#REF!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hemeClr val="accent3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总业绩-22%</c:v>
                </c:pt>
                <c:pt idx="1">
                  <c:v>盟主-1%</c:v>
                </c:pt>
                <c:pt idx="2">
                  <c:v>盟员-29%</c:v>
                </c:pt>
              </c:strCache>
            </c:str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5"/>
        <c:overlap val="0"/>
        <c:axId val="523647384"/>
        <c:axId val="17833455"/>
      </c:barChart>
      <c:catAx>
        <c:axId val="5236473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6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833455"/>
        <c:crosses val="autoZero"/>
        <c:auto val="1"/>
        <c:lblAlgn val="ctr"/>
        <c:lblOffset val="100"/>
        <c:noMultiLvlLbl val="0"/>
      </c:catAx>
      <c:valAx>
        <c:axId val="17833455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236473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delete val="1"/>
      </c:legendEntry>
      <c:layout>
        <c:manualLayout>
          <c:xMode val="edge"/>
          <c:yMode val="edge"/>
          <c:x val="0.680540540540541"/>
          <c:y val="0.0317759214602058"/>
        </c:manualLayout>
      </c:layout>
      <c:overlay val="0"/>
      <c:spPr>
        <a:solidFill>
          <a:schemeClr val="lt1">
            <a:lumMod val="95000"/>
            <a:alpha val="40000"/>
          </a:schemeClr>
        </a:solidFill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lang="zh-CN" sz="1200"/>
      </a:pPr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襄阳同盟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24"/>
          <c:y val="0.117066666666667"/>
          <c:w val="0.956"/>
          <c:h val="0.76098666666666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23年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总业绩-14%</c:v>
                </c:pt>
                <c:pt idx="1">
                  <c:v>盟主16%</c:v>
                </c:pt>
                <c:pt idx="2">
                  <c:v>盟员-21%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1590</c:v>
                </c:pt>
                <c:pt idx="1">
                  <c:v>328</c:v>
                </c:pt>
                <c:pt idx="2">
                  <c:v>1262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24年</c:v>
                </c:pt>
              </c:strCache>
            </c:strRef>
          </c:tx>
          <c:spPr>
            <a:solidFill>
              <a:schemeClr val="accent5">
                <a:lumMod val="40000"/>
                <a:lumOff val="60000"/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dLbl>
              <c:idx val="1"/>
              <c:layout>
                <c:manualLayout>
                  <c:x val="0.0511711711711712"/>
                  <c:y val="-0.0632411067193676"/>
                </c:manualLayout>
              </c:layout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总业绩-14%</c:v>
                </c:pt>
                <c:pt idx="1">
                  <c:v>盟主16%</c:v>
                </c:pt>
                <c:pt idx="2">
                  <c:v>盟员-21%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1372</c:v>
                </c:pt>
                <c:pt idx="1">
                  <c:v>381</c:v>
                </c:pt>
                <c:pt idx="2">
                  <c:v>990</c:v>
                </c:pt>
              </c:numCache>
            </c:numRef>
          </c:val>
        </c:ser>
        <c:ser>
          <c:idx val="2"/>
          <c:order val="2"/>
          <c:tx>
            <c:strRef>
              <c:f>Sheet1!#REF!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hemeClr val="accent3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总业绩-14%</c:v>
                </c:pt>
                <c:pt idx="1">
                  <c:v>盟主16%</c:v>
                </c:pt>
                <c:pt idx="2">
                  <c:v>盟员-21%</c:v>
                </c:pt>
              </c:strCache>
            </c:str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5"/>
        <c:overlap val="0"/>
        <c:axId val="523647384"/>
        <c:axId val="17833455"/>
      </c:barChart>
      <c:catAx>
        <c:axId val="5236473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6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833455"/>
        <c:crosses val="autoZero"/>
        <c:auto val="1"/>
        <c:lblAlgn val="ctr"/>
        <c:lblOffset val="100"/>
        <c:noMultiLvlLbl val="0"/>
      </c:catAx>
      <c:valAx>
        <c:axId val="17833455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236473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delete val="1"/>
      </c:legendEntry>
      <c:layout>
        <c:manualLayout>
          <c:xMode val="edge"/>
          <c:yMode val="edge"/>
          <c:x val="0.680540540540541"/>
          <c:y val="0.0436249156734877"/>
        </c:manualLayout>
      </c:layout>
      <c:overlay val="0"/>
      <c:spPr>
        <a:solidFill>
          <a:schemeClr val="lt1">
            <a:lumMod val="95000"/>
            <a:alpha val="40000"/>
          </a:schemeClr>
        </a:solidFill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92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sz="1920"/>
              <a:t>蚌埠同盟</a:t>
            </a:r>
            <a:endParaRPr sz="192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24"/>
          <c:y val="0.122425723472669"/>
          <c:w val="0.956"/>
          <c:h val="0.76098666666666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23年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总业绩-15%</c:v>
                </c:pt>
                <c:pt idx="1">
                  <c:v>盟主</c:v>
                </c:pt>
                <c:pt idx="2">
                  <c:v>盟员-42%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1025</c:v>
                </c:pt>
                <c:pt idx="1">
                  <c:v>0</c:v>
                </c:pt>
                <c:pt idx="2">
                  <c:v>1025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24年</c:v>
                </c:pt>
              </c:strCache>
            </c:strRef>
          </c:tx>
          <c:spPr>
            <a:solidFill>
              <a:schemeClr val="accent5">
                <a:lumMod val="40000"/>
                <a:lumOff val="60000"/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dLbl>
              <c:idx val="0"/>
              <c:layout>
                <c:manualLayout>
                  <c:x val="0.0354954954954955"/>
                  <c:y val="0"/>
                </c:manualLayout>
              </c:layout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总业绩-15%</c:v>
                </c:pt>
                <c:pt idx="1">
                  <c:v>盟主</c:v>
                </c:pt>
                <c:pt idx="2">
                  <c:v>盟员-42%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875</c:v>
                </c:pt>
                <c:pt idx="1">
                  <c:v>277</c:v>
                </c:pt>
                <c:pt idx="2">
                  <c:v>598</c:v>
                </c:pt>
              </c:numCache>
            </c:numRef>
          </c:val>
        </c:ser>
        <c:ser>
          <c:idx val="2"/>
          <c:order val="2"/>
          <c:tx>
            <c:strRef>
              <c:f>Sheet1!#REF!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hemeClr val="accent3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总业绩-15%</c:v>
                </c:pt>
                <c:pt idx="1">
                  <c:v>盟主</c:v>
                </c:pt>
                <c:pt idx="2">
                  <c:v>盟员-42%</c:v>
                </c:pt>
              </c:strCache>
            </c:str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5"/>
        <c:overlap val="0"/>
        <c:axId val="523647384"/>
        <c:axId val="17833455"/>
      </c:barChart>
      <c:catAx>
        <c:axId val="5236473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6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833455"/>
        <c:crosses val="autoZero"/>
        <c:auto val="1"/>
        <c:lblAlgn val="ctr"/>
        <c:lblOffset val="100"/>
        <c:noMultiLvlLbl val="0"/>
      </c:catAx>
      <c:valAx>
        <c:axId val="17833455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236473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delete val="1"/>
      </c:legendEntry>
      <c:layout>
        <c:manualLayout>
          <c:xMode val="edge"/>
          <c:yMode val="edge"/>
          <c:x val="0.679823029232082"/>
          <c:y val="0.031834990700283"/>
        </c:manualLayout>
      </c:layout>
      <c:overlay val="0"/>
      <c:spPr>
        <a:solidFill>
          <a:schemeClr val="lt1">
            <a:lumMod val="95000"/>
            <a:alpha val="40000"/>
          </a:schemeClr>
        </a:solidFill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6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lang="zh-CN" sz="1600"/>
      </a:pPr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郑州同盟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24"/>
          <c:y val="0.117066666666667"/>
          <c:w val="0.956"/>
          <c:h val="0.76098666666666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23年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总业绩4%</c:v>
                </c:pt>
                <c:pt idx="1">
                  <c:v>盟主39%</c:v>
                </c:pt>
                <c:pt idx="2">
                  <c:v>盟员-12%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978</c:v>
                </c:pt>
                <c:pt idx="1">
                  <c:v>318</c:v>
                </c:pt>
                <c:pt idx="2">
                  <c:v>679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24年</c:v>
                </c:pt>
              </c:strCache>
            </c:strRef>
          </c:tx>
          <c:spPr>
            <a:solidFill>
              <a:schemeClr val="accent5">
                <a:lumMod val="40000"/>
                <a:lumOff val="60000"/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dLbl>
              <c:idx val="0"/>
              <c:layout>
                <c:manualLayout>
                  <c:x val="0.054140127388535"/>
                  <c:y val="-0.0300027525461051"/>
                </c:manualLayout>
              </c:layout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115003538570418"/>
                  <c:y val="-0.0360583539774291"/>
                </c:manualLayout>
              </c:layout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总业绩4%</c:v>
                </c:pt>
                <c:pt idx="1">
                  <c:v>盟主39%</c:v>
                </c:pt>
                <c:pt idx="2">
                  <c:v>盟员-12%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1037</c:v>
                </c:pt>
                <c:pt idx="1">
                  <c:v>441</c:v>
                </c:pt>
                <c:pt idx="2">
                  <c:v>596</c:v>
                </c:pt>
              </c:numCache>
            </c:numRef>
          </c:val>
        </c:ser>
        <c:ser>
          <c:idx val="2"/>
          <c:order val="2"/>
          <c:tx>
            <c:strRef>
              <c:f>Sheet1!#REF!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hemeClr val="accent3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总业绩4%</c:v>
                </c:pt>
                <c:pt idx="1">
                  <c:v>盟主39%</c:v>
                </c:pt>
                <c:pt idx="2">
                  <c:v>盟员-12%</c:v>
                </c:pt>
              </c:strCache>
            </c:str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5"/>
        <c:overlap val="0"/>
        <c:axId val="523647384"/>
        <c:axId val="17833455"/>
      </c:barChart>
      <c:catAx>
        <c:axId val="5236473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6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833455"/>
        <c:crosses val="autoZero"/>
        <c:auto val="1"/>
        <c:lblAlgn val="ctr"/>
        <c:lblOffset val="100"/>
        <c:noMultiLvlLbl val="0"/>
      </c:catAx>
      <c:valAx>
        <c:axId val="17833455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236473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delete val="1"/>
      </c:legendEntry>
      <c:layout>
        <c:manualLayout>
          <c:xMode val="edge"/>
          <c:yMode val="edge"/>
          <c:x val="0.715318524727578"/>
          <c:y val="0.0436249156734877"/>
        </c:manualLayout>
      </c:layout>
      <c:overlay val="0"/>
      <c:spPr>
        <a:solidFill>
          <a:schemeClr val="lt1">
            <a:lumMod val="95000"/>
            <a:alpha val="40000"/>
          </a:schemeClr>
        </a:solidFill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合肥同盟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33285141376293"/>
          <c:y val="0.117230098146129"/>
          <c:w val="0.956"/>
          <c:h val="0.76098666666666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23年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总业绩-27%</c:v>
                </c:pt>
                <c:pt idx="1">
                  <c:v>盟主-16%</c:v>
                </c:pt>
                <c:pt idx="2">
                  <c:v>盟员-35%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3551</c:v>
                </c:pt>
                <c:pt idx="1">
                  <c:v>1505</c:v>
                </c:pt>
                <c:pt idx="2">
                  <c:v>2045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24年</c:v>
                </c:pt>
              </c:strCache>
            </c:strRef>
          </c:tx>
          <c:spPr>
            <a:solidFill>
              <a:schemeClr val="accent5">
                <a:lumMod val="40000"/>
                <a:lumOff val="60000"/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总业绩-27%</c:v>
                </c:pt>
                <c:pt idx="1">
                  <c:v>盟主-16%</c:v>
                </c:pt>
                <c:pt idx="2">
                  <c:v>盟员-35%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2602</c:v>
                </c:pt>
                <c:pt idx="1">
                  <c:v>1270</c:v>
                </c:pt>
                <c:pt idx="2">
                  <c:v>1332</c:v>
                </c:pt>
              </c:numCache>
            </c:numRef>
          </c:val>
        </c:ser>
        <c:ser>
          <c:idx val="2"/>
          <c:order val="2"/>
          <c:tx>
            <c:strRef>
              <c:f>Sheet1!#REF!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hemeClr val="accent3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总业绩-27%</c:v>
                </c:pt>
                <c:pt idx="1">
                  <c:v>盟主-16%</c:v>
                </c:pt>
                <c:pt idx="2">
                  <c:v>盟员-35%</c:v>
                </c:pt>
              </c:strCache>
            </c:str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5"/>
        <c:overlap val="0"/>
        <c:axId val="523647384"/>
        <c:axId val="17833455"/>
      </c:barChart>
      <c:catAx>
        <c:axId val="5236473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6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833455"/>
        <c:crosses val="autoZero"/>
        <c:auto val="1"/>
        <c:lblAlgn val="ctr"/>
        <c:lblOffset val="100"/>
        <c:noMultiLvlLbl val="0"/>
      </c:catAx>
      <c:valAx>
        <c:axId val="17833455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236473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delete val="1"/>
      </c:legendEntry>
      <c:layout>
        <c:manualLayout>
          <c:xMode val="edge"/>
          <c:yMode val="edge"/>
          <c:x val="0.654408933384675"/>
          <c:y val="0.0604181727572009"/>
        </c:manualLayout>
      </c:layout>
      <c:overlay val="0"/>
      <c:spPr>
        <a:solidFill>
          <a:schemeClr val="lt1">
            <a:lumMod val="95000"/>
            <a:alpha val="40000"/>
          </a:schemeClr>
        </a:solidFill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68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sz="1680"/>
              <a:t>5大区域同盟</a:t>
            </a:r>
            <a:endParaRPr sz="168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24"/>
          <c:y val="0.111101936376211"/>
          <c:w val="0.956"/>
          <c:h val="0.76098666666666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23年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总业绩-19.4%</c:v>
                </c:pt>
                <c:pt idx="1">
                  <c:v>盟主7.1%</c:v>
                </c:pt>
                <c:pt idx="2">
                  <c:v>盟员-29.5%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10867</c:v>
                </c:pt>
                <c:pt idx="1">
                  <c:v>2989</c:v>
                </c:pt>
                <c:pt idx="2">
                  <c:v>7878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24年</c:v>
                </c:pt>
              </c:strCache>
            </c:strRef>
          </c:tx>
          <c:spPr>
            <a:solidFill>
              <a:srgbClr val="FFFF00">
                <a:alpha val="40000"/>
              </a:srgbClr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dLbl>
              <c:idx val="1"/>
              <c:layout>
                <c:manualLayout>
                  <c:x val="0.00769230769230769"/>
                  <c:y val="-0.0964730290456432"/>
                </c:manualLayout>
              </c:layout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总业绩-19.4%</c:v>
                </c:pt>
                <c:pt idx="1">
                  <c:v>盟主7.1%</c:v>
                </c:pt>
                <c:pt idx="2">
                  <c:v>盟员-29.5%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8757</c:v>
                </c:pt>
                <c:pt idx="1">
                  <c:v>3202</c:v>
                </c:pt>
                <c:pt idx="2">
                  <c:v>5555</c:v>
                </c:pt>
              </c:numCache>
            </c:numRef>
          </c:val>
        </c:ser>
        <c:ser>
          <c:idx val="2"/>
          <c:order val="2"/>
          <c:tx>
            <c:strRef>
              <c:f>Sheet1!#REF!</c:f>
              <c:strCache>
                <c:ptCount val="1"/>
                <c:pt idx="0">
                  <c:v/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总业绩-19.4%</c:v>
                </c:pt>
                <c:pt idx="1">
                  <c:v>盟主7.1%</c:v>
                </c:pt>
                <c:pt idx="2">
                  <c:v>盟员-29.5%</c:v>
                </c:pt>
              </c:strCache>
            </c:str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523647384"/>
        <c:axId val="17833455"/>
      </c:barChart>
      <c:catAx>
        <c:axId val="5236473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833455"/>
        <c:crosses val="autoZero"/>
        <c:auto val="1"/>
        <c:lblAlgn val="ctr"/>
        <c:lblOffset val="100"/>
        <c:noMultiLvlLbl val="0"/>
      </c:catAx>
      <c:valAx>
        <c:axId val="17833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236473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delete val="1"/>
      </c:legendEntry>
      <c:layout>
        <c:manualLayout>
          <c:xMode val="edge"/>
          <c:yMode val="edge"/>
          <c:x val="0.678315132605304"/>
          <c:y val="0.0588692946058091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4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</a:gradFill>
    <a:ln>
      <a:noFill/>
    </a:ln>
    <a:effectLst/>
  </c:spPr>
  <c:txPr>
    <a:bodyPr/>
    <a:lstStyle/>
    <a:p>
      <a:pPr>
        <a:defRPr lang="zh-CN" sz="1400"/>
      </a:pPr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sz="2400"/>
              <a:t>同比增减情况</a:t>
            </a:r>
            <a:endParaRPr sz="240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增长</c:v>
                </c:pt>
                <c:pt idx="1">
                  <c:v>下滑0-20%</c:v>
                </c:pt>
                <c:pt idx="2">
                  <c:v>下滑20-40%</c:v>
                </c:pt>
                <c:pt idx="3">
                  <c:v>下滑40%以上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</c:v>
                </c:pt>
                <c:pt idx="1">
                  <c:v>21</c:v>
                </c:pt>
                <c:pt idx="2">
                  <c:v>29</c:v>
                </c:pt>
                <c:pt idx="3">
                  <c:v>61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2000"/>
      </a:pPr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2400"/>
              <a:t>23</a:t>
            </a:r>
            <a:r>
              <a:rPr altLang="en-US" sz="2400"/>
              <a:t>年出库</a:t>
            </a:r>
            <a:r>
              <a:rPr lang="en-US" altLang="zh-CN" sz="2400"/>
              <a:t>150</a:t>
            </a:r>
            <a:r>
              <a:rPr altLang="en-US" sz="2400"/>
              <a:t>万以上</a:t>
            </a:r>
            <a:r>
              <a:rPr sz="2400"/>
              <a:t>增减情况</a:t>
            </a:r>
            <a:endParaRPr sz="240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增长</c:v>
                </c:pt>
                <c:pt idx="1">
                  <c:v>下滑0-20%</c:v>
                </c:pt>
                <c:pt idx="2">
                  <c:v>下滑20-40%</c:v>
                </c:pt>
                <c:pt idx="3">
                  <c:v>下滑40%以上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</c:v>
                </c:pt>
                <c:pt idx="1">
                  <c:v>8</c:v>
                </c:pt>
                <c:pt idx="2">
                  <c:v>12</c:v>
                </c:pt>
                <c:pt idx="3">
                  <c:v>19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2000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6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/>
        </a:fgClr>
        <a:bgClr>
          <a:schemeClr val="dk1">
            <a:lumMod val="10000"/>
            <a:lumOff val="90000"/>
          </a:schemeClr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lumMod val="60000"/>
              <a:lumOff val="40000"/>
            </a:schemeClr>
          </a:gs>
          <a:gs pos="0">
            <a:schemeClr val="phClr"/>
          </a:gs>
        </a:gsLst>
        <a:lin ang="5400000" scaled="0"/>
      </a:gra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lumMod val="60000"/>
              <a:lumOff val="40000"/>
            </a:schemeClr>
          </a:gs>
          <a:gs pos="0">
            <a:schemeClr val="phClr"/>
          </a:gs>
        </a:gsLst>
        <a:lin ang="5400000" scaled="0"/>
      </a:gradFill>
      <a:ln w="508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50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6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/>
        </a:fgClr>
        <a:bgClr>
          <a:schemeClr val="dk1">
            <a:lumMod val="10000"/>
            <a:lumOff val="90000"/>
          </a:schemeClr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lumMod val="60000"/>
              <a:lumOff val="40000"/>
            </a:schemeClr>
          </a:gs>
          <a:gs pos="0">
            <a:schemeClr val="phClr"/>
          </a:gs>
        </a:gsLst>
        <a:lin ang="5400000" scaled="0"/>
      </a:gra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lumMod val="60000"/>
              <a:lumOff val="40000"/>
            </a:schemeClr>
          </a:gs>
          <a:gs pos="0">
            <a:schemeClr val="phClr"/>
          </a:gs>
        </a:gsLst>
        <a:lin ang="5400000" scaled="0"/>
      </a:gradFill>
      <a:ln w="508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50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56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/>
        </a:fgClr>
        <a:bgClr>
          <a:schemeClr val="dk1">
            <a:lumMod val="10000"/>
            <a:lumOff val="90000"/>
          </a:schemeClr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lumMod val="60000"/>
              <a:lumOff val="40000"/>
            </a:schemeClr>
          </a:gs>
          <a:gs pos="0">
            <a:schemeClr val="phClr"/>
          </a:gs>
        </a:gsLst>
        <a:lin ang="5400000" scaled="0"/>
      </a:gra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lumMod val="60000"/>
              <a:lumOff val="40000"/>
            </a:schemeClr>
          </a:gs>
          <a:gs pos="0">
            <a:schemeClr val="phClr"/>
          </a:gs>
        </a:gsLst>
        <a:lin ang="5400000" scaled="0"/>
      </a:gradFill>
      <a:ln w="508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50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56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/>
        </a:fgClr>
        <a:bgClr>
          <a:schemeClr val="dk1">
            <a:lumMod val="10000"/>
            <a:lumOff val="90000"/>
          </a:schemeClr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lumMod val="60000"/>
              <a:lumOff val="40000"/>
            </a:schemeClr>
          </a:gs>
          <a:gs pos="0">
            <a:schemeClr val="phClr"/>
          </a:gs>
        </a:gsLst>
        <a:lin ang="5400000" scaled="0"/>
      </a:gra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lumMod val="60000"/>
              <a:lumOff val="40000"/>
            </a:schemeClr>
          </a:gs>
          <a:gs pos="0">
            <a:schemeClr val="phClr"/>
          </a:gs>
        </a:gsLst>
        <a:lin ang="5400000" scaled="0"/>
      </a:gradFill>
      <a:ln w="508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50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54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/>
    <cs:fillRef idx="2">
      <cs:styleClr val="auto"/>
    </cs:fillRef>
    <cs:effectRef idx="1"/>
    <cs:fontRef idx="minor">
      <a:schemeClr val="dk1"/>
    </cs:fontRef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54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/>
    <cs:fillRef idx="2">
      <cs:styleClr val="auto"/>
    </cs:fillRef>
    <cs:effectRef idx="1"/>
    <cs:fontRef idx="minor">
      <a:schemeClr val="dk1"/>
    </cs:fontRef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5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6.xml><?xml version="1.0" encoding="utf-8"?>
<cs:chartStyle xmlns:cs="http://schemas.microsoft.com/office/drawing/2012/chartStyle" xmlns:a="http://schemas.openxmlformats.org/drawingml/2006/main" id="1008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18.xml><?xml version="1.0" encoding="utf-8"?>
<cs:chartStyle xmlns:cs="http://schemas.microsoft.com/office/drawing/2012/chartStyle" xmlns:a="http://schemas.openxmlformats.org/drawingml/2006/main" id="23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0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9.xml><?xml version="1.0" encoding="utf-8"?>
<cs:chartStyle xmlns:cs="http://schemas.microsoft.com/office/drawing/2012/chartStyle" xmlns:a="http://schemas.openxmlformats.org/drawingml/2006/main" id="23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0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0.xml><?xml version="1.0" encoding="utf-8"?>
<cs:chartStyle xmlns:cs="http://schemas.microsoft.com/office/drawing/2012/chartStyle" xmlns:a="http://schemas.openxmlformats.org/drawingml/2006/main" id="23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0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1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2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3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4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5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6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357473-301C-4F69-A7FC-AE1DEF9F2C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F837B1-3942-4B36-A9A2-6AF914CEB0A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604" y="1122364"/>
            <a:ext cx="9144794" cy="2387600"/>
          </a:xfrm>
        </p:spPr>
        <p:txBody>
          <a:bodyPr anchor="b"/>
          <a:lstStyle>
            <a:lvl1pPr algn="ctr">
              <a:defRPr sz="5995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604" y="3602038"/>
            <a:ext cx="9144794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8165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130" indent="0" algn="ctr">
              <a:buNone/>
              <a:defRPr sz="1600"/>
            </a:lvl8pPr>
            <a:lvl9pPr marL="365633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6BE74-C8F2-478A-8B28-DAAA782FF5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4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AC56C-5BB0-44F6-AF88-D11E815E03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6BE74-C8F2-478A-8B28-DAAA782FF5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4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AC56C-5BB0-44F6-AF88-D11E815E03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633" y="1709740"/>
            <a:ext cx="10516036" cy="2852737"/>
          </a:xfrm>
        </p:spPr>
        <p:txBody>
          <a:bodyPr anchor="b"/>
          <a:lstStyle>
            <a:lvl1pPr>
              <a:defRPr sz="5995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633" y="4589465"/>
            <a:ext cx="10516036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1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5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1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3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6BE74-C8F2-478A-8B28-DAAA782FF5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4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AC56C-5BB0-44F6-AF88-D11E815E03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7983" y="1825625"/>
            <a:ext cx="5181839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1" y="1825625"/>
            <a:ext cx="5181838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6BE74-C8F2-478A-8B28-DAAA782FF5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4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AC56C-5BB0-44F6-AF88-D11E815E03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6036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571" y="1681163"/>
            <a:ext cx="515803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130" indent="0">
              <a:buNone/>
              <a:defRPr sz="1600" b="1"/>
            </a:lvl8pPr>
            <a:lvl9pPr marL="365633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571" y="2505075"/>
            <a:ext cx="515803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182" y="1681163"/>
            <a:ext cx="518342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130" indent="0">
              <a:buNone/>
              <a:defRPr sz="1600" b="1"/>
            </a:lvl8pPr>
            <a:lvl9pPr marL="365633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182" y="2505075"/>
            <a:ext cx="5183424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6BE74-C8F2-478A-8B28-DAAA782FF5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4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AC56C-5BB0-44F6-AF88-D11E815E03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6BE74-C8F2-478A-8B28-DAAA782FF5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4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AC56C-5BB0-44F6-AF88-D11E815E03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6BE74-C8F2-478A-8B28-DAAA782FF5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4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AC56C-5BB0-44F6-AF88-D11E815E03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2801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426" y="987427"/>
            <a:ext cx="617218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2801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6BE74-C8F2-478A-8B28-DAAA782FF5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4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AC56C-5BB0-44F6-AF88-D11E815E03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2801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426" y="987427"/>
            <a:ext cx="617218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0965" indent="0">
              <a:buNone/>
              <a:defRPr sz="2000"/>
            </a:lvl4pPr>
            <a:lvl5pPr marL="1828165" indent="0">
              <a:buNone/>
              <a:defRPr sz="2000"/>
            </a:lvl5pPr>
            <a:lvl6pPr marL="2285365" indent="0">
              <a:buNone/>
              <a:defRPr sz="2000"/>
            </a:lvl6pPr>
            <a:lvl7pPr marL="2742565" indent="0">
              <a:buNone/>
              <a:defRPr sz="2000"/>
            </a:lvl7pPr>
            <a:lvl8pPr marL="3199130" indent="0">
              <a:buNone/>
              <a:defRPr sz="2000"/>
            </a:lvl8pPr>
            <a:lvl9pPr marL="365633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2801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6BE74-C8F2-478A-8B28-DAAA782FF5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4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AC56C-5BB0-44F6-AF88-D11E815E03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6BE74-C8F2-478A-8B28-DAAA782FF5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4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AC56C-5BB0-44F6-AF88-D11E815E03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5802" y="365125"/>
            <a:ext cx="2628217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7983" y="365125"/>
            <a:ext cx="7735461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6BE74-C8F2-478A-8B28-DAAA782FF5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4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AC56C-5BB0-44F6-AF88-D11E815E03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A7E687-4FCB-4427-ACDA-ABBCA035BD37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4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948" y="6356352"/>
            <a:ext cx="2744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AC56C-5BB0-44F6-AF88-D11E815E03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948" y="6356352"/>
            <a:ext cx="2744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AC56C-5BB0-44F6-AF88-D11E815E03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948" y="6356352"/>
            <a:ext cx="2744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AC56C-5BB0-44F6-AF88-D11E815E03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948" y="6356352"/>
            <a:ext cx="2744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AC56C-5BB0-44F6-AF88-D11E815E03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hf sldNum="0"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83BAC30-0A52-4917-A8C1-96351948BD0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4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22B7C35-2D23-4A9E-9555-25A37BCE3B6B}" type="slidenum">
              <a:rPr lang="zh-CN" altLang="en-US" smtClean="0"/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/>
        </p:nvSpPr>
        <p:spPr>
          <a:xfrm>
            <a:off x="8609948" y="6356352"/>
            <a:ext cx="2744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AC56C-5BB0-44F6-AF88-D11E815E03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r>
              <a:rPr lang="zh-CN" altLang="en-US"/>
              <a:t>4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6615" y="638171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712947" y="2420888"/>
            <a:ext cx="6331651" cy="863600"/>
          </a:xfrm>
        </p:spPr>
        <p:txBody>
          <a:bodyPr/>
          <a:lstStyle>
            <a:lvl1pPr algn="ctr">
              <a:defRPr sz="3600"/>
            </a:lvl1pPr>
          </a:lstStyle>
          <a:p>
            <a:pPr lvl="0" fontAlgn="base"/>
            <a:r>
              <a:rPr lang="zh-CN" strike="noStrike" noProof="0" smtClean="0"/>
              <a:t>单击此处编辑母版标题样式</a:t>
            </a:r>
            <a:endParaRPr lang="zh-CN" strike="noStrike" noProof="0" smtClean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714533" y="3500388"/>
            <a:ext cx="6333237" cy="647700"/>
          </a:xfrm>
        </p:spPr>
        <p:txBody>
          <a:bodyPr/>
          <a:lstStyle>
            <a:lvl1pPr marL="0" indent="0" algn="ctr">
              <a:buFontTx/>
              <a:buNone/>
              <a:defRPr sz="2400"/>
            </a:lvl1pPr>
          </a:lstStyle>
          <a:p>
            <a:pPr lvl="0" fontAlgn="base"/>
            <a:r>
              <a:rPr lang="zh-CN" strike="noStrike" noProof="0" smtClean="0"/>
              <a:t>单击此处编辑母版副标题样式</a:t>
            </a:r>
            <a:endParaRPr lang="zh-CN" strike="noStrike" noProof="0" smtClean="0"/>
          </a:p>
        </p:txBody>
      </p:sp>
    </p:spTree>
  </p:cSld>
  <p:clrMapOvr>
    <a:masterClrMapping/>
  </p:clrMapOvr>
  <p:hf sldNum="0"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3"/>
          <p:cNvSpPr/>
          <p:nvPr userDrawn="1"/>
        </p:nvSpPr>
        <p:spPr>
          <a:xfrm>
            <a:off x="0" y="6704013"/>
            <a:ext cx="12190414" cy="153987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anchor="t"/>
          <a:p>
            <a:pPr lvl="0"/>
            <a:endParaRPr lang="zh-CN" altLang="en-US" sz="100" dirty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3075" name="矩形 4"/>
          <p:cNvSpPr/>
          <p:nvPr userDrawn="1"/>
        </p:nvSpPr>
        <p:spPr>
          <a:xfrm>
            <a:off x="11704892" y="6505575"/>
            <a:ext cx="436335" cy="279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/>
          <a:p>
            <a:pPr lvl="0"/>
            <a:endParaRPr lang="zh-CN" altLang="en-US" sz="100" dirty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3076" name="TextBox 5"/>
          <p:cNvSpPr txBox="1"/>
          <p:nvPr userDrawn="1"/>
        </p:nvSpPr>
        <p:spPr>
          <a:xfrm>
            <a:off x="11681916" y="6505575"/>
            <a:ext cx="490220" cy="30670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 lvl="0" algn="ctr"/>
            <a:fld id="{9A0DB2DC-4C9A-4742-B13C-FB6460FD3503}" type="slidenum">
              <a:rPr lang="zh-CN" altLang="en-US" sz="1400" dirty="0">
                <a:solidFill>
                  <a:srgbClr val="F8F8F8"/>
                </a:solidFill>
                <a:latin typeface="Arial" panose="020B0604020202090204" pitchFamily="34" charset="0"/>
                <a:ea typeface="宋体" pitchFamily="2" charset="-122"/>
              </a:rPr>
            </a:fld>
            <a:endParaRPr lang="zh-CN" altLang="en-US" sz="1400" dirty="0">
              <a:solidFill>
                <a:srgbClr val="F8F8F8"/>
              </a:solidFill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237" y="4406902"/>
            <a:ext cx="1036232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237" y="2906713"/>
            <a:ext cx="10362327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p:hf sldNum="0"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363" y="1600202"/>
            <a:ext cx="540967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1378" y="1600202"/>
            <a:ext cx="541126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hf sldNum="0"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363" y="274638"/>
            <a:ext cx="10973276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363" y="1535113"/>
            <a:ext cx="538745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363" y="2174875"/>
            <a:ext cx="538745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594" y="1535113"/>
            <a:ext cx="538904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594" y="2174875"/>
            <a:ext cx="538904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hf sldNum="0"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  <p:hf sldNum="0"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3"/>
          <p:cNvSpPr/>
          <p:nvPr userDrawn="1">
            <p:custDataLst>
              <p:tags r:id="rId2"/>
            </p:custDataLst>
          </p:nvPr>
        </p:nvSpPr>
        <p:spPr>
          <a:xfrm>
            <a:off x="0" y="6704013"/>
            <a:ext cx="12190414" cy="153987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anchor="t"/>
          <a:p>
            <a:pPr lvl="0"/>
            <a:endParaRPr lang="zh-CN" altLang="en-US" sz="100" dirty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3075" name="矩形 4"/>
          <p:cNvSpPr/>
          <p:nvPr userDrawn="1">
            <p:custDataLst>
              <p:tags r:id="rId3"/>
            </p:custDataLst>
          </p:nvPr>
        </p:nvSpPr>
        <p:spPr>
          <a:xfrm>
            <a:off x="11704892" y="6505575"/>
            <a:ext cx="436335" cy="279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/>
          <a:p>
            <a:pPr lvl="0"/>
            <a:endParaRPr lang="zh-CN" altLang="en-US" sz="100" dirty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3076" name="TextBox 5"/>
          <p:cNvSpPr txBox="1"/>
          <p:nvPr userDrawn="1">
            <p:custDataLst>
              <p:tags r:id="rId4"/>
            </p:custDataLst>
          </p:nvPr>
        </p:nvSpPr>
        <p:spPr>
          <a:xfrm>
            <a:off x="11681916" y="6505575"/>
            <a:ext cx="490220" cy="30670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 lvl="0" algn="ctr"/>
            <a:fld id="{9A0DB2DC-4C9A-4742-B13C-FB6460FD3503}" type="slidenum">
              <a:rPr lang="zh-CN" altLang="en-US" sz="1400" dirty="0">
                <a:solidFill>
                  <a:srgbClr val="F8F8F8"/>
                </a:solidFill>
                <a:latin typeface="Arial" panose="020B0604020202090204" pitchFamily="34" charset="0"/>
                <a:ea typeface="宋体" pitchFamily="2" charset="-122"/>
              </a:rPr>
            </a:fld>
            <a:endParaRPr lang="zh-CN" altLang="en-US" sz="1400" dirty="0">
              <a:solidFill>
                <a:srgbClr val="F8F8F8"/>
              </a:solidFill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  <p:hf sldNum="0"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363" y="273050"/>
            <a:ext cx="401163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988" y="273052"/>
            <a:ext cx="68156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363" y="1435102"/>
            <a:ext cx="401163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p:hf sldNum="0"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843" y="4800600"/>
            <a:ext cx="731551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843" y="612775"/>
            <a:ext cx="7315518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843" y="5367338"/>
            <a:ext cx="731551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p:hf sldNum="0"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hf sldNum="0"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509" y="908050"/>
            <a:ext cx="2742129" cy="5218113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363" y="908050"/>
            <a:ext cx="8078806" cy="5218113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hf sldNum="0"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PPECLOGO-eff2-1-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0590" y="3446463"/>
            <a:ext cx="282428" cy="2365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" name="Picture 17" descr="PPECLOGO-eff2-1-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36028" y="2909888"/>
            <a:ext cx="360174" cy="301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" name="Picture 16" descr="PPECLOGO-eff2-1-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15678" y="3325813"/>
            <a:ext cx="702896" cy="585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" name="Picture 15" descr="PPECLOGO-eff2-1-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82551" y="2786063"/>
            <a:ext cx="436336" cy="365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" name="Picture 14" descr="PPECLOGO-eff2-1-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053156" y="2795588"/>
            <a:ext cx="1697741" cy="1428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" name="Picture 13" descr="PPECLOGO-eff-0-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51103" y="2365375"/>
            <a:ext cx="522015" cy="3921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" name="Picture 12" descr="PPECLOGO-eff-0-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939715" y="3624263"/>
            <a:ext cx="522016" cy="393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Picture 11" descr="PPECLOGO-eff-5-4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881803" y="2725738"/>
            <a:ext cx="1117018" cy="850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" name="Picture 10" descr="PPECLOGO-eff-5-2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350263" y="3446463"/>
            <a:ext cx="1834195" cy="1435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Picture 9" descr="PPECLOGO-eff-5-4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3260615" y="3206750"/>
            <a:ext cx="1477193" cy="11239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Picture 8" descr="PPECLOGO-eff-0-2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5275690" y="2574925"/>
            <a:ext cx="982150" cy="7508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Picture 6" descr="PPECLOGO-eff-0-1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7373273" y="2903538"/>
            <a:ext cx="401428" cy="3032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Picture 5" descr="PPECLOGO-eff-0-1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4464900" y="3770313"/>
            <a:ext cx="525189" cy="396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Picture 4" descr="PPECLOGO-eff-0-3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39272" y="1447800"/>
            <a:ext cx="3013093" cy="23764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Picture 3" descr="PPECLOGO-eff-0-2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426824" y="2757488"/>
            <a:ext cx="1096391" cy="839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Picture 2" descr="PPECLOGO-eff-0-1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4145979" y="2886075"/>
            <a:ext cx="1059898" cy="800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rAng="0" ptsTypes="">
                                      <p:cBhvr>
                                        <p:cTn id="39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-0.31632 3.33333E-6 " pathEditMode="relative" rAng="0" ptsTypes="AA">
                                      <p:cBhvr>
                                        <p:cTn id="41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00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4 -1.85185E-6 L -0.46684 -1.85185E-6 " pathEditMode="relative" rAng="0" ptsTypes="AA">
                                      <p:cBhvr>
                                        <p:cTn id="43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500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1.11111E-6 L -0.19531 1.11111E-6 " pathEditMode="relative" rAng="0" ptsTypes="AA">
                                      <p:cBhvr>
                                        <p:cTn id="45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00" y="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-0.43594 2.59259E-6 " pathEditMode="relative" rAng="0" ptsTypes="AA">
                                      <p:cBhvr>
                                        <p:cTn id="4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00" y="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1.85185E-6 L -0.33577 -1.85185E-6 " pathEditMode="relative" rAng="0" ptsTypes="AA">
                                      <p:cBhvr>
                                        <p:cTn id="49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700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1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00" y="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3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00" y="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0.43906 2.59259E-6 " pathEditMode="relative" rAng="0" ptsTypes="AA">
                                      <p:cBhvr>
                                        <p:cTn id="55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900" y="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2.96296E-6 L 0.62813 2.96296E-6 " pathEditMode="relative" rAng="0" ptsTypes="AA">
                                      <p:cBhvr>
                                        <p:cTn id="5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400" y="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96296E-6 L 0.42465 -2.96296E-6 " pathEditMode="relative" rAng="0" ptsTypes="AA">
                                      <p:cBhvr>
                                        <p:cTn id="59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00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xit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53" presetClass="exit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53" presetClass="exit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53" presetClass="exit" presetSubtype="16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53" presetClass="exit" presetSubtype="16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7" Type="http://schemas.openxmlformats.org/officeDocument/2006/relationships/image" Target="../media/image1.png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7" Type="http://schemas.openxmlformats.org/officeDocument/2006/relationships/theme" Target="../theme/theme3.xml"/><Relationship Id="rId16" Type="http://schemas.openxmlformats.org/officeDocument/2006/relationships/image" Target="../media/image16.png"/><Relationship Id="rId15" Type="http://schemas.openxmlformats.org/officeDocument/2006/relationships/tags" Target="../tags/tag10.xml"/><Relationship Id="rId14" Type="http://schemas.openxmlformats.org/officeDocument/2006/relationships/image" Target="../media/image15.jpeg"/><Relationship Id="rId13" Type="http://schemas.openxmlformats.org/officeDocument/2006/relationships/tags" Target="../tags/tag9.xml"/><Relationship Id="rId12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603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7983" y="6356352"/>
            <a:ext cx="27440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E6BE74-C8F2-478A-8B28-DAAA782FF5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9137" y="6356352"/>
            <a:ext cx="4113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4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948" y="6356352"/>
            <a:ext cx="2744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AC56C-5BB0-44F6-AF88-D11E815E03F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0993120" y="6401435"/>
            <a:ext cx="5721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>
              <a:buClrTx/>
              <a:buSzTx/>
              <a:buFontTx/>
            </a:pPr>
            <a:r>
              <a:rPr lang="zh-CN" altLang="en-US" sz="1200" smtClean="0">
                <a:solidFill>
                  <a:schemeClr val="tx1">
                    <a:tint val="75000"/>
                  </a:schemeClr>
                </a:solidFill>
              </a:rPr>
              <a:t>/2</a:t>
            </a:r>
            <a:r>
              <a:rPr lang="en-US" altLang="zh-CN" sz="1200" smtClean="0">
                <a:solidFill>
                  <a:schemeClr val="tx1">
                    <a:tint val="75000"/>
                  </a:schemeClr>
                </a:solidFill>
              </a:rPr>
              <a:t>5</a:t>
            </a:r>
            <a:endParaRPr lang="en-US" altLang="zh-CN" sz="1200" smtClean="0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8" name="图片 7" descr="2024 帝欧家居+ 欧神诺 logo(金色） (1)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9984105" y="116840"/>
            <a:ext cx="2036445" cy="4699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7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948" y="6356352"/>
            <a:ext cx="2744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AC56C-5BB0-44F6-AF88-D11E815E03F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0993120" y="6401435"/>
            <a:ext cx="5721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>
              <a:buClrTx/>
              <a:buSzTx/>
              <a:buFontTx/>
            </a:pPr>
            <a:r>
              <a:rPr lang="zh-CN" altLang="en-US" sz="1200" smtClean="0">
                <a:solidFill>
                  <a:schemeClr val="tx1">
                    <a:tint val="75000"/>
                  </a:schemeClr>
                </a:solidFill>
              </a:rPr>
              <a:t>/2</a:t>
            </a:r>
            <a:r>
              <a:rPr lang="en-US" altLang="zh-CN" sz="1200" smtClean="0">
                <a:solidFill>
                  <a:schemeClr val="tx1">
                    <a:tint val="75000"/>
                  </a:schemeClr>
                </a:solidFill>
              </a:rPr>
              <a:t>5</a:t>
            </a:r>
            <a:endParaRPr lang="en-US" altLang="zh-CN" sz="1200" smtClean="0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8" name="图片 7" descr="2024 帝欧家居+ 欧神诺 logo(金色） (1)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984105" y="116840"/>
            <a:ext cx="2036445" cy="4699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sldNum="0" hd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840937" y="590550"/>
            <a:ext cx="10510126" cy="6350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ctr"/>
          <a:p>
            <a:pPr lvl="0" fontAlgn="base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840937" y="1600200"/>
            <a:ext cx="10510126" cy="4276725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p>
            <a:pPr lvl="0" fontAlgn="base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base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 rotWithShape="1">
          <a:blip r:embed="rId14" cstate="screen">
            <a:lum bright="42000" contrast="54000"/>
          </a:blip>
          <a:srcRect t="31137" r="188"/>
          <a:stretch>
            <a:fillRect/>
          </a:stretch>
        </p:blipFill>
        <p:spPr>
          <a:xfrm>
            <a:off x="-24130" y="-27305"/>
            <a:ext cx="12318365" cy="477774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-24130" y="191135"/>
            <a:ext cx="12364720" cy="6751955"/>
          </a:xfrm>
          <a:prstGeom prst="rect">
            <a:avLst/>
          </a:pr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</p:txBody>
      </p:sp>
      <p:pic>
        <p:nvPicPr>
          <p:cNvPr id="2057" name="图片 3" descr="欧神诺瓷砖&amp;中国航天事业合作伙伴联合logo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10512425" y="314325"/>
            <a:ext cx="1373188" cy="5857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dt="0"/>
  <p:txStyles>
    <p:titleStyle>
      <a:lvl1pPr algn="l" rtl="0" fontAlgn="base">
        <a:spcBef>
          <a:spcPct val="0"/>
        </a:spcBef>
        <a:spcAft>
          <a:spcPct val="0"/>
        </a:spcAft>
        <a:defRPr sz="2400">
          <a:solidFill>
            <a:schemeClr val="accent3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90204" pitchFamily="34" charset="0"/>
          <a:ea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90204" pitchFamily="34" charset="0"/>
          <a:ea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90204" pitchFamily="34" charset="0"/>
          <a:ea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9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9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9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9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9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accent3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accent3"/>
          </a:solidFill>
          <a:latin typeface="+mn-lt"/>
          <a:ea typeface="仿宋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18.png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image" Target="../media/image17.jpeg"/><Relationship Id="rId1" Type="http://schemas.openxmlformats.org/officeDocument/2006/relationships/tags" Target="../tags/tag1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image" Target="../media/image18.png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image" Target="../media/image20.jpeg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18.png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image" Target="../media/image21.jpeg"/><Relationship Id="rId1" Type="http://schemas.openxmlformats.org/officeDocument/2006/relationships/tags" Target="../tags/tag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chart" Target="../charts/chart4.xml"/><Relationship Id="rId1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chart" Target="../charts/chart6.xml"/><Relationship Id="rId1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chart" Target="../charts/chart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6.xml"/><Relationship Id="rId4" Type="http://schemas.openxmlformats.org/officeDocument/2006/relationships/chart" Target="../charts/chart13.xml"/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chart" Target="../charts/char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chart" Target="../charts/chart15.xml"/><Relationship Id="rId1" Type="http://schemas.openxmlformats.org/officeDocument/2006/relationships/chart" Target="../charts/char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chart" Target="../charts/chart16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18.png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image" Target="../media/image21.jpeg"/><Relationship Id="rId1" Type="http://schemas.openxmlformats.org/officeDocument/2006/relationships/tags" Target="../tags/tag24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6.xml"/><Relationship Id="rId4" Type="http://schemas.openxmlformats.org/officeDocument/2006/relationships/chart" Target="../charts/chart20.xml"/><Relationship Id="rId3" Type="http://schemas.openxmlformats.org/officeDocument/2006/relationships/chart" Target="../charts/chart19.xml"/><Relationship Id="rId2" Type="http://schemas.openxmlformats.org/officeDocument/2006/relationships/chart" Target="../charts/chart18.xml"/><Relationship Id="rId1" Type="http://schemas.openxmlformats.org/officeDocument/2006/relationships/chart" Target="../charts/char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6.xml"/><Relationship Id="rId6" Type="http://schemas.openxmlformats.org/officeDocument/2006/relationships/chart" Target="../charts/chart26.xml"/><Relationship Id="rId5" Type="http://schemas.openxmlformats.org/officeDocument/2006/relationships/chart" Target="../charts/chart25.xml"/><Relationship Id="rId4" Type="http://schemas.openxmlformats.org/officeDocument/2006/relationships/chart" Target="../charts/chart24.xml"/><Relationship Id="rId3" Type="http://schemas.openxmlformats.org/officeDocument/2006/relationships/chart" Target="../charts/chart23.xml"/><Relationship Id="rId2" Type="http://schemas.openxmlformats.org/officeDocument/2006/relationships/chart" Target="../charts/chart22.xml"/><Relationship Id="rId1" Type="http://schemas.openxmlformats.org/officeDocument/2006/relationships/chart" Target="../charts/chart2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chart" Target="../charts/chart28.xml"/><Relationship Id="rId1" Type="http://schemas.openxmlformats.org/officeDocument/2006/relationships/chart" Target="../charts/chart27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18.png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image" Target="../media/image21.jpeg"/><Relationship Id="rId1" Type="http://schemas.openxmlformats.org/officeDocument/2006/relationships/tags" Target="../tags/tag2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slideLayout" Target="../slideLayouts/slideLayout13.xml"/><Relationship Id="rId7" Type="http://schemas.openxmlformats.org/officeDocument/2006/relationships/image" Target="../media/image23.png"/><Relationship Id="rId6" Type="http://schemas.openxmlformats.org/officeDocument/2006/relationships/package" Target="../embeddings/Workbook29.xlsx"/><Relationship Id="rId5" Type="http://schemas.openxmlformats.org/officeDocument/2006/relationships/image" Target="../media/image18.png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image" Target="../media/image22.jpeg"/><Relationship Id="rId1" Type="http://schemas.openxmlformats.org/officeDocument/2006/relationships/tags" Target="../tags/tag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 cstate="screen"/>
          <a:srcRect l="-16" t="28721" r="678" b="29342"/>
          <a:stretch>
            <a:fillRect/>
          </a:stretch>
        </p:blipFill>
        <p:spPr>
          <a:xfrm>
            <a:off x="0" y="0"/>
            <a:ext cx="12204065" cy="6858000"/>
          </a:xfrm>
          <a:prstGeom prst="rect">
            <a:avLst/>
          </a:prstGeom>
        </p:spPr>
      </p:pic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-12382" y="-13652"/>
            <a:ext cx="12216765" cy="68853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42"/>
          <p:cNvSpPr txBox="1"/>
          <p:nvPr>
            <p:custDataLst>
              <p:tags r:id="rId4"/>
            </p:custDataLst>
          </p:nvPr>
        </p:nvSpPr>
        <p:spPr>
          <a:xfrm>
            <a:off x="-24765" y="3789045"/>
            <a:ext cx="12216130" cy="1538605"/>
          </a:xfrm>
          <a:prstGeom prst="rect">
            <a:avLst/>
          </a:prstGeom>
          <a:noFill/>
        </p:spPr>
        <p:txBody>
          <a:bodyPr wrap="square" lIns="89933" tIns="44966" rIns="89933" bIns="44966">
            <a:noAutofit/>
          </a:bodyPr>
          <a:lstStyle/>
          <a:p>
            <a:pPr algn="ctr" defTabSz="899160">
              <a:lnSpc>
                <a:spcPts val="7000"/>
              </a:lnSpc>
              <a:defRPr/>
            </a:pPr>
            <a:r>
              <a:rPr lang="zh-CN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汇报人：梁倚萌</a:t>
            </a:r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2024</a:t>
            </a:r>
            <a:r>
              <a:rPr lang="zh-CN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 descr="logo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97205" y="316865"/>
            <a:ext cx="1769110" cy="3086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266315" y="1974850"/>
            <a:ext cx="7672070" cy="1863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zh-CN" altLang="en-US" sz="4800" b="1" spc="8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华中运营中心经销商盘点及工作</a:t>
            </a:r>
            <a:r>
              <a:rPr lang="zh-CN" altLang="en-US" sz="4800" b="1" spc="8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</a:t>
            </a:r>
            <a:endParaRPr lang="zh-CN" altLang="en-US" sz="4800" b="1" spc="8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monarch-wqian\Desktop\标志wmf\2024 帝欧家居+帝王洁具 欧神诺\图片1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705100" y="0"/>
            <a:ext cx="9486900" cy="6858001"/>
          </a:xfrm>
          <a:prstGeom prst="rect">
            <a:avLst/>
          </a:prstGeom>
          <a:noFill/>
        </p:spPr>
      </p:pic>
      <p:sp>
        <p:nvSpPr>
          <p:cNvPr id="7" name="MH_Entry_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008120" y="1340485"/>
            <a:ext cx="7414895" cy="4590415"/>
          </a:xfrm>
          <a:custGeom>
            <a:avLst/>
            <a:gdLst>
              <a:gd name="T0" fmla="*/ 0 w 2520280"/>
              <a:gd name="T1" fmla="*/ 372 h 1872208"/>
              <a:gd name="T2" fmla="*/ 2147483647 w 2520280"/>
              <a:gd name="T3" fmla="*/ 372 h 1872208"/>
              <a:gd name="T4" fmla="*/ 2147483647 w 2520280"/>
              <a:gd name="T5" fmla="*/ 440 h 1872208"/>
              <a:gd name="T6" fmla="*/ 0 w 2520280"/>
              <a:gd name="T7" fmla="*/ 440 h 1872208"/>
              <a:gd name="T8" fmla="*/ 0 w 2520280"/>
              <a:gd name="T9" fmla="*/ 372 h 1872208"/>
              <a:gd name="T10" fmla="*/ 0 w 2520280"/>
              <a:gd name="T11" fmla="*/ 0 h 187220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20280"/>
              <a:gd name="T19" fmla="*/ 0 h 1872208"/>
              <a:gd name="T20" fmla="*/ 2520280 w 2520280"/>
              <a:gd name="T21" fmla="*/ 1872208 h 187220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noAutofit/>
          </a:bodyPr>
          <a:lstStyle>
            <a:lvl1pPr defTabSz="909955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defTabSz="909955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defTabSz="909955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defTabSz="909955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defTabSz="909955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90995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90995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90995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90995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defTabSz="909320" eaLnBrk="1" fontAlgn="base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rPr>
              <a:t>一、华中</a:t>
            </a:r>
            <a:r>
              <a:rPr lang="zh-CN" altLang="en-US" sz="32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rPr>
              <a:t>运营中心经销商画像</a:t>
            </a:r>
            <a:endParaRPr lang="zh-CN" altLang="en-US" sz="32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90204" pitchFamily="34" charset="0"/>
            </a:endParaRPr>
          </a:p>
          <a:p>
            <a:pPr defTabSz="909320" eaLnBrk="1" fontAlgn="base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32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90204" pitchFamily="34" charset="0"/>
            </a:endParaRPr>
          </a:p>
          <a:p>
            <a:pPr defTabSz="909320" eaLnBrk="1" fontAlgn="base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rPr>
              <a:t>二、华中运营中心</a:t>
            </a:r>
            <a:r>
              <a:rPr lang="en-US" altLang="zh-CN" sz="32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rPr>
              <a:t>1-5</a:t>
            </a:r>
            <a:r>
              <a:rPr lang="zh-CN" altLang="en-US" sz="32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rPr>
              <a:t>月业绩情况</a:t>
            </a:r>
            <a:r>
              <a:rPr lang="zh-CN" altLang="en-US" sz="32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rPr>
              <a:t>分析</a:t>
            </a:r>
            <a:endParaRPr lang="zh-CN" altLang="en-US" sz="32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90204" pitchFamily="34" charset="0"/>
            </a:endParaRPr>
          </a:p>
          <a:p>
            <a:pPr defTabSz="909320" eaLnBrk="1" fontAlgn="base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32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90204" pitchFamily="34" charset="0"/>
            </a:endParaRPr>
          </a:p>
          <a:p>
            <a:pPr defTabSz="909320" eaLnBrk="1" fontAlgn="base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rPr>
              <a:t>三、华中运营中心工作规划</a:t>
            </a:r>
            <a:r>
              <a:rPr lang="zh-CN" altLang="en-US" sz="32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rPr>
              <a:t>及策略</a:t>
            </a:r>
            <a:endParaRPr lang="zh-CN" altLang="en-US" sz="32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90204" pitchFamily="34" charset="0"/>
            </a:endParaRPr>
          </a:p>
          <a:p>
            <a:pPr defTabSz="909320" eaLnBrk="1" fontAlgn="base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32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4" cstate="screen"/>
          <a:srcRect l="18814" r="41206"/>
          <a:stretch>
            <a:fillRect/>
          </a:stretch>
        </p:blipFill>
        <p:spPr>
          <a:xfrm>
            <a:off x="0" y="-11430"/>
            <a:ext cx="2760980" cy="6869430"/>
          </a:xfrm>
          <a:prstGeom prst="rect">
            <a:avLst/>
          </a:prstGeom>
        </p:spPr>
      </p:pic>
      <p:sp>
        <p:nvSpPr>
          <p:cNvPr id="5" name="矩形 4"/>
          <p:cNvSpPr/>
          <p:nvPr>
            <p:custDataLst>
              <p:tags r:id="rId5"/>
            </p:custDataLst>
          </p:nvPr>
        </p:nvSpPr>
        <p:spPr>
          <a:xfrm>
            <a:off x="0" y="0"/>
            <a:ext cx="2761615" cy="6858000"/>
          </a:xfrm>
          <a:prstGeom prst="rect">
            <a:avLst/>
          </a:prstGeom>
          <a:solidFill>
            <a:srgbClr val="0F3670">
              <a:alpha val="7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MH_Others_1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983373" y="1628111"/>
            <a:ext cx="830580" cy="3596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 defTabSz="9144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90204" pitchFamily="34" charset="0"/>
              </a:rPr>
              <a:t>目</a:t>
            </a:r>
            <a:r>
              <a:rPr lang="en-US" altLang="zh-CN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90204" pitchFamily="34" charset="0"/>
              </a:rPr>
              <a:t>  </a:t>
            </a:r>
            <a:r>
              <a:rPr lang="zh-CN" altLang="en-US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90204" pitchFamily="34" charset="0"/>
              </a:rPr>
              <a:t> 录</a:t>
            </a:r>
            <a:endParaRPr lang="zh-CN" altLang="en-US" sz="5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90204" pitchFamily="34" charset="0"/>
            </a:endParaRPr>
          </a:p>
        </p:txBody>
      </p:sp>
      <p:pic>
        <p:nvPicPr>
          <p:cNvPr id="3" name="图片 2" descr="logo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50215" y="561975"/>
            <a:ext cx="2132330" cy="372110"/>
          </a:xfrm>
          <a:prstGeom prst="rect">
            <a:avLst/>
          </a:prstGeom>
        </p:spPr>
      </p:pic>
      <p:sp>
        <p:nvSpPr>
          <p:cNvPr id="2" name="页脚占位符 7"/>
          <p:cNvSpPr>
            <a:spLocks noGrp="1"/>
          </p:cNvSpPr>
          <p:nvPr/>
        </p:nvSpPr>
        <p:spPr>
          <a:xfrm>
            <a:off x="10488930" y="6453505"/>
            <a:ext cx="1188085" cy="356235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2/20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 cstate="screen"/>
          <a:srcRect t="21739" r="1630" b="11850"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-12382" y="-29845"/>
            <a:ext cx="12216765" cy="6917690"/>
          </a:xfrm>
          <a:prstGeom prst="rect">
            <a:avLst/>
          </a:prstGeom>
          <a:solidFill>
            <a:srgbClr val="0F3670">
              <a:alpha val="7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689610" y="2708910"/>
            <a:ext cx="10415905" cy="977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zh-CN" altLang="en-US" sz="48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rPr>
              <a:t>一、华中运营中心经销商</a:t>
            </a:r>
            <a:r>
              <a:rPr lang="zh-CN" altLang="en-US" sz="48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rPr>
              <a:t>画像</a:t>
            </a:r>
            <a:endParaRPr lang="zh-CN" altLang="en-US" sz="4800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pic>
        <p:nvPicPr>
          <p:cNvPr id="3" name="图片 2" descr="logo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50215" y="561975"/>
            <a:ext cx="2132330" cy="37211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848340" y="6434455"/>
            <a:ext cx="895350" cy="4235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pc="80" dirty="0" smtClean="0">
                <a:solidFill>
                  <a:schemeClr val="bg1"/>
                </a:solidFill>
              </a:rPr>
              <a:t>3/20</a:t>
            </a:r>
            <a:endParaRPr lang="en-US" altLang="zh-CN" spc="80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2"/>
          <p:cNvSpPr>
            <a:spLocks noChangeArrowheads="1"/>
          </p:cNvSpPr>
          <p:nvPr/>
        </p:nvSpPr>
        <p:spPr bwMode="auto">
          <a:xfrm>
            <a:off x="839674" y="404664"/>
            <a:ext cx="8091805" cy="610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9119" tIns="59561" rIns="119119" bIns="59561">
            <a:spAutoFit/>
          </a:bodyPr>
          <a:lstStyle>
            <a:lvl1pPr defTabSz="119062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defTabSz="11906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defTabSz="119062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defTabSz="119062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defTabSz="119062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11906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11906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11906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11906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lvl="0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b="1" dirty="0">
                <a:ea typeface="微软雅黑" panose="020B0503020204020204" pitchFamily="34" charset="-122"/>
              </a:rPr>
              <a:t>华中运营中心经销商合作年限、</a:t>
            </a:r>
            <a:r>
              <a:rPr lang="zh-CN" altLang="en-US" b="1" dirty="0">
                <a:ea typeface="微软雅黑" panose="020B0503020204020204" pitchFamily="34" charset="-122"/>
              </a:rPr>
              <a:t>年龄段</a:t>
            </a:r>
            <a:endParaRPr lang="zh-CN" altLang="en-US" b="1" dirty="0"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384" y="477054"/>
            <a:ext cx="143510" cy="431800"/>
          </a:xfrm>
          <a:prstGeom prst="rect">
            <a:avLst/>
          </a:prstGeom>
          <a:solidFill>
            <a:srgbClr val="10356A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10488930" y="6453505"/>
            <a:ext cx="1188085" cy="356235"/>
          </a:xfrm>
        </p:spPr>
        <p:txBody>
          <a:bodyPr/>
          <a:p>
            <a:r>
              <a:rPr lang="zh-CN" altLang="en-US"/>
              <a:t>4</a:t>
            </a:r>
            <a:r>
              <a:rPr lang="en-US" altLang="zh-CN"/>
              <a:t>/20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11089640" y="6381750"/>
            <a:ext cx="362585" cy="42354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>
              <a:lnSpc>
                <a:spcPct val="120000"/>
              </a:lnSpc>
              <a:spcAft>
                <a:spcPts val="600"/>
              </a:spcAft>
            </a:pPr>
            <a:endParaRPr lang="zh-CN" altLang="en-US" spc="80" dirty="0" smtClean="0"/>
          </a:p>
        </p:txBody>
      </p:sp>
      <p:graphicFrame>
        <p:nvGraphicFramePr>
          <p:cNvPr id="3" name="图表 2"/>
          <p:cNvGraphicFramePr/>
          <p:nvPr/>
        </p:nvGraphicFramePr>
        <p:xfrm>
          <a:off x="508000" y="1428750"/>
          <a:ext cx="5935345" cy="38849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图表 4"/>
          <p:cNvGraphicFramePr/>
          <p:nvPr/>
        </p:nvGraphicFramePr>
        <p:xfrm>
          <a:off x="6096000" y="1254760"/>
          <a:ext cx="6350000" cy="4072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07670" y="5594985"/>
            <a:ext cx="9802495" cy="906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1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、整体华中运营中心经销商合作年限相对正常，合作</a:t>
            </a:r>
            <a:r>
              <a:rPr lang="en-US" altLang="zh-CN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3-5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年发展中型经销商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较多</a:t>
            </a:r>
            <a:endParaRPr lang="zh-CN" altLang="en-US" sz="2000" noProof="0" dirty="0">
              <a:ln>
                <a:noFill/>
              </a:ln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2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、整体华中经销商老板年龄结构较为正常，暂未出现老龄化现状</a:t>
            </a:r>
            <a:endParaRPr lang="zh-CN" altLang="en-US" sz="2000" noProof="0" dirty="0">
              <a:ln>
                <a:noFill/>
              </a:ln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2"/>
          <p:cNvSpPr>
            <a:spLocks noChangeArrowheads="1"/>
          </p:cNvSpPr>
          <p:nvPr/>
        </p:nvSpPr>
        <p:spPr bwMode="auto">
          <a:xfrm>
            <a:off x="839674" y="404664"/>
            <a:ext cx="8091805" cy="610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9119" tIns="59561" rIns="119119" bIns="59561">
            <a:spAutoFit/>
          </a:bodyPr>
          <a:lstStyle>
            <a:lvl1pPr defTabSz="119062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defTabSz="11906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defTabSz="119062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defTabSz="119062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defTabSz="119062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11906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11906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11906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11906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lvl="0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b="1" dirty="0">
                <a:ea typeface="微软雅黑" panose="020B0503020204020204" pitchFamily="34" charset="-122"/>
              </a:rPr>
              <a:t>华中运营中心经销商经营模式、团队</a:t>
            </a:r>
            <a:r>
              <a:rPr lang="zh-CN" altLang="en-US" b="1" dirty="0">
                <a:ea typeface="微软雅黑" panose="020B0503020204020204" pitchFamily="34" charset="-122"/>
              </a:rPr>
              <a:t>规模</a:t>
            </a:r>
            <a:endParaRPr lang="zh-CN" altLang="en-US" b="1" dirty="0"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384" y="477054"/>
            <a:ext cx="143510" cy="431800"/>
          </a:xfrm>
          <a:prstGeom prst="rect">
            <a:avLst/>
          </a:prstGeom>
          <a:solidFill>
            <a:srgbClr val="10356A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10488930" y="6453505"/>
            <a:ext cx="1188085" cy="356235"/>
          </a:xfrm>
        </p:spPr>
        <p:txBody>
          <a:bodyPr/>
          <a:p>
            <a:r>
              <a:rPr lang="en-US" altLang="zh-CN"/>
              <a:t>5/20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11089640" y="6381750"/>
            <a:ext cx="362585" cy="42354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>
              <a:lnSpc>
                <a:spcPct val="120000"/>
              </a:lnSpc>
              <a:spcAft>
                <a:spcPts val="600"/>
              </a:spcAft>
            </a:pPr>
            <a:endParaRPr lang="zh-CN" altLang="en-US" spc="80" dirty="0" smtClean="0"/>
          </a:p>
        </p:txBody>
      </p:sp>
      <p:graphicFrame>
        <p:nvGraphicFramePr>
          <p:cNvPr id="3" name="图表 2"/>
          <p:cNvGraphicFramePr/>
          <p:nvPr/>
        </p:nvGraphicFramePr>
        <p:xfrm>
          <a:off x="381000" y="1047750"/>
          <a:ext cx="5608320" cy="3677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图表 4"/>
          <p:cNvGraphicFramePr/>
          <p:nvPr/>
        </p:nvGraphicFramePr>
        <p:xfrm>
          <a:off x="6384290" y="1052195"/>
          <a:ext cx="5608320" cy="36785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79425" y="5085080"/>
            <a:ext cx="11397615" cy="15557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1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、经销商夫妻店经营模式（团队</a:t>
            </a:r>
            <a:r>
              <a:rPr lang="en-US" altLang="zh-CN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4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人及以下）占比较大</a:t>
            </a:r>
            <a:endParaRPr lang="zh-CN" altLang="en-US" sz="2000" noProof="0" dirty="0">
              <a:ln>
                <a:noFill/>
              </a:ln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2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、经销商团队人数</a:t>
            </a:r>
            <a:r>
              <a:rPr lang="en-US" altLang="zh-CN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5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人及以下占比</a:t>
            </a:r>
            <a:r>
              <a:rPr lang="en-US" altLang="zh-CN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70%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，有成型</a:t>
            </a:r>
            <a:r>
              <a:rPr lang="en-US" altLang="zh-CN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10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人以上团队的仅有</a:t>
            </a:r>
            <a:r>
              <a:rPr lang="en-US" altLang="zh-CN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6%</a:t>
            </a:r>
            <a:endParaRPr lang="en-US" altLang="zh-CN" sz="2000" noProof="0" dirty="0">
              <a:ln>
                <a:noFill/>
              </a:ln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zh-CN" altLang="en-US" sz="2800" b="1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缺乏做大做强的团队化经营模式支撑</a:t>
            </a:r>
            <a:endParaRPr lang="zh-CN" altLang="en-US" sz="2800" b="1" noProof="0" dirty="0">
              <a:ln>
                <a:noFill/>
              </a:ln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endParaRPr lang="en-US" altLang="zh-CN" sz="2800" b="1" noProof="0" dirty="0">
              <a:ln>
                <a:noFill/>
              </a:ln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2"/>
          <p:cNvSpPr>
            <a:spLocks noChangeArrowheads="1"/>
          </p:cNvSpPr>
          <p:nvPr/>
        </p:nvSpPr>
        <p:spPr bwMode="auto">
          <a:xfrm>
            <a:off x="839674" y="404664"/>
            <a:ext cx="8091805" cy="610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9119" tIns="59561" rIns="119119" bIns="59561">
            <a:spAutoFit/>
          </a:bodyPr>
          <a:lstStyle>
            <a:lvl1pPr defTabSz="119062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defTabSz="11906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defTabSz="119062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defTabSz="119062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defTabSz="119062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11906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11906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11906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11906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lvl="0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b="1" dirty="0">
                <a:ea typeface="微软雅黑" panose="020B0503020204020204" pitchFamily="34" charset="-122"/>
              </a:rPr>
              <a:t>华中运营中心经销商店面</a:t>
            </a:r>
            <a:r>
              <a:rPr lang="zh-CN" altLang="en-US" b="1" dirty="0">
                <a:ea typeface="微软雅黑" panose="020B0503020204020204" pitchFamily="34" charset="-122"/>
              </a:rPr>
              <a:t>情况</a:t>
            </a:r>
            <a:endParaRPr lang="zh-CN" altLang="en-US" b="1" dirty="0"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384" y="477054"/>
            <a:ext cx="143510" cy="431800"/>
          </a:xfrm>
          <a:prstGeom prst="rect">
            <a:avLst/>
          </a:prstGeom>
          <a:solidFill>
            <a:srgbClr val="10356A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10488930" y="6453505"/>
            <a:ext cx="1188085" cy="356235"/>
          </a:xfrm>
        </p:spPr>
        <p:txBody>
          <a:bodyPr/>
          <a:p>
            <a:r>
              <a:rPr lang="en-US" altLang="zh-CN"/>
              <a:t>6/20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11089640" y="6381750"/>
            <a:ext cx="362585" cy="42354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>
              <a:lnSpc>
                <a:spcPct val="120000"/>
              </a:lnSpc>
              <a:spcAft>
                <a:spcPts val="600"/>
              </a:spcAft>
            </a:pPr>
            <a:endParaRPr lang="zh-CN" altLang="en-US" spc="80" dirty="0" smtClean="0"/>
          </a:p>
        </p:txBody>
      </p:sp>
      <p:graphicFrame>
        <p:nvGraphicFramePr>
          <p:cNvPr id="3" name="图表 2"/>
          <p:cNvGraphicFramePr/>
          <p:nvPr/>
        </p:nvGraphicFramePr>
        <p:xfrm>
          <a:off x="381000" y="1047750"/>
          <a:ext cx="5608320" cy="37636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图表 4"/>
          <p:cNvGraphicFramePr/>
          <p:nvPr/>
        </p:nvGraphicFramePr>
        <p:xfrm>
          <a:off x="6384290" y="1052195"/>
          <a:ext cx="5608320" cy="37636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79425" y="5085080"/>
            <a:ext cx="11397615" cy="12960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1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、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目前华中经销商店面面积相对合理</a:t>
            </a:r>
            <a:endParaRPr lang="zh-CN" altLang="en-US" sz="2000" noProof="0" dirty="0">
              <a:ln>
                <a:noFill/>
              </a:ln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2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、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部分核心经销商店面进行了重装、改造升级，也还有大部分经销商行动较慢，店面形象滞后</a:t>
            </a:r>
            <a:endParaRPr lang="en-US" altLang="zh-CN" sz="2000" b="1" noProof="0" dirty="0">
              <a:ln>
                <a:noFill/>
              </a:ln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2"/>
          <p:cNvSpPr>
            <a:spLocks noChangeArrowheads="1"/>
          </p:cNvSpPr>
          <p:nvPr/>
        </p:nvSpPr>
        <p:spPr bwMode="auto">
          <a:xfrm>
            <a:off x="839674" y="404664"/>
            <a:ext cx="8091805" cy="610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9119" tIns="59561" rIns="119119" bIns="59561">
            <a:spAutoFit/>
          </a:bodyPr>
          <a:lstStyle>
            <a:lvl1pPr defTabSz="119062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defTabSz="11906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defTabSz="119062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defTabSz="119062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defTabSz="119062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11906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11906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11906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11906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lvl="0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b="1" dirty="0">
                <a:ea typeface="微软雅黑" panose="020B0503020204020204" pitchFamily="34" charset="-122"/>
              </a:rPr>
              <a:t>华中运营中心经销商品牌经营</a:t>
            </a:r>
            <a:r>
              <a:rPr lang="zh-CN" altLang="en-US" b="1" dirty="0">
                <a:ea typeface="微软雅黑" panose="020B0503020204020204" pitchFamily="34" charset="-122"/>
              </a:rPr>
              <a:t>情况</a:t>
            </a:r>
            <a:endParaRPr lang="zh-CN" altLang="en-US" b="1" dirty="0"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384" y="477054"/>
            <a:ext cx="143510" cy="431800"/>
          </a:xfrm>
          <a:prstGeom prst="rect">
            <a:avLst/>
          </a:prstGeom>
          <a:solidFill>
            <a:srgbClr val="10356A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10488930" y="6453505"/>
            <a:ext cx="1188085" cy="356235"/>
          </a:xfrm>
        </p:spPr>
        <p:txBody>
          <a:bodyPr/>
          <a:p>
            <a:r>
              <a:rPr lang="en-US" altLang="zh-CN"/>
              <a:t>7/20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11089640" y="6381750"/>
            <a:ext cx="362585" cy="42354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>
              <a:lnSpc>
                <a:spcPct val="120000"/>
              </a:lnSpc>
              <a:spcAft>
                <a:spcPts val="600"/>
              </a:spcAft>
            </a:pPr>
            <a:endParaRPr lang="zh-CN" altLang="en-US" spc="80" dirty="0" smtClean="0"/>
          </a:p>
        </p:txBody>
      </p:sp>
      <p:graphicFrame>
        <p:nvGraphicFramePr>
          <p:cNvPr id="3" name="图表 2"/>
          <p:cNvGraphicFramePr/>
          <p:nvPr/>
        </p:nvGraphicFramePr>
        <p:xfrm>
          <a:off x="716280" y="1453515"/>
          <a:ext cx="4938395" cy="4922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图表 4"/>
          <p:cNvGraphicFramePr/>
          <p:nvPr/>
        </p:nvGraphicFramePr>
        <p:xfrm>
          <a:off x="6096000" y="1254760"/>
          <a:ext cx="2984500" cy="25457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图表 5"/>
          <p:cNvGraphicFramePr/>
          <p:nvPr/>
        </p:nvGraphicFramePr>
        <p:xfrm>
          <a:off x="9080500" y="1282065"/>
          <a:ext cx="2983865" cy="24726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2590145" y="3884295"/>
            <a:ext cx="4064000" cy="4235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20000"/>
              </a:lnSpc>
              <a:spcAft>
                <a:spcPts val="600"/>
              </a:spcAft>
            </a:pPr>
            <a:endParaRPr lang="zh-CN" altLang="en-US" spc="80" dirty="0" smtClean="0"/>
          </a:p>
        </p:txBody>
      </p:sp>
      <p:sp>
        <p:nvSpPr>
          <p:cNvPr id="10" name="文本框 9"/>
          <p:cNvSpPr txBox="1"/>
          <p:nvPr/>
        </p:nvSpPr>
        <p:spPr>
          <a:xfrm>
            <a:off x="6150610" y="4436745"/>
            <a:ext cx="5828030" cy="20961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1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、目前华中经销商多瓷砖品牌或品类经营占比高达</a:t>
            </a:r>
            <a:r>
              <a:rPr lang="en-US" altLang="zh-CN" sz="2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74%</a:t>
            </a:r>
            <a:endParaRPr lang="zh-CN" altLang="en-US" sz="2000" noProof="0" dirty="0">
              <a:ln>
                <a:noFill/>
              </a:ln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2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、多瓷砖品牌经营经销商和公司合作粘度相对较差，有对比、有退路，同比下滑的经销商高达</a:t>
            </a:r>
            <a:r>
              <a:rPr lang="en-US" altLang="zh-CN" sz="2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85%</a:t>
            </a:r>
            <a:endParaRPr lang="en-US" altLang="zh-CN" sz="2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2"/>
          <p:cNvSpPr>
            <a:spLocks noChangeArrowheads="1"/>
          </p:cNvSpPr>
          <p:nvPr/>
        </p:nvSpPr>
        <p:spPr bwMode="auto">
          <a:xfrm>
            <a:off x="839470" y="404495"/>
            <a:ext cx="8673465" cy="610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9119" tIns="59561" rIns="119119" bIns="59561">
            <a:spAutoFit/>
          </a:bodyPr>
          <a:lstStyle>
            <a:lvl1pPr defTabSz="119062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defTabSz="11906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defTabSz="119062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defTabSz="119062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defTabSz="119062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11906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11906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11906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11906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lvl="0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b="1" dirty="0">
                <a:ea typeface="微软雅黑" panose="020B0503020204020204" pitchFamily="34" charset="-122"/>
              </a:rPr>
              <a:t>华中运营中心经销商</a:t>
            </a:r>
            <a:r>
              <a:rPr lang="en-US" altLang="zh-CN" b="1" dirty="0">
                <a:ea typeface="微软雅黑" panose="020B0503020204020204" pitchFamily="34" charset="-122"/>
              </a:rPr>
              <a:t>3-5</a:t>
            </a:r>
            <a:r>
              <a:rPr lang="zh-CN" altLang="en-US" b="1" dirty="0">
                <a:ea typeface="微软雅黑" panose="020B0503020204020204" pitchFamily="34" charset="-122"/>
              </a:rPr>
              <a:t>月终端销售</a:t>
            </a:r>
            <a:r>
              <a:rPr lang="zh-CN" altLang="en-US" b="1" dirty="0">
                <a:ea typeface="微软雅黑" panose="020B0503020204020204" pitchFamily="34" charset="-122"/>
                <a:sym typeface="+mn-ea"/>
              </a:rPr>
              <a:t>业绩</a:t>
            </a:r>
            <a:r>
              <a:rPr lang="zh-CN" altLang="en-US" b="1" dirty="0">
                <a:ea typeface="微软雅黑" panose="020B0503020204020204" pitchFamily="34" charset="-122"/>
              </a:rPr>
              <a:t>情况</a:t>
            </a:r>
            <a:endParaRPr lang="zh-CN" altLang="en-US" b="1" dirty="0"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384" y="477054"/>
            <a:ext cx="143510" cy="431800"/>
          </a:xfrm>
          <a:prstGeom prst="rect">
            <a:avLst/>
          </a:prstGeom>
          <a:solidFill>
            <a:srgbClr val="10356A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10488930" y="6453505"/>
            <a:ext cx="1188085" cy="356235"/>
          </a:xfrm>
        </p:spPr>
        <p:txBody>
          <a:bodyPr/>
          <a:p>
            <a:r>
              <a:rPr lang="en-US" altLang="zh-CN"/>
              <a:t>8/20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11089640" y="6381750"/>
            <a:ext cx="362585" cy="42354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>
              <a:lnSpc>
                <a:spcPct val="120000"/>
              </a:lnSpc>
              <a:spcAft>
                <a:spcPts val="600"/>
              </a:spcAft>
            </a:pPr>
            <a:endParaRPr lang="zh-CN" altLang="en-US" spc="80" dirty="0" smtClean="0"/>
          </a:p>
        </p:txBody>
      </p:sp>
      <p:graphicFrame>
        <p:nvGraphicFramePr>
          <p:cNvPr id="3" name="图表 2"/>
          <p:cNvGraphicFramePr/>
          <p:nvPr/>
        </p:nvGraphicFramePr>
        <p:xfrm>
          <a:off x="191770" y="1052830"/>
          <a:ext cx="4149090" cy="27012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" name="图表 5"/>
          <p:cNvGraphicFramePr/>
          <p:nvPr/>
        </p:nvGraphicFramePr>
        <p:xfrm>
          <a:off x="4655820" y="1052830"/>
          <a:ext cx="3768090" cy="2738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图表 8"/>
          <p:cNvGraphicFramePr/>
          <p:nvPr/>
        </p:nvGraphicFramePr>
        <p:xfrm>
          <a:off x="4655820" y="4038600"/>
          <a:ext cx="3768090" cy="25069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图表 9"/>
          <p:cNvGraphicFramePr/>
          <p:nvPr/>
        </p:nvGraphicFramePr>
        <p:xfrm>
          <a:off x="191770" y="4038600"/>
          <a:ext cx="4066540" cy="24549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8693785" y="1124585"/>
            <a:ext cx="3409315" cy="55441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1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、经销商</a:t>
            </a:r>
            <a:r>
              <a:rPr lang="en-US" altLang="zh-CN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3-5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月份终端销售较差，</a:t>
            </a:r>
            <a:r>
              <a:rPr lang="zh-CN" altLang="en-US" sz="2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月均销售</a:t>
            </a:r>
            <a:r>
              <a:rPr lang="en-US" altLang="zh-CN" sz="2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30</a:t>
            </a:r>
            <a:r>
              <a:rPr lang="zh-CN" altLang="en-US" sz="2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万以上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的经销商占比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低，</a:t>
            </a:r>
            <a:endParaRPr lang="zh-CN" altLang="en-US" sz="2000" noProof="0" dirty="0">
              <a:ln>
                <a:noFill/>
              </a:ln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2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、经销商设计师渠道能力较差，仅有</a:t>
            </a:r>
            <a:r>
              <a:rPr lang="en-US" altLang="zh-CN" sz="2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6%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的经销商月均可销售</a:t>
            </a:r>
            <a:r>
              <a:rPr lang="en-US" altLang="zh-CN" sz="2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10</a:t>
            </a:r>
            <a:r>
              <a:rPr lang="zh-CN" altLang="en-US" sz="2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万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以上</a:t>
            </a:r>
            <a:endParaRPr lang="zh-CN" altLang="en-US" sz="2000" noProof="0" dirty="0">
              <a:ln>
                <a:noFill/>
              </a:ln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3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、大部分经销商整装渠道均有触及，但是销售不理想，月均销售</a:t>
            </a:r>
            <a:r>
              <a:rPr lang="en-US" altLang="zh-CN" sz="2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20</a:t>
            </a:r>
            <a:r>
              <a:rPr lang="zh-CN" altLang="en-US" sz="2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万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的经销商，只有</a:t>
            </a:r>
            <a:r>
              <a:rPr lang="en-US" altLang="zh-CN" sz="2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17%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。</a:t>
            </a:r>
            <a:endParaRPr lang="zh-CN" altLang="en-US" sz="2000" noProof="0" dirty="0">
              <a:ln>
                <a:noFill/>
              </a:ln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4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、华中零售经销商工程能力较差，</a:t>
            </a:r>
            <a:r>
              <a:rPr lang="en-US" altLang="zh-CN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3-5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月份工程销售</a:t>
            </a:r>
            <a:r>
              <a:rPr lang="en-US" altLang="zh-CN" sz="2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50</a:t>
            </a:r>
            <a:r>
              <a:rPr lang="zh-CN" altLang="en-US" sz="2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万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以上的经销商仅有</a:t>
            </a:r>
            <a:r>
              <a:rPr lang="en-US" altLang="zh-CN" sz="2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11</a:t>
            </a:r>
            <a:r>
              <a:rPr lang="zh-CN" altLang="en-US" sz="2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个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。</a:t>
            </a:r>
            <a:endParaRPr lang="zh-CN" altLang="en-US" sz="2000" noProof="0" dirty="0">
              <a:ln>
                <a:noFill/>
              </a:ln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2"/>
          <p:cNvSpPr>
            <a:spLocks noChangeArrowheads="1"/>
          </p:cNvSpPr>
          <p:nvPr/>
        </p:nvSpPr>
        <p:spPr bwMode="auto">
          <a:xfrm>
            <a:off x="839470" y="404495"/>
            <a:ext cx="8673465" cy="610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9119" tIns="59561" rIns="119119" bIns="59561">
            <a:spAutoFit/>
          </a:bodyPr>
          <a:lstStyle>
            <a:lvl1pPr defTabSz="119062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defTabSz="11906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defTabSz="119062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defTabSz="119062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defTabSz="119062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11906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11906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11906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11906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lvl="0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b="1" dirty="0">
                <a:ea typeface="微软雅黑" panose="020B0503020204020204" pitchFamily="34" charset="-122"/>
              </a:rPr>
              <a:t>华中运营中心经销商</a:t>
            </a:r>
            <a:r>
              <a:rPr lang="zh-CN" altLang="en-US" b="1" dirty="0">
                <a:ea typeface="微软雅黑" panose="020B0503020204020204" pitchFamily="34" charset="-122"/>
              </a:rPr>
              <a:t>库存情况</a:t>
            </a:r>
            <a:endParaRPr lang="zh-CN" altLang="en-US" b="1" dirty="0"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384" y="477054"/>
            <a:ext cx="143510" cy="431800"/>
          </a:xfrm>
          <a:prstGeom prst="rect">
            <a:avLst/>
          </a:prstGeom>
          <a:solidFill>
            <a:srgbClr val="10356A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10488930" y="6453505"/>
            <a:ext cx="1188085" cy="356235"/>
          </a:xfrm>
        </p:spPr>
        <p:txBody>
          <a:bodyPr/>
          <a:p>
            <a:r>
              <a:rPr lang="en-US" altLang="zh-CN"/>
              <a:t>9/20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11089640" y="6381750"/>
            <a:ext cx="362585" cy="42354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>
              <a:lnSpc>
                <a:spcPct val="120000"/>
              </a:lnSpc>
              <a:spcAft>
                <a:spcPts val="600"/>
              </a:spcAft>
            </a:pPr>
            <a:endParaRPr lang="zh-CN" altLang="en-US" spc="80" dirty="0" smtClean="0"/>
          </a:p>
        </p:txBody>
      </p:sp>
      <p:graphicFrame>
        <p:nvGraphicFramePr>
          <p:cNvPr id="5" name="图表 4"/>
          <p:cNvGraphicFramePr/>
          <p:nvPr/>
        </p:nvGraphicFramePr>
        <p:xfrm>
          <a:off x="479425" y="1052830"/>
          <a:ext cx="5410835" cy="37166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" name="图表 5"/>
          <p:cNvGraphicFramePr/>
          <p:nvPr/>
        </p:nvGraphicFramePr>
        <p:xfrm>
          <a:off x="6456045" y="1014730"/>
          <a:ext cx="5410835" cy="37884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1919605" y="5324475"/>
            <a:ext cx="8972550" cy="10572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大部分经销商出现库存周转率较慢，库存压力较大，产品需求低。</a:t>
            </a:r>
            <a:r>
              <a:rPr lang="en-US" altLang="zh-CN" sz="24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5</a:t>
            </a:r>
            <a:r>
              <a:rPr lang="zh-CN" altLang="en-US" sz="24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个月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以上周转率库存经销商高达</a:t>
            </a:r>
            <a:r>
              <a:rPr lang="en-US" altLang="zh-CN" sz="24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43%</a:t>
            </a:r>
            <a:endParaRPr lang="zh-CN" altLang="en-US" sz="2400" noProof="0" dirty="0">
              <a:ln>
                <a:noFill/>
              </a:ln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endParaRPr lang="en-US" altLang="zh-CN" sz="2400" noProof="0" dirty="0">
              <a:ln>
                <a:noFill/>
              </a:ln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2"/>
          <p:cNvSpPr>
            <a:spLocks noChangeArrowheads="1"/>
          </p:cNvSpPr>
          <p:nvPr/>
        </p:nvSpPr>
        <p:spPr bwMode="auto">
          <a:xfrm>
            <a:off x="839470" y="404495"/>
            <a:ext cx="8673465" cy="610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9119" tIns="59561" rIns="119119" bIns="59561">
            <a:spAutoFit/>
          </a:bodyPr>
          <a:lstStyle>
            <a:lvl1pPr defTabSz="119062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defTabSz="11906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defTabSz="119062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defTabSz="119062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defTabSz="119062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11906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11906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11906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11906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lvl="0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b="1" dirty="0">
                <a:ea typeface="微软雅黑" panose="020B0503020204020204" pitchFamily="34" charset="-122"/>
              </a:rPr>
              <a:t>华中运营中心经销商</a:t>
            </a:r>
            <a:r>
              <a:rPr lang="zh-CN" altLang="en-US" b="1" dirty="0">
                <a:ea typeface="微软雅黑" panose="020B0503020204020204" pitchFamily="34" charset="-122"/>
              </a:rPr>
              <a:t>质量评估</a:t>
            </a:r>
            <a:endParaRPr lang="zh-CN" altLang="en-US" b="1" dirty="0"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384" y="477054"/>
            <a:ext cx="143510" cy="431800"/>
          </a:xfrm>
          <a:prstGeom prst="rect">
            <a:avLst/>
          </a:prstGeom>
          <a:solidFill>
            <a:srgbClr val="10356A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10345420" y="6453505"/>
            <a:ext cx="1188085" cy="356235"/>
          </a:xfrm>
        </p:spPr>
        <p:txBody>
          <a:bodyPr/>
          <a:p>
            <a:r>
              <a:rPr lang="en-US" altLang="zh-CN"/>
              <a:t>10/20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11089640" y="6381750"/>
            <a:ext cx="362585" cy="42354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>
              <a:lnSpc>
                <a:spcPct val="120000"/>
              </a:lnSpc>
              <a:spcAft>
                <a:spcPts val="600"/>
              </a:spcAft>
            </a:pPr>
            <a:endParaRPr lang="zh-CN" altLang="en-US" spc="80" dirty="0" smtClean="0"/>
          </a:p>
        </p:txBody>
      </p:sp>
      <p:graphicFrame>
        <p:nvGraphicFramePr>
          <p:cNvPr id="3" name="图表 2"/>
          <p:cNvGraphicFramePr/>
          <p:nvPr/>
        </p:nvGraphicFramePr>
        <p:xfrm>
          <a:off x="191770" y="1124585"/>
          <a:ext cx="6350000" cy="48653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7104380" y="1268730"/>
            <a:ext cx="4579620" cy="402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zh-CN" altLang="en-US" sz="2400" spc="80" dirty="0" smtClean="0">
                <a:highlight>
                  <a:srgbClr val="C0C0C0"/>
                </a:highlight>
              </a:rPr>
              <a:t>经销商质量综合评估：</a:t>
            </a:r>
            <a:endParaRPr lang="zh-CN" altLang="en-US" sz="2400" spc="80" dirty="0" smtClean="0">
              <a:highlight>
                <a:srgbClr val="C0C0C0"/>
              </a:highlight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zh-CN" altLang="en-US" sz="2400" spc="80" dirty="0" smtClean="0">
                <a:highlight>
                  <a:srgbClr val="C0C0C0"/>
                </a:highlight>
              </a:rPr>
              <a:t>优质：</a:t>
            </a:r>
            <a:r>
              <a:rPr lang="zh-CN" altLang="en-US" sz="2400" spc="80" dirty="0" smtClean="0"/>
              <a:t>1.新店面；2.有团队；3.老板有资源，有想法，专注单品牌，销售良好；</a:t>
            </a:r>
            <a:endParaRPr lang="zh-CN" altLang="en-US" sz="2400" spc="80" dirty="0" smtClean="0"/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zh-CN" altLang="en-US" sz="2400" spc="80" dirty="0" smtClean="0">
                <a:highlight>
                  <a:srgbClr val="C0C0C0"/>
                </a:highlight>
              </a:rPr>
              <a:t>良好：</a:t>
            </a:r>
            <a:r>
              <a:rPr lang="zh-CN" altLang="en-US" sz="2400" spc="80" dirty="0" smtClean="0"/>
              <a:t>1.新店面；2.老板有资源，有想法，专注于品牌，销售良好；</a:t>
            </a:r>
            <a:endParaRPr lang="zh-CN" altLang="en-US" sz="2400" spc="80" dirty="0" smtClean="0"/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zh-CN" altLang="en-US" sz="2400" spc="80" dirty="0" smtClean="0">
                <a:highlight>
                  <a:srgbClr val="C0C0C0"/>
                </a:highlight>
              </a:rPr>
              <a:t>较差：</a:t>
            </a:r>
            <a:r>
              <a:rPr lang="zh-CN" altLang="en-US" sz="2400" spc="80" dirty="0" smtClean="0"/>
              <a:t>1.老店；  2.老板不专注，无思路，不愿再投入，销售差</a:t>
            </a:r>
            <a:endParaRPr lang="zh-CN" altLang="en-US" sz="2400" spc="80" dirty="0" smtClean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 cstate="screen"/>
          <a:srcRect t="21739" r="1630" b="11850"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-12382" y="-29845"/>
            <a:ext cx="12216765" cy="6917690"/>
          </a:xfrm>
          <a:prstGeom prst="rect">
            <a:avLst/>
          </a:prstGeom>
          <a:solidFill>
            <a:srgbClr val="0F3670">
              <a:alpha val="7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839470" y="2708910"/>
            <a:ext cx="10795000" cy="977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zh-CN" altLang="en-US" sz="48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rPr>
              <a:t>二、华中运营中心</a:t>
            </a:r>
            <a:r>
              <a:rPr lang="en-US" altLang="zh-CN" sz="48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rPr>
              <a:t>1-5</a:t>
            </a:r>
            <a:r>
              <a:rPr lang="zh-CN" altLang="en-US" sz="48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rPr>
              <a:t>月业绩情况</a:t>
            </a:r>
            <a:r>
              <a:rPr lang="zh-CN" altLang="en-US" sz="48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rPr>
              <a:t>分析</a:t>
            </a:r>
            <a:endParaRPr lang="zh-CN" altLang="en-US" sz="4800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pic>
        <p:nvPicPr>
          <p:cNvPr id="3" name="图片 2" descr="logo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50215" y="561975"/>
            <a:ext cx="2132330" cy="372110"/>
          </a:xfrm>
          <a:prstGeom prst="rect">
            <a:avLst/>
          </a:prstGeom>
        </p:spPr>
      </p:pic>
      <p:sp>
        <p:nvSpPr>
          <p:cNvPr id="8" name="页脚占位符 7"/>
          <p:cNvSpPr>
            <a:spLocks noGrp="1"/>
          </p:cNvSpPr>
          <p:nvPr/>
        </p:nvSpPr>
        <p:spPr>
          <a:xfrm>
            <a:off x="10488930" y="6453505"/>
            <a:ext cx="1188085" cy="356235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olidFill>
                  <a:schemeClr val="bg1"/>
                </a:solidFill>
              </a:rPr>
              <a:t>11/20</a:t>
            </a:r>
            <a:endParaRPr lang="en-US" altLang="zh-C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2"/>
          <p:cNvSpPr>
            <a:spLocks noChangeArrowheads="1"/>
          </p:cNvSpPr>
          <p:nvPr/>
        </p:nvSpPr>
        <p:spPr bwMode="auto">
          <a:xfrm>
            <a:off x="839674" y="404664"/>
            <a:ext cx="8091805" cy="610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9119" tIns="59561" rIns="119119" bIns="59561">
            <a:spAutoFit/>
          </a:bodyPr>
          <a:lstStyle>
            <a:lvl1pPr defTabSz="119062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defTabSz="11906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defTabSz="119062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defTabSz="119062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defTabSz="119062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11906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11906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11906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11906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lvl="0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b="1" dirty="0">
                <a:ea typeface="微软雅黑" panose="020B0503020204020204" pitchFamily="34" charset="-122"/>
              </a:rPr>
              <a:t>华中运营中心</a:t>
            </a:r>
            <a:r>
              <a:rPr lang="en-US" altLang="zh-CN" b="1" dirty="0">
                <a:ea typeface="微软雅黑" panose="020B0503020204020204" pitchFamily="34" charset="-122"/>
              </a:rPr>
              <a:t>1-5</a:t>
            </a:r>
            <a:r>
              <a:rPr lang="zh-CN" altLang="en-US" b="1" dirty="0">
                <a:ea typeface="微软雅黑" panose="020B0503020204020204" pitchFamily="34" charset="-122"/>
              </a:rPr>
              <a:t>月出库业绩情况</a:t>
            </a:r>
            <a:endParaRPr lang="zh-CN" altLang="en-US" b="1" dirty="0"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384" y="477054"/>
            <a:ext cx="143510" cy="431800"/>
          </a:xfrm>
          <a:prstGeom prst="rect">
            <a:avLst/>
          </a:prstGeom>
          <a:solidFill>
            <a:srgbClr val="10356A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10345420" y="6453505"/>
            <a:ext cx="1188085" cy="356235"/>
          </a:xfrm>
        </p:spPr>
        <p:txBody>
          <a:bodyPr/>
          <a:p>
            <a:r>
              <a:rPr lang="en-US" altLang="zh-CN"/>
              <a:t>12/20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11089640" y="6381750"/>
            <a:ext cx="362585" cy="42354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>
              <a:lnSpc>
                <a:spcPct val="120000"/>
              </a:lnSpc>
              <a:spcAft>
                <a:spcPts val="600"/>
              </a:spcAft>
            </a:pPr>
            <a:endParaRPr lang="zh-CN" altLang="en-US" spc="80" dirty="0" smtClean="0"/>
          </a:p>
        </p:txBody>
      </p:sp>
      <p:graphicFrame>
        <p:nvGraphicFramePr>
          <p:cNvPr id="6" name="图表 5"/>
          <p:cNvGraphicFramePr/>
          <p:nvPr/>
        </p:nvGraphicFramePr>
        <p:xfrm>
          <a:off x="407035" y="1124585"/>
          <a:ext cx="5401310" cy="28898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9" name="图表 8"/>
          <p:cNvGraphicFramePr/>
          <p:nvPr/>
        </p:nvGraphicFramePr>
        <p:xfrm>
          <a:off x="534035" y="4181475"/>
          <a:ext cx="5401310" cy="25615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图表 9"/>
          <p:cNvGraphicFramePr/>
          <p:nvPr/>
        </p:nvGraphicFramePr>
        <p:xfrm>
          <a:off x="6527800" y="1196340"/>
          <a:ext cx="5401310" cy="27711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图表 11"/>
          <p:cNvGraphicFramePr/>
          <p:nvPr/>
        </p:nvGraphicFramePr>
        <p:xfrm>
          <a:off x="6240145" y="4149090"/>
          <a:ext cx="5401310" cy="26123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07035" y="188595"/>
            <a:ext cx="11196955" cy="6469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11906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zh-CN" altLang="en-US" sz="3200" b="1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华中运营中心</a:t>
            </a:r>
            <a:r>
              <a:rPr lang="en-US" altLang="zh-CN" sz="3200" b="1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1-5</a:t>
            </a:r>
            <a:r>
              <a:rPr lang="zh-CN" altLang="en-US" sz="3200" b="1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月业绩情况分析</a:t>
            </a:r>
            <a:endParaRPr lang="zh-CN" altLang="en-US" sz="3600" b="1" noProof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marR="0" lvl="0" indent="0" algn="l" defTabSz="11906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2000" noProof="0" dirty="0">
              <a:ln>
                <a:noFill/>
              </a:ln>
              <a:effectLst/>
              <a:uLnTx/>
              <a:uFillTx/>
              <a:latin typeface="宋体" pitchFamily="2" charset="-122"/>
              <a:ea typeface="宋体" pitchFamily="2" charset="-122"/>
              <a:cs typeface="宋体" pitchFamily="2" charset="-122"/>
              <a:sym typeface="+mn-ea"/>
            </a:endParaRPr>
          </a:p>
          <a:p>
            <a:pPr marR="0" lvl="0" indent="0" algn="l" defTabSz="1190625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1</a:t>
            </a:r>
            <a:r>
              <a:rPr lang="zh-CN" altLang="en-US" sz="2800" b="1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、经销商总业绩：</a:t>
            </a:r>
            <a:r>
              <a:rPr lang="en-US" altLang="zh-CN" sz="24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24</a:t>
            </a:r>
            <a:r>
              <a:rPr lang="zh-CN" altLang="en-US" sz="24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年</a:t>
            </a:r>
            <a:r>
              <a:rPr lang="en-US" altLang="zh-CN" sz="24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1-5</a:t>
            </a:r>
            <a:r>
              <a:rPr lang="zh-CN" altLang="en-US" sz="24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月华中运营中心整体下滑</a:t>
            </a:r>
            <a:r>
              <a:rPr lang="en-US" altLang="zh-CN" sz="24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-18.8%</a:t>
            </a:r>
            <a:endParaRPr lang="zh-CN" altLang="en-US" sz="2400" noProof="0" dirty="0">
              <a:ln>
                <a:noFill/>
              </a:ln>
              <a:effectLst/>
              <a:uLnTx/>
              <a:uFillTx/>
              <a:latin typeface="+mj-lt"/>
              <a:ea typeface="+mj-lt"/>
              <a:cs typeface="+mj-lt"/>
              <a:sym typeface="+mn-ea"/>
            </a:endParaRPr>
          </a:p>
          <a:p>
            <a:pPr marR="0" lvl="0" indent="0" algn="l" defTabSz="1190625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其中：零售经销商同比下滑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-23.3%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，工程经销商同比增长</a:t>
            </a:r>
            <a:r>
              <a:rPr lang="en-US" altLang="zh-CN" sz="24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57.4%</a:t>
            </a:r>
            <a:endParaRPr lang="en-US" altLang="zh-CN" sz="2400" noProof="0" dirty="0">
              <a:ln>
                <a:noFill/>
              </a:ln>
              <a:effectLst/>
              <a:uLnTx/>
              <a:uFillTx/>
              <a:latin typeface="+mj-lt"/>
              <a:ea typeface="+mj-lt"/>
              <a:cs typeface="+mj-lt"/>
              <a:sym typeface="+mn-ea"/>
            </a:endParaRPr>
          </a:p>
          <a:p>
            <a:pPr marR="0" lvl="0" indent="0" algn="l" defTabSz="1190625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         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河南省同比下滑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-15.7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，湖北省同比下滑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-23.6%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，安徽省下滑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-16.8%</a:t>
            </a:r>
            <a:endParaRPr lang="zh-CN" altLang="en-US" sz="2400" noProof="0" dirty="0">
              <a:ln>
                <a:noFill/>
              </a:ln>
              <a:effectLst/>
              <a:uLnTx/>
              <a:uFillTx/>
              <a:latin typeface="+mj-lt"/>
              <a:ea typeface="+mj-lt"/>
              <a:cs typeface="+mj-lt"/>
              <a:sym typeface="+mn-ea"/>
            </a:endParaRPr>
          </a:p>
          <a:p>
            <a:pPr marR="0" lvl="0" indent="0" algn="l" defTabSz="1190625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2</a:t>
            </a:r>
            <a:r>
              <a:rPr lang="zh-CN" altLang="en-US" sz="2800" b="1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、</a:t>
            </a:r>
            <a:r>
              <a:rPr lang="en-US" altLang="zh-CN" sz="2800" b="1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2023</a:t>
            </a:r>
            <a:r>
              <a:rPr lang="zh-CN" altLang="en-US" sz="2800" b="1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年业绩情况：</a:t>
            </a:r>
            <a:r>
              <a:rPr lang="en-US" sz="24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23</a:t>
            </a:r>
            <a:r>
              <a:rPr lang="zh-CN" altLang="en-US" sz="24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年</a:t>
            </a:r>
            <a:r>
              <a:rPr lang="en-US" altLang="zh-CN" sz="24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7-12</a:t>
            </a:r>
            <a:r>
              <a:rPr lang="zh-CN" altLang="en-US" sz="24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月环比</a:t>
            </a:r>
            <a:r>
              <a:rPr lang="en-US" altLang="zh-CN" sz="24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4-6</a:t>
            </a:r>
            <a:r>
              <a:rPr lang="zh-CN" altLang="en-US" sz="24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月业绩基本下滑</a:t>
            </a:r>
            <a:r>
              <a:rPr lang="en-US" altLang="zh-CN" sz="24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-18%</a:t>
            </a:r>
            <a:r>
              <a:rPr lang="zh-CN" altLang="en-US" sz="24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左右</a:t>
            </a:r>
            <a:endParaRPr lang="zh-CN" altLang="en-US" sz="24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lt"/>
              <a:cs typeface="+mj-lt"/>
              <a:sym typeface="+mn-ea"/>
            </a:endParaRPr>
          </a:p>
          <a:p>
            <a:pPr marR="0" lvl="0" indent="0" algn="l" defTabSz="1190625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河南省：</a:t>
            </a:r>
            <a:r>
              <a:rPr lang="en-US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23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年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7-12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月环比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4-6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月均业绩基本下滑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-19%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左右</a:t>
            </a:r>
            <a:endParaRPr lang="zh-CN" altLang="en-US" sz="2400" noProof="0" dirty="0">
              <a:ln>
                <a:noFill/>
              </a:ln>
              <a:effectLst/>
              <a:uLnTx/>
              <a:uFillTx/>
              <a:latin typeface="+mj-lt"/>
              <a:ea typeface="+mj-lt"/>
              <a:cs typeface="+mj-lt"/>
              <a:sym typeface="+mn-ea"/>
            </a:endParaRPr>
          </a:p>
          <a:p>
            <a:pPr marR="0" lvl="0" indent="0" algn="l" defTabSz="1190625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湖北省：</a:t>
            </a:r>
            <a:r>
              <a:rPr lang="en-US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23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年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7-12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月环比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4-6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月均业绩基本下滑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-13%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左右</a:t>
            </a:r>
            <a:endParaRPr lang="zh-CN" altLang="en-US" sz="2400" noProof="0" dirty="0">
              <a:ln>
                <a:noFill/>
              </a:ln>
              <a:effectLst/>
              <a:uLnTx/>
              <a:uFillTx/>
              <a:latin typeface="+mj-lt"/>
              <a:ea typeface="+mj-lt"/>
              <a:cs typeface="+mj-lt"/>
              <a:sym typeface="+mn-ea"/>
            </a:endParaRPr>
          </a:p>
          <a:p>
            <a:pPr marR="0" lvl="0" indent="0" algn="l" defTabSz="1190625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安徽省：</a:t>
            </a:r>
            <a:r>
              <a:rPr lang="en-US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23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年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7-12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月环比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4-6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月均业绩基本下滑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-19%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左右</a:t>
            </a:r>
            <a:endParaRPr lang="zh-CN" altLang="en-US" sz="2400" noProof="0" dirty="0">
              <a:ln>
                <a:noFill/>
              </a:ln>
              <a:effectLst/>
              <a:uLnTx/>
              <a:uFillTx/>
              <a:latin typeface="+mj-lt"/>
              <a:ea typeface="+mj-lt"/>
              <a:cs typeface="+mj-lt"/>
              <a:sym typeface="+mn-ea"/>
            </a:endParaRPr>
          </a:p>
          <a:p>
            <a:pPr marR="0" lvl="0" indent="0" algn="l" defTabSz="1190625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b="1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地级及以上城市</a:t>
            </a:r>
            <a:r>
              <a:rPr lang="en-US" altLang="zh-CN" sz="24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23</a:t>
            </a:r>
            <a:r>
              <a:rPr lang="zh-CN" altLang="en-US" sz="24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年完成</a:t>
            </a:r>
            <a:r>
              <a:rPr lang="en-US" altLang="zh-CN" sz="24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200</a:t>
            </a:r>
            <a:r>
              <a:rPr lang="zh-CN" altLang="en-US" sz="24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万</a:t>
            </a:r>
            <a:r>
              <a:rPr lang="zh-CN" altLang="en-US" sz="2400" b="1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以上的</a:t>
            </a:r>
            <a:r>
              <a:rPr lang="zh-CN" altLang="en-US" sz="2400" b="1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经销商数量：</a:t>
            </a:r>
            <a:endParaRPr lang="zh-CN" altLang="en-US" sz="2400" b="1" noProof="0" dirty="0">
              <a:ln>
                <a:noFill/>
              </a:ln>
              <a:effectLst/>
              <a:uLnTx/>
              <a:uFillTx/>
              <a:latin typeface="+mj-lt"/>
              <a:ea typeface="+mj-lt"/>
              <a:cs typeface="+mj-lt"/>
              <a:sym typeface="+mn-ea"/>
            </a:endParaRPr>
          </a:p>
          <a:p>
            <a:pPr marR="0" lvl="0" indent="0" algn="l" defTabSz="1190625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河南省：</a:t>
            </a:r>
            <a:r>
              <a:rPr lang="en-US" altLang="zh-CN" sz="24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7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/18   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湖北省：</a:t>
            </a:r>
            <a:r>
              <a:rPr lang="en-US" altLang="zh-CN" sz="24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3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/17   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安徽省：</a:t>
            </a:r>
            <a:r>
              <a:rPr lang="en-US" altLang="zh-CN" sz="24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6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/16</a:t>
            </a:r>
            <a:endParaRPr lang="zh-CN" altLang="en-US" sz="2400" noProof="0" dirty="0">
              <a:ln>
                <a:noFill/>
              </a:ln>
              <a:effectLst/>
              <a:uLnTx/>
              <a:uFillTx/>
              <a:latin typeface="+mj-lt"/>
              <a:ea typeface="+mj-lt"/>
              <a:cs typeface="+mj-lt"/>
              <a:sym typeface="+mn-ea"/>
            </a:endParaRPr>
          </a:p>
          <a:p>
            <a:pPr marR="0" lvl="0" indent="0" algn="l" defTabSz="1190625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sz="2400" noProof="0" dirty="0">
              <a:ln>
                <a:noFill/>
              </a:ln>
              <a:effectLst/>
              <a:uLnTx/>
              <a:uFillTx/>
              <a:latin typeface="+mj-lt"/>
              <a:ea typeface="+mj-lt"/>
              <a:cs typeface="+mj-lt"/>
              <a:sym typeface="+mn-ea"/>
            </a:endParaRPr>
          </a:p>
          <a:p>
            <a:pPr marL="0" marR="0" lvl="0" indent="0" algn="l" defTabSz="11906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sz="2400" spc="80" dirty="0" smtClean="0">
              <a:latin typeface="+mj-lt"/>
              <a:ea typeface="+mj-lt"/>
              <a:cs typeface="+mj-lt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479629" y="261154"/>
            <a:ext cx="143510" cy="431800"/>
          </a:xfrm>
          <a:prstGeom prst="rect">
            <a:avLst/>
          </a:prstGeom>
          <a:solidFill>
            <a:srgbClr val="10356A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704195" y="6386830"/>
            <a:ext cx="942975" cy="42354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algn="l">
              <a:lnSpc>
                <a:spcPct val="120000"/>
              </a:lnSpc>
              <a:spcAft>
                <a:spcPts val="600"/>
              </a:spcAft>
            </a:pPr>
            <a:endParaRPr lang="zh-CN" altLang="en-US" spc="80" dirty="0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10272395" y="6381115"/>
            <a:ext cx="1010920" cy="365125"/>
          </a:xfrm>
        </p:spPr>
        <p:txBody>
          <a:bodyPr/>
          <a:p>
            <a:r>
              <a:rPr lang="en-US" altLang="zh-CN"/>
              <a:t>13/20</a:t>
            </a:r>
            <a:endParaRPr lang="en-US" alt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2"/>
          <p:cNvSpPr>
            <a:spLocks noChangeArrowheads="1"/>
          </p:cNvSpPr>
          <p:nvPr/>
        </p:nvSpPr>
        <p:spPr bwMode="auto">
          <a:xfrm>
            <a:off x="839674" y="404664"/>
            <a:ext cx="8091805" cy="610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9119" tIns="59561" rIns="119119" bIns="59561">
            <a:spAutoFit/>
          </a:bodyPr>
          <a:lstStyle>
            <a:lvl1pPr defTabSz="119062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defTabSz="11906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defTabSz="119062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defTabSz="119062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defTabSz="119062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11906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11906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11906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11906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lvl="0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b="1" dirty="0">
                <a:ea typeface="微软雅黑" panose="020B0503020204020204" pitchFamily="34" charset="-122"/>
              </a:rPr>
              <a:t>华中运营中心</a:t>
            </a:r>
            <a:r>
              <a:rPr lang="en-US" altLang="zh-CN" b="1" dirty="0">
                <a:ea typeface="微软雅黑" panose="020B0503020204020204" pitchFamily="34" charset="-122"/>
              </a:rPr>
              <a:t>1-5</a:t>
            </a:r>
            <a:r>
              <a:rPr lang="zh-CN" altLang="en-US" b="1" dirty="0">
                <a:ea typeface="微软雅黑" panose="020B0503020204020204" pitchFamily="34" charset="-122"/>
              </a:rPr>
              <a:t>月出库业绩情况</a:t>
            </a:r>
            <a:endParaRPr lang="zh-CN" altLang="en-US" b="1" dirty="0"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384" y="477054"/>
            <a:ext cx="143510" cy="431800"/>
          </a:xfrm>
          <a:prstGeom prst="rect">
            <a:avLst/>
          </a:prstGeom>
          <a:solidFill>
            <a:srgbClr val="10356A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10345420" y="6453505"/>
            <a:ext cx="1188085" cy="356235"/>
          </a:xfrm>
        </p:spPr>
        <p:txBody>
          <a:bodyPr/>
          <a:p>
            <a:r>
              <a:rPr lang="en-US" altLang="zh-CN"/>
              <a:t>1</a:t>
            </a:r>
            <a:r>
              <a:rPr lang="zh-CN" altLang="en-US"/>
              <a:t>4</a:t>
            </a:r>
            <a:r>
              <a:rPr lang="en-US" altLang="zh-CN"/>
              <a:t>/20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11089640" y="6381750"/>
            <a:ext cx="362585" cy="42354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>
              <a:lnSpc>
                <a:spcPct val="120000"/>
              </a:lnSpc>
              <a:spcAft>
                <a:spcPts val="600"/>
              </a:spcAft>
            </a:pPr>
            <a:endParaRPr lang="zh-CN" altLang="en-US" spc="80" dirty="0" smtClean="0"/>
          </a:p>
        </p:txBody>
      </p:sp>
      <p:graphicFrame>
        <p:nvGraphicFramePr>
          <p:cNvPr id="3" name="图表 2"/>
          <p:cNvGraphicFramePr/>
          <p:nvPr/>
        </p:nvGraphicFramePr>
        <p:xfrm>
          <a:off x="4549775" y="1339850"/>
          <a:ext cx="3524250" cy="23437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图表 4"/>
          <p:cNvGraphicFramePr/>
          <p:nvPr/>
        </p:nvGraphicFramePr>
        <p:xfrm>
          <a:off x="8400415" y="3971925"/>
          <a:ext cx="3524250" cy="2409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图表 6"/>
          <p:cNvGraphicFramePr/>
          <p:nvPr/>
        </p:nvGraphicFramePr>
        <p:xfrm>
          <a:off x="4538980" y="4077335"/>
          <a:ext cx="3524250" cy="23698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图表 12"/>
          <p:cNvGraphicFramePr/>
          <p:nvPr/>
        </p:nvGraphicFramePr>
        <p:xfrm>
          <a:off x="8328025" y="1337310"/>
          <a:ext cx="3589020" cy="2306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图表 13"/>
          <p:cNvGraphicFramePr/>
          <p:nvPr/>
        </p:nvGraphicFramePr>
        <p:xfrm>
          <a:off x="735965" y="4107815"/>
          <a:ext cx="3501390" cy="23437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5" name="图表 14"/>
          <p:cNvGraphicFramePr/>
          <p:nvPr/>
        </p:nvGraphicFramePr>
        <p:xfrm>
          <a:off x="224790" y="1195705"/>
          <a:ext cx="4070350" cy="25374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2"/>
          <p:cNvSpPr>
            <a:spLocks noChangeArrowheads="1"/>
          </p:cNvSpPr>
          <p:nvPr/>
        </p:nvSpPr>
        <p:spPr bwMode="auto">
          <a:xfrm>
            <a:off x="839674" y="404664"/>
            <a:ext cx="8091805" cy="610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9119" tIns="59561" rIns="119119" bIns="59561">
            <a:spAutoFit/>
          </a:bodyPr>
          <a:lstStyle>
            <a:lvl1pPr defTabSz="119062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defTabSz="11906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defTabSz="119062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defTabSz="119062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defTabSz="119062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11906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11906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11906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11906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lvl="0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b="1" dirty="0">
                <a:ea typeface="微软雅黑" panose="020B0503020204020204" pitchFamily="34" charset="-122"/>
              </a:rPr>
              <a:t>华中运营中心经销商</a:t>
            </a:r>
            <a:r>
              <a:rPr lang="en-US" altLang="zh-CN" b="1" dirty="0">
                <a:ea typeface="微软雅黑" panose="020B0503020204020204" pitchFamily="34" charset="-122"/>
              </a:rPr>
              <a:t>1-5</a:t>
            </a:r>
            <a:r>
              <a:rPr lang="zh-CN" altLang="en-US" b="1" dirty="0">
                <a:ea typeface="微软雅黑" panose="020B0503020204020204" pitchFamily="34" charset="-122"/>
              </a:rPr>
              <a:t>月</a:t>
            </a:r>
            <a:r>
              <a:rPr lang="zh-CN" altLang="en-US" b="1" dirty="0">
                <a:ea typeface="微软雅黑" panose="020B0503020204020204" pitchFamily="34" charset="-122"/>
              </a:rPr>
              <a:t>业绩情况</a:t>
            </a:r>
            <a:endParaRPr lang="zh-CN" altLang="en-US" b="1" dirty="0"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384" y="477054"/>
            <a:ext cx="143510" cy="431800"/>
          </a:xfrm>
          <a:prstGeom prst="rect">
            <a:avLst/>
          </a:prstGeom>
          <a:solidFill>
            <a:srgbClr val="10356A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10345420" y="6453505"/>
            <a:ext cx="1188085" cy="356235"/>
          </a:xfrm>
        </p:spPr>
        <p:txBody>
          <a:bodyPr/>
          <a:p>
            <a:r>
              <a:rPr lang="en-US" altLang="zh-CN"/>
              <a:t>15/20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11089640" y="6381750"/>
            <a:ext cx="362585" cy="42354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>
              <a:lnSpc>
                <a:spcPct val="120000"/>
              </a:lnSpc>
              <a:spcAft>
                <a:spcPts val="600"/>
              </a:spcAft>
            </a:pPr>
            <a:endParaRPr lang="zh-CN" altLang="en-US" spc="80" dirty="0" smtClean="0"/>
          </a:p>
        </p:txBody>
      </p:sp>
      <p:graphicFrame>
        <p:nvGraphicFramePr>
          <p:cNvPr id="3" name="图表 2"/>
          <p:cNvGraphicFramePr/>
          <p:nvPr/>
        </p:nvGraphicFramePr>
        <p:xfrm>
          <a:off x="47625" y="1124585"/>
          <a:ext cx="5306695" cy="5226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图表 4"/>
          <p:cNvGraphicFramePr/>
          <p:nvPr/>
        </p:nvGraphicFramePr>
        <p:xfrm>
          <a:off x="6014720" y="1071245"/>
          <a:ext cx="5215255" cy="38157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6527800" y="5259070"/>
            <a:ext cx="4824095" cy="11944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zh-CN" altLang="en-US" sz="24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核心及腰部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经销商大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规模下滑，</a:t>
            </a:r>
            <a:endParaRPr lang="zh-CN" altLang="en-US" sz="2400" noProof="0" dirty="0">
              <a:ln>
                <a:noFill/>
              </a:ln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且下滑比例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严重。</a:t>
            </a:r>
            <a:endParaRPr lang="zh-CN" altLang="en-US" sz="2400" noProof="0" dirty="0">
              <a:ln>
                <a:noFill/>
              </a:ln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endParaRPr lang="zh-CN" altLang="en-US" sz="2400" noProof="0" dirty="0">
              <a:ln>
                <a:noFill/>
              </a:ln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 cstate="screen"/>
          <a:srcRect t="21739" r="1630" b="11850"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-12382" y="-29845"/>
            <a:ext cx="12216765" cy="6917690"/>
          </a:xfrm>
          <a:prstGeom prst="rect">
            <a:avLst/>
          </a:prstGeom>
          <a:solidFill>
            <a:srgbClr val="0F3670">
              <a:alpha val="7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689610" y="2708910"/>
            <a:ext cx="10415905" cy="977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n-US" altLang="zh-CN" sz="48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rPr>
              <a:t>3</a:t>
            </a:r>
            <a:r>
              <a:rPr lang="zh-CN" altLang="en-US" sz="48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rPr>
              <a:t>、华中运营中心工作规划</a:t>
            </a:r>
            <a:r>
              <a:rPr lang="zh-CN" altLang="en-US" sz="48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rPr>
              <a:t>及策略</a:t>
            </a:r>
            <a:endParaRPr lang="zh-CN" altLang="en-US" sz="4800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pic>
        <p:nvPicPr>
          <p:cNvPr id="3" name="图片 2" descr="logo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50215" y="561975"/>
            <a:ext cx="2132330" cy="37211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848340" y="6464300"/>
            <a:ext cx="895350" cy="4235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pc="80" dirty="0" smtClean="0">
                <a:solidFill>
                  <a:schemeClr val="bg1"/>
                </a:solidFill>
              </a:rPr>
              <a:t>16/20</a:t>
            </a:r>
            <a:endParaRPr lang="en-US" altLang="zh-CN" spc="80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07035" y="188595"/>
            <a:ext cx="11196955" cy="6469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11906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zh-CN" altLang="en-US" sz="3200" b="1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工作反思</a:t>
            </a:r>
            <a:endParaRPr lang="zh-CN" altLang="en-US" sz="3600" b="1" noProof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marR="0" lvl="0" indent="0" algn="l" defTabSz="11906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2000" noProof="0" dirty="0">
              <a:ln>
                <a:noFill/>
              </a:ln>
              <a:effectLst/>
              <a:uLnTx/>
              <a:uFillTx/>
              <a:latin typeface="宋体" pitchFamily="2" charset="-122"/>
              <a:ea typeface="宋体" pitchFamily="2" charset="-122"/>
              <a:cs typeface="宋体" pitchFamily="2" charset="-122"/>
              <a:sym typeface="+mn-ea"/>
            </a:endParaRPr>
          </a:p>
          <a:p>
            <a:pPr marR="0" lvl="0" indent="0" algn="l" defTabSz="1190625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b="1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宋体" pitchFamily="2" charset="-122"/>
                <a:sym typeface="+mn-ea"/>
              </a:rPr>
              <a:t>一、业绩大面积下滑的核心原因：</a:t>
            </a:r>
            <a:endParaRPr lang="zh-CN" altLang="en-US" sz="2400" b="1" noProof="0" dirty="0">
              <a:ln>
                <a:noFill/>
              </a:ln>
              <a:effectLst/>
              <a:uLnTx/>
              <a:uFillTx/>
              <a:latin typeface="微软雅黑" charset="0"/>
              <a:ea typeface="微软雅黑" charset="0"/>
              <a:cs typeface="宋体" pitchFamily="2" charset="-122"/>
              <a:sym typeface="+mn-ea"/>
            </a:endParaRPr>
          </a:p>
          <a:p>
            <a:pPr marL="342900" marR="0" lvl="0" indent="-342900" algn="l" defTabSz="1190625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宋体" pitchFamily="2" charset="-122"/>
                <a:sym typeface="+mn-ea"/>
              </a:rPr>
              <a:t>区域经销商基本盘建设不够完善，缺乏良好的经销商梯队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宋体" pitchFamily="2" charset="-122"/>
                <a:sym typeface="+mn-ea"/>
              </a:rPr>
              <a:t>建设；</a:t>
            </a:r>
            <a:endParaRPr lang="zh-CN" altLang="en-US" sz="2000" noProof="0" dirty="0">
              <a:ln>
                <a:noFill/>
              </a:ln>
              <a:effectLst/>
              <a:uLnTx/>
              <a:uFillTx/>
              <a:latin typeface="微软雅黑" charset="0"/>
              <a:ea typeface="微软雅黑" charset="0"/>
              <a:cs typeface="宋体" pitchFamily="2" charset="-122"/>
              <a:sym typeface="+mn-ea"/>
            </a:endParaRPr>
          </a:p>
          <a:p>
            <a:pPr marL="342900" marR="0" lvl="0" indent="-342900" algn="l" defTabSz="1190625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宋体" pitchFamily="2" charset="-122"/>
                <a:sym typeface="+mn-ea"/>
              </a:rPr>
              <a:t>大部分经销商基本盘建设不够完善，缺乏多元化渠道布局和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宋体" pitchFamily="2" charset="-122"/>
                <a:sym typeface="+mn-ea"/>
              </a:rPr>
              <a:t>发展；</a:t>
            </a:r>
            <a:endParaRPr lang="zh-CN" altLang="en-US" sz="2000" noProof="0" dirty="0">
              <a:ln>
                <a:noFill/>
              </a:ln>
              <a:effectLst/>
              <a:uLnTx/>
              <a:uFillTx/>
              <a:latin typeface="微软雅黑" charset="0"/>
              <a:ea typeface="微软雅黑" charset="0"/>
              <a:cs typeface="宋体" pitchFamily="2" charset="-122"/>
              <a:sym typeface="+mn-ea"/>
            </a:endParaRPr>
          </a:p>
          <a:p>
            <a:pPr marL="342900" marR="0" lvl="0" indent="-342900" algn="l" defTabSz="1190625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宋体" pitchFamily="2" charset="-122"/>
                <a:sym typeface="+mn-ea"/>
              </a:rPr>
              <a:t>经销商竞争能力差，缺乏应对策略和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宋体" pitchFamily="2" charset="-122"/>
                <a:sym typeface="+mn-ea"/>
              </a:rPr>
              <a:t>措施。</a:t>
            </a:r>
            <a:endParaRPr lang="zh-CN" altLang="en-US" sz="2000" noProof="0" dirty="0">
              <a:ln>
                <a:noFill/>
              </a:ln>
              <a:effectLst/>
              <a:uLnTx/>
              <a:uFillTx/>
              <a:latin typeface="微软雅黑" charset="0"/>
              <a:ea typeface="微软雅黑" charset="0"/>
              <a:cs typeface="宋体" pitchFamily="2" charset="-122"/>
              <a:sym typeface="+mn-ea"/>
            </a:endParaRPr>
          </a:p>
          <a:p>
            <a:pPr marR="0" lvl="0" indent="0" algn="l" defTabSz="1190625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b="1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宋体" pitchFamily="2" charset="-122"/>
                <a:sym typeface="+mn-ea"/>
              </a:rPr>
              <a:t>二、经销商多品牌经营：</a:t>
            </a:r>
            <a:endParaRPr lang="zh-CN" altLang="en-US" sz="2400" b="1" noProof="0" dirty="0">
              <a:ln>
                <a:noFill/>
              </a:ln>
              <a:effectLst/>
              <a:uLnTx/>
              <a:uFillTx/>
              <a:latin typeface="微软雅黑" charset="0"/>
              <a:ea typeface="微软雅黑" charset="0"/>
              <a:cs typeface="宋体" pitchFamily="2" charset="-122"/>
              <a:sym typeface="+mn-ea"/>
            </a:endParaRPr>
          </a:p>
          <a:p>
            <a:pPr marR="0" lvl="0" indent="0" algn="l" defTabSz="1190625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b="1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宋体" pitchFamily="2" charset="-122"/>
                <a:sym typeface="+mn-ea"/>
              </a:rPr>
              <a:t>主要问题：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宋体" pitchFamily="2" charset="-122"/>
                <a:sym typeface="+mn-ea"/>
              </a:rPr>
              <a:t>和厂家之间粘性差，经销商精力不聚焦，有对比、有退路；</a:t>
            </a:r>
            <a:endParaRPr lang="zh-CN" altLang="en-US" sz="2000" noProof="0" dirty="0">
              <a:ln>
                <a:noFill/>
              </a:ln>
              <a:effectLst/>
              <a:uLnTx/>
              <a:uFillTx/>
              <a:latin typeface="微软雅黑" charset="0"/>
              <a:ea typeface="微软雅黑" charset="0"/>
              <a:cs typeface="宋体" pitchFamily="2" charset="-122"/>
              <a:sym typeface="+mn-ea"/>
            </a:endParaRPr>
          </a:p>
          <a:p>
            <a:pPr marR="0" lvl="0" indent="0" algn="l" defTabSz="1190625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b="1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宋体" pitchFamily="2" charset="-122"/>
                <a:sym typeface="+mn-ea"/>
              </a:rPr>
              <a:t>核心问题：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宋体" pitchFamily="2" charset="-122"/>
                <a:sym typeface="+mn-ea"/>
              </a:rPr>
              <a:t>缺乏对厂家的充分信任与认同，没有实现其经营目标或盈利目标，对未来发展缺乏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微软雅黑" charset="0"/>
                <a:ea typeface="微软雅黑" charset="0"/>
                <a:cs typeface="宋体" pitchFamily="2" charset="-122"/>
                <a:sym typeface="+mn-ea"/>
              </a:rPr>
              <a:t>信心；</a:t>
            </a:r>
            <a:endParaRPr lang="zh-CN" altLang="en-US" sz="2000" noProof="0" dirty="0">
              <a:ln>
                <a:noFill/>
              </a:ln>
              <a:effectLst/>
              <a:uLnTx/>
              <a:uFillTx/>
              <a:latin typeface="微软雅黑" charset="0"/>
              <a:ea typeface="微软雅黑" charset="0"/>
              <a:cs typeface="宋体" pitchFamily="2" charset="-122"/>
              <a:sym typeface="+mn-ea"/>
            </a:endParaRPr>
          </a:p>
          <a:p>
            <a:pPr marR="0" lvl="0" indent="0" algn="l" defTabSz="1190625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b="1" spc="80" dirty="0" smtClean="0">
                <a:latin typeface="微软雅黑" charset="0"/>
                <a:ea typeface="微软雅黑" charset="0"/>
                <a:cs typeface="宋体" pitchFamily="2" charset="-122"/>
              </a:rPr>
              <a:t>主要原因：</a:t>
            </a:r>
            <a:r>
              <a:rPr lang="zh-CN" altLang="en-US" sz="2000" spc="80" dirty="0" smtClean="0">
                <a:latin typeface="微软雅黑" charset="0"/>
                <a:ea typeface="微软雅黑" charset="0"/>
                <a:cs typeface="宋体" pitchFamily="2" charset="-122"/>
              </a:rPr>
              <a:t>除经销商自身原因以外，也存在我们团队工作不聚焦，不专业、甚至流于表面，只要结果，缺乏过程帮扶和可持续发展的引导及指导，没有帮助经销商解决发展核心</a:t>
            </a:r>
            <a:r>
              <a:rPr lang="zh-CN" altLang="en-US" sz="2000" spc="80" dirty="0" smtClean="0">
                <a:latin typeface="微软雅黑" charset="0"/>
                <a:ea typeface="微软雅黑" charset="0"/>
                <a:cs typeface="宋体" pitchFamily="2" charset="-122"/>
              </a:rPr>
              <a:t>问题。</a:t>
            </a:r>
            <a:endParaRPr lang="zh-CN" altLang="en-US" sz="2000" spc="80" dirty="0" smtClean="0">
              <a:latin typeface="微软雅黑" charset="0"/>
              <a:ea typeface="微软雅黑" charset="0"/>
              <a:cs typeface="宋体" pitchFamily="2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479629" y="261154"/>
            <a:ext cx="143510" cy="431800"/>
          </a:xfrm>
          <a:prstGeom prst="rect">
            <a:avLst/>
          </a:prstGeom>
          <a:solidFill>
            <a:srgbClr val="10356A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704195" y="6386830"/>
            <a:ext cx="942975" cy="42354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algn="l">
              <a:lnSpc>
                <a:spcPct val="120000"/>
              </a:lnSpc>
              <a:spcAft>
                <a:spcPts val="600"/>
              </a:spcAft>
            </a:pPr>
            <a:endParaRPr lang="zh-CN" altLang="en-US" spc="80" dirty="0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10757535" y="6386830"/>
            <a:ext cx="1064895" cy="365125"/>
          </a:xfrm>
        </p:spPr>
        <p:txBody>
          <a:bodyPr/>
          <a:p>
            <a:r>
              <a:rPr lang="en-US" altLang="zh-CN"/>
              <a:t>17/20</a:t>
            </a:r>
            <a:endParaRPr lang="en-US" altLang="zh-C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07035" y="188595"/>
            <a:ext cx="11196955" cy="6469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11906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zh-CN" altLang="en-US" sz="3200" b="1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工作规划及策略</a:t>
            </a:r>
            <a:endParaRPr lang="zh-CN" altLang="en-US" sz="3600" b="1" noProof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marR="0" lvl="0" indent="0" algn="l" defTabSz="11906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2000" noProof="0" dirty="0">
              <a:ln>
                <a:noFill/>
              </a:ln>
              <a:effectLst/>
              <a:uLnTx/>
              <a:uFillTx/>
              <a:latin typeface="宋体" pitchFamily="2" charset="-122"/>
              <a:ea typeface="宋体" pitchFamily="2" charset="-122"/>
              <a:cs typeface="宋体" pitchFamily="2" charset="-122"/>
              <a:sym typeface="+mn-ea"/>
            </a:endParaRPr>
          </a:p>
          <a:p>
            <a:pPr marR="0" lvl="0" indent="0" algn="l" defTabSz="1190625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一、着重于经销商可持续发展的基础建设：</a:t>
            </a:r>
            <a:endParaRPr lang="zh-CN" altLang="en-US" sz="2800" b="1" noProof="0" dirty="0">
              <a:ln>
                <a:noFill/>
              </a:ln>
              <a:effectLst/>
              <a:uLnTx/>
              <a:uFillTx/>
              <a:latin typeface="+mj-lt"/>
              <a:ea typeface="+mj-lt"/>
              <a:cs typeface="+mj-lt"/>
              <a:sym typeface="+mn-ea"/>
            </a:endParaRPr>
          </a:p>
          <a:p>
            <a:pPr marR="0" lvl="0" indent="0" algn="l" defTabSz="1190625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b="1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1</a:t>
            </a:r>
            <a:r>
              <a:rPr lang="zh-CN" altLang="en-US" sz="2400" b="1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、店面形象：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重点推动经销商店面形象升级，不仅限于店面重装及改造</a:t>
            </a:r>
            <a:endParaRPr lang="zh-CN" altLang="en-US" sz="2400" b="1" noProof="0" dirty="0">
              <a:ln>
                <a:noFill/>
              </a:ln>
              <a:effectLst/>
              <a:uLnTx/>
              <a:uFillTx/>
              <a:latin typeface="+mj-lt"/>
              <a:ea typeface="+mj-lt"/>
              <a:cs typeface="+mj-lt"/>
              <a:sym typeface="+mn-ea"/>
            </a:endParaRPr>
          </a:p>
          <a:p>
            <a:pPr marR="0" lvl="0" indent="0" algn="l" defTabSz="1190625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b="1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产品矩阵落地：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区域同盟产品矩阵，奖励落地优秀经销商，负激励落地滞后销区经理</a:t>
            </a:r>
            <a:endParaRPr lang="zh-CN" altLang="en-US" sz="2000" noProof="0" dirty="0">
              <a:ln>
                <a:noFill/>
              </a:ln>
              <a:effectLst/>
              <a:uLnTx/>
              <a:uFillTx/>
              <a:latin typeface="+mj-lt"/>
              <a:ea typeface="+mj-lt"/>
              <a:cs typeface="+mj-lt"/>
              <a:sym typeface="+mn-ea"/>
            </a:endParaRPr>
          </a:p>
          <a:p>
            <a:pPr marR="0" lvl="0" indent="0" algn="l" defTabSz="1190625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b="1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店面物料落地：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借助周口标准化物料方式，统一制作</a:t>
            </a:r>
            <a:r>
              <a:rPr lang="zh-CN" altLang="en-US" sz="12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（多城市询价，统一谈价）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，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统一派发，统一展示。</a:t>
            </a:r>
            <a:endParaRPr lang="zh-CN" altLang="en-US" sz="2000" noProof="0" dirty="0">
              <a:ln>
                <a:noFill/>
              </a:ln>
              <a:effectLst/>
              <a:uLnTx/>
              <a:uFillTx/>
              <a:latin typeface="+mj-lt"/>
              <a:ea typeface="+mj-lt"/>
              <a:cs typeface="+mj-lt"/>
              <a:sym typeface="+mn-ea"/>
            </a:endParaRPr>
          </a:p>
          <a:p>
            <a:pPr marR="0" lvl="0" indent="0" algn="l" defTabSz="1190625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sz="2000" noProof="0" dirty="0">
              <a:ln>
                <a:noFill/>
              </a:ln>
              <a:effectLst/>
              <a:uLnTx/>
              <a:uFillTx/>
              <a:latin typeface="+mj-lt"/>
              <a:ea typeface="+mj-lt"/>
              <a:cs typeface="+mj-lt"/>
              <a:sym typeface="+mn-ea"/>
            </a:endParaRPr>
          </a:p>
          <a:p>
            <a:pPr marR="0" lvl="0" indent="0" algn="l" defTabSz="1190625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b="1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2</a:t>
            </a:r>
            <a:r>
              <a:rPr lang="zh-CN" altLang="en-US" sz="2400" b="1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、工作重点：</a:t>
            </a:r>
            <a:endParaRPr lang="zh-CN" altLang="en-US" sz="2400" b="1" noProof="0" dirty="0">
              <a:ln>
                <a:noFill/>
              </a:ln>
              <a:effectLst/>
              <a:uLnTx/>
              <a:uFillTx/>
              <a:latin typeface="+mj-lt"/>
              <a:ea typeface="+mj-lt"/>
              <a:cs typeface="+mj-lt"/>
              <a:sym typeface="+mn-ea"/>
            </a:endParaRPr>
          </a:p>
          <a:p>
            <a:pPr marR="0" lvl="0" indent="0" algn="l" defTabSz="1190625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b="1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调整销区经理工作方式：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聚焦、发挥主观能动性</a:t>
            </a:r>
            <a:endParaRPr lang="zh-CN" altLang="en-US" sz="2000" b="1" noProof="0" dirty="0">
              <a:ln>
                <a:noFill/>
              </a:ln>
              <a:effectLst/>
              <a:uLnTx/>
              <a:uFillTx/>
              <a:latin typeface="+mj-lt"/>
              <a:ea typeface="+mj-lt"/>
              <a:cs typeface="+mj-lt"/>
              <a:sym typeface="+mn-ea"/>
            </a:endParaRPr>
          </a:p>
          <a:p>
            <a:pPr marR="0" lvl="0" indent="0" algn="l" defTabSz="1190625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b="1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主要解决问题：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销售渠道建设（家装、整装、工程、加盟商、异业联盟等）；</a:t>
            </a:r>
            <a:endParaRPr lang="zh-CN" altLang="en-US" sz="2000" noProof="0" dirty="0">
              <a:ln>
                <a:noFill/>
              </a:ln>
              <a:effectLst/>
              <a:uLnTx/>
              <a:uFillTx/>
              <a:latin typeface="+mj-lt"/>
              <a:ea typeface="+mj-lt"/>
              <a:cs typeface="+mj-lt"/>
              <a:sym typeface="+mn-ea"/>
            </a:endParaRPr>
          </a:p>
          <a:p>
            <a:pPr marR="0" lvl="0" indent="0" algn="l" defTabSz="1190625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b="1" spc="80" dirty="0" smtClean="0">
                <a:latin typeface="+mj-lt"/>
                <a:ea typeface="+mj-lt"/>
                <a:cs typeface="+mj-lt"/>
              </a:rPr>
              <a:t>推进思路：</a:t>
            </a:r>
            <a:r>
              <a:rPr lang="zh-CN" altLang="en-US" sz="2000" spc="80" dirty="0" smtClean="0">
                <a:latin typeface="+mj-lt"/>
                <a:ea typeface="+mj-lt"/>
                <a:cs typeface="+mj-lt"/>
              </a:rPr>
              <a:t>让一部分经销商先动起来，再影响其他</a:t>
            </a:r>
            <a:r>
              <a:rPr lang="zh-CN" altLang="en-US" sz="2000" spc="80" dirty="0" smtClean="0">
                <a:latin typeface="+mj-lt"/>
                <a:ea typeface="+mj-lt"/>
                <a:cs typeface="+mj-lt"/>
              </a:rPr>
              <a:t>经销商</a:t>
            </a:r>
            <a:endParaRPr lang="zh-CN" altLang="en-US" sz="2000" spc="80" dirty="0" smtClean="0">
              <a:latin typeface="+mj-lt"/>
              <a:ea typeface="+mj-lt"/>
              <a:cs typeface="+mj-lt"/>
            </a:endParaRPr>
          </a:p>
          <a:p>
            <a:pPr marR="0" lvl="0" indent="0" algn="l" defTabSz="1190625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sz="2000" spc="80" dirty="0" smtClean="0">
              <a:latin typeface="+mj-lt"/>
              <a:ea typeface="+mj-lt"/>
              <a:cs typeface="+mj-lt"/>
            </a:endParaRPr>
          </a:p>
          <a:p>
            <a:pPr marR="0" lvl="0" indent="0" algn="l" defTabSz="1190625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sz="2000" spc="80" dirty="0" smtClean="0">
              <a:latin typeface="+mj-lt"/>
              <a:ea typeface="+mj-lt"/>
              <a:cs typeface="+mj-lt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479629" y="261154"/>
            <a:ext cx="143510" cy="431800"/>
          </a:xfrm>
          <a:prstGeom prst="rect">
            <a:avLst/>
          </a:prstGeom>
          <a:solidFill>
            <a:srgbClr val="10356A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704195" y="6386830"/>
            <a:ext cx="942975" cy="42354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algn="l">
              <a:lnSpc>
                <a:spcPct val="120000"/>
              </a:lnSpc>
              <a:spcAft>
                <a:spcPts val="600"/>
              </a:spcAft>
            </a:pPr>
            <a:endParaRPr lang="zh-CN" altLang="en-US" spc="80" dirty="0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10612755" y="6386830"/>
            <a:ext cx="1209675" cy="365125"/>
          </a:xfrm>
        </p:spPr>
        <p:txBody>
          <a:bodyPr/>
          <a:p>
            <a:r>
              <a:rPr lang="en-US" altLang="zh-CN"/>
              <a:t>18/20</a:t>
            </a:r>
            <a:endParaRPr lang="en-US" altLang="zh-C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07035" y="188595"/>
            <a:ext cx="11196955" cy="6469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11906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zh-CN" altLang="en-US" sz="3200" b="1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工作规划及策略</a:t>
            </a:r>
            <a:endParaRPr lang="zh-CN" altLang="en-US" sz="3600" b="1" noProof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marR="0" lvl="0" indent="0" algn="l" defTabSz="11906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2000" noProof="0" dirty="0">
              <a:ln>
                <a:noFill/>
              </a:ln>
              <a:effectLst/>
              <a:uLnTx/>
              <a:uFillTx/>
              <a:latin typeface="宋体" pitchFamily="2" charset="-122"/>
              <a:ea typeface="宋体" pitchFamily="2" charset="-122"/>
              <a:cs typeface="宋体" pitchFamily="2" charset="-122"/>
              <a:sym typeface="+mn-ea"/>
            </a:endParaRPr>
          </a:p>
          <a:p>
            <a:pPr marR="0" lvl="0" indent="0" algn="l" defTabSz="1190625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b="1" spc="80" dirty="0" smtClean="0">
                <a:latin typeface="+mj-lt"/>
                <a:ea typeface="+mj-lt"/>
                <a:cs typeface="+mj-lt"/>
              </a:rPr>
              <a:t>推进方式：</a:t>
            </a:r>
            <a:endParaRPr lang="zh-CN" altLang="en-US" sz="2000" b="1" spc="80" dirty="0" smtClean="0">
              <a:latin typeface="+mj-lt"/>
              <a:ea typeface="+mj-lt"/>
              <a:cs typeface="+mj-lt"/>
            </a:endParaRPr>
          </a:p>
          <a:p>
            <a:pPr marR="0" lvl="0" indent="0" algn="l" defTabSz="1190625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spc="80" dirty="0" smtClean="0">
                <a:latin typeface="+mj-lt"/>
                <a:ea typeface="+mj-lt"/>
                <a:cs typeface="+mj-lt"/>
              </a:rPr>
              <a:t>1</a:t>
            </a:r>
            <a:r>
              <a:rPr lang="zh-CN" altLang="en-US" sz="2000" spc="80" dirty="0" smtClean="0">
                <a:latin typeface="+mj-lt"/>
                <a:ea typeface="+mj-lt"/>
                <a:cs typeface="+mj-lt"/>
              </a:rPr>
              <a:t>、以区域同盟为核心，加强经销商的交流和互动，建立经销商的信心</a:t>
            </a:r>
            <a:endParaRPr lang="zh-CN" altLang="en-US" sz="2000" spc="80" dirty="0" smtClean="0">
              <a:latin typeface="+mj-lt"/>
              <a:ea typeface="+mj-lt"/>
              <a:cs typeface="+mj-lt"/>
            </a:endParaRPr>
          </a:p>
          <a:p>
            <a:pPr marR="0" lvl="0" indent="0" algn="l" defTabSz="1190625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spc="80" dirty="0" smtClean="0">
                <a:latin typeface="+mj-lt"/>
                <a:ea typeface="+mj-lt"/>
                <a:cs typeface="+mj-lt"/>
              </a:rPr>
              <a:t>2</a:t>
            </a:r>
            <a:r>
              <a:rPr lang="zh-CN" altLang="en-US" sz="2000" spc="80" dirty="0" smtClean="0">
                <a:latin typeface="+mj-lt"/>
                <a:ea typeface="+mj-lt"/>
                <a:cs typeface="+mj-lt"/>
              </a:rPr>
              <a:t>、以区域同盟为核心，</a:t>
            </a:r>
            <a:r>
              <a:rPr lang="zh-CN" altLang="en-US" sz="2000" spc="80" dirty="0" smtClean="0">
                <a:solidFill>
                  <a:srgbClr val="FF0000"/>
                </a:solidFill>
                <a:latin typeface="+mj-lt"/>
                <a:ea typeface="+mj-lt"/>
                <a:cs typeface="+mj-lt"/>
              </a:rPr>
              <a:t>联合</a:t>
            </a:r>
            <a:r>
              <a:rPr lang="zh-CN" altLang="en-US" sz="2000" spc="80" dirty="0" smtClean="0">
                <a:latin typeface="+mj-lt"/>
                <a:ea typeface="+mj-lt"/>
                <a:cs typeface="+mj-lt"/>
              </a:rPr>
              <a:t>商学院，</a:t>
            </a:r>
            <a:r>
              <a:rPr lang="zh-CN" altLang="en-US" sz="2000" spc="80" dirty="0" smtClean="0">
                <a:solidFill>
                  <a:srgbClr val="FF0000"/>
                </a:solidFill>
                <a:latin typeface="+mj-lt"/>
                <a:ea typeface="+mj-lt"/>
                <a:cs typeface="+mj-lt"/>
              </a:rPr>
              <a:t>聚焦</a:t>
            </a:r>
            <a:r>
              <a:rPr lang="zh-CN" altLang="en-US" sz="2000" spc="80" dirty="0" smtClean="0">
                <a:latin typeface="+mj-lt"/>
                <a:ea typeface="+mj-lt"/>
                <a:cs typeface="+mj-lt"/>
              </a:rPr>
              <a:t>每月进行</a:t>
            </a:r>
            <a:r>
              <a:rPr lang="en-US" altLang="zh-CN" sz="2000" spc="80" dirty="0" smtClean="0">
                <a:solidFill>
                  <a:srgbClr val="FF0000"/>
                </a:solidFill>
                <a:latin typeface="+mj-lt"/>
                <a:ea typeface="+mj-lt"/>
                <a:cs typeface="+mj-lt"/>
              </a:rPr>
              <a:t>1</a:t>
            </a:r>
            <a:r>
              <a:rPr lang="zh-CN" altLang="en-US" sz="1400" spc="80" dirty="0" smtClean="0">
                <a:latin typeface="+mj-lt"/>
                <a:ea typeface="+mj-lt"/>
                <a:cs typeface="+mj-lt"/>
              </a:rPr>
              <a:t>（促销）</a:t>
            </a:r>
            <a:r>
              <a:rPr lang="en-US" altLang="zh-CN" sz="2000" spc="80" dirty="0" smtClean="0">
                <a:latin typeface="+mj-lt"/>
                <a:ea typeface="+mj-lt"/>
                <a:cs typeface="+mj-lt"/>
              </a:rPr>
              <a:t>+</a:t>
            </a:r>
            <a:r>
              <a:rPr lang="en-US" altLang="zh-CN" sz="2000" spc="80" dirty="0" smtClean="0">
                <a:solidFill>
                  <a:srgbClr val="FF0000"/>
                </a:solidFill>
                <a:latin typeface="+mj-lt"/>
                <a:ea typeface="+mj-lt"/>
                <a:cs typeface="+mj-lt"/>
              </a:rPr>
              <a:t>1</a:t>
            </a:r>
            <a:r>
              <a:rPr lang="zh-CN" altLang="en-US" sz="1400" spc="80" dirty="0" smtClean="0">
                <a:latin typeface="+mj-lt"/>
                <a:ea typeface="+mj-lt"/>
                <a:cs typeface="+mj-lt"/>
              </a:rPr>
              <a:t>（除草</a:t>
            </a:r>
            <a:r>
              <a:rPr lang="zh-CN" altLang="en-US" sz="1400" spc="80" dirty="0" smtClean="0">
                <a:latin typeface="+mj-lt"/>
                <a:ea typeface="+mj-lt"/>
                <a:cs typeface="+mj-lt"/>
              </a:rPr>
              <a:t>或渠道推广等）</a:t>
            </a:r>
            <a:r>
              <a:rPr lang="zh-CN" altLang="en-US" sz="2000" spc="80" dirty="0" smtClean="0">
                <a:latin typeface="+mj-lt"/>
                <a:ea typeface="+mj-lt"/>
                <a:cs typeface="+mj-lt"/>
                <a:sym typeface="+mn-ea"/>
              </a:rPr>
              <a:t>联合行动</a:t>
            </a:r>
            <a:endParaRPr lang="zh-CN" altLang="en-US" sz="2000" spc="80" dirty="0" smtClean="0">
              <a:latin typeface="+mj-lt"/>
              <a:ea typeface="+mj-lt"/>
              <a:cs typeface="+mj-lt"/>
              <a:sym typeface="+mn-ea"/>
            </a:endParaRPr>
          </a:p>
          <a:p>
            <a:pPr marR="0" lvl="0" indent="0" algn="l" defTabSz="1190625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spc="80" dirty="0" smtClean="0">
                <a:latin typeface="+mj-lt"/>
                <a:ea typeface="+mj-lt"/>
                <a:cs typeface="+mj-lt"/>
                <a:sym typeface="+mn-ea"/>
              </a:rPr>
              <a:t> </a:t>
            </a:r>
            <a:r>
              <a:rPr lang="en-US" altLang="zh-CN" sz="2000" spc="80" dirty="0" smtClean="0">
                <a:latin typeface="+mj-lt"/>
                <a:ea typeface="+mj-lt"/>
                <a:cs typeface="+mj-lt"/>
                <a:sym typeface="+mn-ea"/>
              </a:rPr>
              <a:t>    </a:t>
            </a:r>
            <a:r>
              <a:rPr lang="zh-CN" altLang="en-US" sz="2000" spc="80" dirty="0" smtClean="0">
                <a:latin typeface="+mj-lt"/>
                <a:ea typeface="+mj-lt"/>
                <a:cs typeface="+mj-lt"/>
                <a:sym typeface="+mn-ea"/>
              </a:rPr>
              <a:t>商学院协</a:t>
            </a:r>
            <a:r>
              <a:rPr lang="zh-CN" altLang="en-US" sz="2000" spc="80" dirty="0" smtClean="0">
                <a:latin typeface="+mj-lt"/>
                <a:ea typeface="+mj-lt"/>
                <a:cs typeface="+mj-lt"/>
                <a:sym typeface="+mn-ea"/>
              </a:rPr>
              <a:t>同统筹，商学院</a:t>
            </a:r>
            <a:r>
              <a:rPr lang="en-US" altLang="zh-CN" sz="2000" spc="80" dirty="0" smtClean="0">
                <a:latin typeface="+mj-lt"/>
                <a:ea typeface="+mj-lt"/>
                <a:cs typeface="+mj-lt"/>
                <a:sym typeface="+mn-ea"/>
              </a:rPr>
              <a:t>+</a:t>
            </a:r>
            <a:r>
              <a:rPr lang="zh-CN" altLang="en-US" sz="2000" spc="80" dirty="0" smtClean="0">
                <a:latin typeface="+mj-lt"/>
                <a:ea typeface="+mj-lt"/>
                <a:cs typeface="+mj-lt"/>
                <a:sym typeface="+mn-ea"/>
              </a:rPr>
              <a:t>销区经理联合行动，</a:t>
            </a:r>
            <a:r>
              <a:rPr lang="zh-CN" altLang="en-US" sz="2000" spc="80" dirty="0" smtClean="0">
                <a:solidFill>
                  <a:srgbClr val="FF0000"/>
                </a:solidFill>
                <a:latin typeface="+mj-lt"/>
                <a:ea typeface="+mj-lt"/>
                <a:cs typeface="+mj-lt"/>
                <a:sym typeface="+mn-ea"/>
              </a:rPr>
              <a:t>每人</a:t>
            </a:r>
            <a:r>
              <a:rPr lang="en-US" altLang="zh-CN" sz="2000" spc="80" dirty="0" smtClean="0">
                <a:solidFill>
                  <a:srgbClr val="FF0000"/>
                </a:solidFill>
                <a:latin typeface="+mj-lt"/>
                <a:ea typeface="+mj-lt"/>
                <a:cs typeface="+mj-lt"/>
                <a:sym typeface="+mn-ea"/>
              </a:rPr>
              <a:t>/</a:t>
            </a:r>
            <a:r>
              <a:rPr lang="zh-CN" altLang="en-US" sz="2000" spc="80" dirty="0" smtClean="0">
                <a:solidFill>
                  <a:srgbClr val="FF0000"/>
                </a:solidFill>
                <a:latin typeface="+mj-lt"/>
                <a:ea typeface="+mj-lt"/>
                <a:cs typeface="+mj-lt"/>
                <a:sym typeface="+mn-ea"/>
              </a:rPr>
              <a:t>月聚焦</a:t>
            </a:r>
            <a:r>
              <a:rPr lang="en-US" altLang="zh-CN" sz="2000" spc="80" dirty="0" smtClean="0">
                <a:solidFill>
                  <a:srgbClr val="FF0000"/>
                </a:solidFill>
                <a:latin typeface="+mj-lt"/>
                <a:ea typeface="+mj-lt"/>
                <a:cs typeface="+mj-lt"/>
                <a:sym typeface="+mn-ea"/>
              </a:rPr>
              <a:t>3个网点</a:t>
            </a:r>
            <a:endParaRPr lang="zh-CN" altLang="en-US" sz="2000" spc="80" dirty="0" smtClean="0">
              <a:latin typeface="+mj-lt"/>
              <a:ea typeface="+mj-lt"/>
              <a:cs typeface="+mj-lt"/>
              <a:sym typeface="+mn-ea"/>
            </a:endParaRPr>
          </a:p>
          <a:p>
            <a:pPr marR="0" lvl="0" indent="0" algn="l" defTabSz="1190625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spc="80" dirty="0" smtClean="0">
                <a:latin typeface="+mj-lt"/>
                <a:ea typeface="+mj-lt"/>
                <a:cs typeface="+mj-lt"/>
                <a:sym typeface="+mn-ea"/>
              </a:rPr>
              <a:t>3</a:t>
            </a:r>
            <a:r>
              <a:rPr lang="zh-CN" altLang="en-US" sz="2000" spc="80" dirty="0" smtClean="0">
                <a:latin typeface="+mj-lt"/>
                <a:ea typeface="+mj-lt"/>
                <a:cs typeface="+mj-lt"/>
                <a:sym typeface="+mn-ea"/>
              </a:rPr>
              <a:t>、重点城市落地全案交付服务体系：以周口同盟为试点，盟主</a:t>
            </a:r>
            <a:r>
              <a:rPr lang="zh-CN" altLang="en-US" sz="2000" spc="80" dirty="0" smtClean="0">
                <a:solidFill>
                  <a:srgbClr val="FF0000"/>
                </a:solidFill>
                <a:latin typeface="+mj-lt"/>
                <a:ea typeface="+mj-lt"/>
                <a:cs typeface="+mj-lt"/>
                <a:sym typeface="+mn-ea"/>
              </a:rPr>
              <a:t>全程</a:t>
            </a:r>
            <a:r>
              <a:rPr lang="zh-CN" altLang="en-US" sz="2000" spc="80" dirty="0" smtClean="0">
                <a:latin typeface="+mj-lt"/>
                <a:ea typeface="+mj-lt"/>
                <a:cs typeface="+mj-lt"/>
                <a:sym typeface="+mn-ea"/>
              </a:rPr>
              <a:t>帮扶落地</a:t>
            </a:r>
            <a:endParaRPr lang="zh-CN" altLang="en-US" sz="2000" spc="80" dirty="0" smtClean="0">
              <a:latin typeface="+mj-lt"/>
              <a:ea typeface="+mj-lt"/>
              <a:cs typeface="+mj-lt"/>
              <a:sym typeface="+mn-ea"/>
            </a:endParaRPr>
          </a:p>
          <a:p>
            <a:pPr marR="0" lvl="0" indent="0" algn="l" defTabSz="1190625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b="1" spc="80" dirty="0" smtClean="0">
                <a:solidFill>
                  <a:schemeClr val="tx1"/>
                </a:solidFill>
                <a:latin typeface="+mj-lt"/>
                <a:ea typeface="+mj-lt"/>
                <a:cs typeface="+mj-lt"/>
                <a:sym typeface="+mn-ea"/>
              </a:rPr>
              <a:t>组织课程：</a:t>
            </a:r>
            <a:r>
              <a:rPr lang="zh-CN" altLang="en-US" sz="2000" spc="80" dirty="0" smtClean="0">
                <a:latin typeface="+mj-lt"/>
                <a:ea typeface="+mj-lt"/>
                <a:cs typeface="+mj-lt"/>
                <a:sym typeface="+mn-ea"/>
              </a:rPr>
              <a:t>主要解决全案交付服务概念植入</a:t>
            </a:r>
            <a:r>
              <a:rPr lang="en-US" altLang="zh-CN" sz="2000" spc="80" dirty="0" smtClean="0">
                <a:latin typeface="+mj-lt"/>
                <a:ea typeface="+mj-lt"/>
                <a:cs typeface="+mj-lt"/>
                <a:sym typeface="+mn-ea"/>
              </a:rPr>
              <a:t> </a:t>
            </a:r>
            <a:endParaRPr lang="en-US" altLang="zh-CN" sz="2000" spc="80" dirty="0" smtClean="0">
              <a:latin typeface="+mj-lt"/>
              <a:ea typeface="+mj-lt"/>
              <a:cs typeface="+mj-lt"/>
              <a:sym typeface="+mn-ea"/>
            </a:endParaRPr>
          </a:p>
          <a:p>
            <a:pPr marR="0" lvl="0" indent="0" algn="l" defTabSz="1190625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b="1" spc="80" dirty="0" smtClean="0">
                <a:solidFill>
                  <a:schemeClr val="tx1"/>
                </a:solidFill>
                <a:latin typeface="+mj-lt"/>
                <a:ea typeface="+mj-lt"/>
                <a:cs typeface="+mj-lt"/>
                <a:sym typeface="+mn-ea"/>
              </a:rPr>
              <a:t>优化帮扶：</a:t>
            </a:r>
            <a:r>
              <a:rPr lang="zh-CN" altLang="en-US" sz="2000" spc="80" dirty="0" smtClean="0">
                <a:latin typeface="+mj-lt"/>
                <a:ea typeface="+mj-lt"/>
                <a:cs typeface="+mj-lt"/>
                <a:sym typeface="+mn-ea"/>
              </a:rPr>
              <a:t>把过去盟主从</a:t>
            </a:r>
            <a:r>
              <a:rPr lang="zh-CN" altLang="en-US" sz="2000" spc="80" dirty="0" smtClean="0">
                <a:solidFill>
                  <a:srgbClr val="FF0000"/>
                </a:solidFill>
                <a:latin typeface="+mj-lt"/>
                <a:ea typeface="+mj-lt"/>
                <a:cs typeface="+mj-lt"/>
                <a:sym typeface="+mn-ea"/>
              </a:rPr>
              <a:t>成交后</a:t>
            </a:r>
            <a:r>
              <a:rPr lang="zh-CN" altLang="en-US" sz="2000" spc="80" dirty="0" smtClean="0">
                <a:latin typeface="+mj-lt"/>
                <a:ea typeface="+mj-lt"/>
                <a:cs typeface="+mj-lt"/>
                <a:sym typeface="+mn-ea"/>
              </a:rPr>
              <a:t>帮扶，前置至</a:t>
            </a:r>
            <a:r>
              <a:rPr lang="zh-CN" altLang="en-US" sz="2000" spc="80" dirty="0" smtClean="0">
                <a:solidFill>
                  <a:srgbClr val="FF0000"/>
                </a:solidFill>
                <a:latin typeface="+mj-lt"/>
                <a:ea typeface="+mj-lt"/>
                <a:cs typeface="+mj-lt"/>
                <a:sym typeface="+mn-ea"/>
              </a:rPr>
              <a:t>量尺开始</a:t>
            </a:r>
            <a:r>
              <a:rPr lang="zh-CN" altLang="en-US" sz="2000" spc="80" dirty="0" smtClean="0">
                <a:latin typeface="+mj-lt"/>
                <a:ea typeface="+mj-lt"/>
                <a:cs typeface="+mj-lt"/>
                <a:sym typeface="+mn-ea"/>
              </a:rPr>
              <a:t>帮扶</a:t>
            </a:r>
            <a:endParaRPr lang="zh-CN" altLang="en-US" sz="2000" spc="80" dirty="0" smtClean="0">
              <a:latin typeface="+mj-lt"/>
              <a:ea typeface="+mj-lt"/>
              <a:cs typeface="+mj-lt"/>
              <a:sym typeface="+mn-ea"/>
            </a:endParaRPr>
          </a:p>
          <a:p>
            <a:pPr marR="0" lvl="0" indent="0" algn="l" defTabSz="1190625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sz="2000" spc="80" dirty="0" smtClean="0">
              <a:latin typeface="+mj-lt"/>
              <a:ea typeface="+mj-lt"/>
              <a:cs typeface="+mj-lt"/>
            </a:endParaRPr>
          </a:p>
          <a:p>
            <a:pPr marR="0" lvl="0" indent="0" algn="l" defTabSz="1190625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二、着重于核心经销商渠道细分及增长策略的推动：</a:t>
            </a:r>
            <a:endParaRPr lang="zh-CN" altLang="en-US" sz="2800" b="1" noProof="0" dirty="0">
              <a:ln>
                <a:noFill/>
              </a:ln>
              <a:effectLst/>
              <a:uLnTx/>
              <a:uFillTx/>
              <a:latin typeface="+mj-lt"/>
              <a:ea typeface="+mj-lt"/>
              <a:cs typeface="+mj-lt"/>
              <a:sym typeface="+mn-ea"/>
            </a:endParaRPr>
          </a:p>
          <a:p>
            <a:pPr marR="0" lvl="0" indent="0" algn="l" defTabSz="1190625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b="1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合肥、蚌埠、郑州、周口、襄阳、武汉：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+mj-lt"/>
                <a:ea typeface="+mj-lt"/>
                <a:cs typeface="+mj-lt"/>
                <a:sym typeface="+mn-ea"/>
              </a:rPr>
              <a:t>半包、整装、加盟商、工程合伙人</a:t>
            </a:r>
            <a:endParaRPr lang="zh-CN" altLang="en-US" sz="2400" noProof="0" dirty="0">
              <a:ln>
                <a:noFill/>
              </a:ln>
              <a:effectLst/>
              <a:uLnTx/>
              <a:uFillTx/>
              <a:latin typeface="+mj-lt"/>
              <a:ea typeface="+mj-lt"/>
              <a:cs typeface="+mj-lt"/>
              <a:sym typeface="+mn-ea"/>
            </a:endParaRPr>
          </a:p>
          <a:p>
            <a:pPr marR="0" lvl="0" indent="0" algn="l" defTabSz="1190625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sz="2400" spc="80" dirty="0" smtClean="0">
              <a:latin typeface="+mj-lt"/>
              <a:ea typeface="+mj-lt"/>
              <a:cs typeface="+mj-lt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479629" y="261154"/>
            <a:ext cx="143510" cy="431800"/>
          </a:xfrm>
          <a:prstGeom prst="rect">
            <a:avLst/>
          </a:prstGeom>
          <a:solidFill>
            <a:srgbClr val="10356A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704195" y="6386830"/>
            <a:ext cx="942975" cy="42354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algn="l">
              <a:lnSpc>
                <a:spcPct val="120000"/>
              </a:lnSpc>
              <a:spcAft>
                <a:spcPts val="600"/>
              </a:spcAft>
            </a:pPr>
            <a:endParaRPr lang="zh-CN" altLang="en-US" spc="80" dirty="0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10560050" y="6386830"/>
            <a:ext cx="1262380" cy="365125"/>
          </a:xfrm>
        </p:spPr>
        <p:txBody>
          <a:bodyPr/>
          <a:p>
            <a:r>
              <a:rPr lang="en-US" altLang="zh-CN"/>
              <a:t>19/20</a:t>
            </a:r>
            <a:endParaRPr lang="en-US" altLang="zh-C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图片 101"/>
          <p:cNvPicPr/>
          <p:nvPr>
            <p:custDataLst>
              <p:tags r:id="rId1"/>
            </p:custDataLst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0" y="635"/>
            <a:ext cx="12192000" cy="6873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479425" y="1954530"/>
            <a:ext cx="11173460" cy="42716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b="1" spc="80" dirty="0">
                <a:solidFill>
                  <a:srgbClr val="FFFFFF"/>
                </a:solidFill>
                <a:effectLst/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  <a:sym typeface="+mn-ea"/>
              </a:rPr>
              <a:t> </a:t>
            </a:r>
            <a:r>
              <a:rPr lang="en-US" altLang="zh-CN" sz="2800" b="1" spc="80" dirty="0">
                <a:solidFill>
                  <a:srgbClr val="FF0000"/>
                </a:solidFill>
                <a:effectLst/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  <a:sym typeface="+mn-ea"/>
              </a:rPr>
              <a:t>    </a:t>
            </a:r>
            <a:r>
              <a:rPr lang="en-US" altLang="zh-CN" sz="3200" b="1" spc="80" dirty="0">
                <a:solidFill>
                  <a:srgbClr val="FF0000"/>
                </a:solidFill>
                <a:effectLst/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  <a:sym typeface="+mn-ea"/>
              </a:rPr>
              <a:t>  </a:t>
            </a:r>
            <a:r>
              <a:rPr lang="zh-CN" altLang="en-US" sz="3200" b="1" spc="80" dirty="0">
                <a:solidFill>
                  <a:srgbClr val="FF0000"/>
                </a:solidFill>
                <a:effectLst/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  <a:sym typeface="+mn-ea"/>
              </a:rPr>
              <a:t>我们需要脚踏实地，走好脚下的每一步，仰望星空，有点点星光指引赶路者前行，时光也不会辜负付出实干者。我们走过的路，也终将变成照亮我们的星光！</a:t>
            </a:r>
            <a:endParaRPr lang="zh-CN" altLang="en-US" sz="3200" b="1" spc="80" dirty="0">
              <a:solidFill>
                <a:srgbClr val="FF0000"/>
              </a:solidFill>
              <a:effectLst/>
              <a:latin typeface="Arial" panose="020B0604020202090204" pitchFamily="34" charset="0"/>
              <a:ea typeface="微软雅黑" panose="020B0503020204020204" pitchFamily="34" charset="-122"/>
              <a:cs typeface="Arial" panose="020B0604020202090204" pitchFamily="34" charset="0"/>
              <a:sym typeface="+mn-ea"/>
            </a:endParaRPr>
          </a:p>
          <a:p>
            <a:pPr algn="r">
              <a:lnSpc>
                <a:spcPct val="120000"/>
              </a:lnSpc>
              <a:spcAft>
                <a:spcPts val="600"/>
              </a:spcAft>
            </a:pPr>
            <a:r>
              <a:rPr lang="en-US" altLang="zh-CN" sz="3200" b="1" spc="80" dirty="0">
                <a:solidFill>
                  <a:srgbClr val="FF0000"/>
                </a:solidFill>
                <a:effectLst/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  <a:sym typeface="+mn-ea"/>
              </a:rPr>
              <a:t> ------</a:t>
            </a:r>
            <a:r>
              <a:rPr lang="zh-CN" altLang="en-US" sz="3200" b="1" spc="80" dirty="0">
                <a:solidFill>
                  <a:srgbClr val="FF0000"/>
                </a:solidFill>
                <a:effectLst/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  <a:sym typeface="+mn-ea"/>
              </a:rPr>
              <a:t>星光不问赶路人，时光不负实干者</a:t>
            </a:r>
            <a:endParaRPr lang="zh-CN" altLang="en-US" sz="3200" b="1" spc="80" dirty="0">
              <a:solidFill>
                <a:srgbClr val="FF0000"/>
              </a:solidFill>
              <a:effectLst/>
              <a:latin typeface="Arial" panose="020B0604020202090204" pitchFamily="34" charset="0"/>
              <a:ea typeface="微软雅黑" panose="020B0503020204020204" pitchFamily="34" charset="-122"/>
              <a:cs typeface="Arial" panose="020B0604020202090204" pitchFamily="34" charset="0"/>
              <a:sym typeface="+mn-ea"/>
            </a:endParaRPr>
          </a:p>
          <a:p>
            <a:pPr algn="r">
              <a:lnSpc>
                <a:spcPct val="120000"/>
              </a:lnSpc>
              <a:spcAft>
                <a:spcPts val="600"/>
              </a:spcAft>
            </a:pPr>
            <a:endParaRPr lang="zh-CN" altLang="en-US" sz="3200" b="1" spc="80" dirty="0">
              <a:solidFill>
                <a:srgbClr val="FF0000"/>
              </a:solidFill>
              <a:effectLst/>
              <a:latin typeface="Arial" panose="020B0604020202090204" pitchFamily="34" charset="0"/>
              <a:ea typeface="微软雅黑" panose="020B0503020204020204" pitchFamily="34" charset="-122"/>
              <a:cs typeface="Arial" panose="020B0604020202090204" pitchFamily="34" charset="0"/>
              <a:sym typeface="+mn-ea"/>
            </a:endParaRP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zh-CN" altLang="en-US" sz="5400" b="1" spc="80" dirty="0">
                <a:solidFill>
                  <a:srgbClr val="FF0000"/>
                </a:solidFill>
                <a:effectLst/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  <a:sym typeface="+mn-ea"/>
              </a:rPr>
              <a:t>感谢聆听！</a:t>
            </a:r>
            <a:endParaRPr lang="zh-CN" altLang="en-US" sz="5400" b="1" spc="80" dirty="0">
              <a:solidFill>
                <a:srgbClr val="FF0000"/>
              </a:solidFill>
              <a:effectLst/>
              <a:latin typeface="Arial" panose="020B0604020202090204" pitchFamily="34" charset="0"/>
              <a:ea typeface="微软雅黑" panose="020B0503020204020204" pitchFamily="34" charset="-122"/>
              <a:cs typeface="Arial" panose="020B0604020202090204" pitchFamily="34" charset="0"/>
              <a:sym typeface="+mn-ea"/>
            </a:endParaRPr>
          </a:p>
        </p:txBody>
      </p:sp>
      <p:pic>
        <p:nvPicPr>
          <p:cNvPr id="3" name="图片 2" descr="logo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50215" y="561975"/>
            <a:ext cx="2132330" cy="37211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332210" y="6388100"/>
            <a:ext cx="596265" cy="4235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pc="80" dirty="0" smtClean="0"/>
              <a:t>19</a:t>
            </a:r>
            <a:endParaRPr lang="en-US" altLang="zh-CN" spc="80" dirty="0" smtClean="0"/>
          </a:p>
        </p:txBody>
      </p:sp>
      <p:sp>
        <p:nvSpPr>
          <p:cNvPr id="8" name="页脚占位符 7"/>
          <p:cNvSpPr>
            <a:spLocks noGrp="1"/>
          </p:cNvSpPr>
          <p:nvPr/>
        </p:nvSpPr>
        <p:spPr>
          <a:xfrm>
            <a:off x="10488930" y="6453505"/>
            <a:ext cx="1188085" cy="356235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olidFill>
                  <a:schemeClr val="bg1"/>
                </a:solidFill>
              </a:rPr>
              <a:t>20/20</a:t>
            </a:r>
            <a:endParaRPr lang="en-US" altLang="zh-CN">
              <a:solidFill>
                <a:schemeClr val="bg1"/>
              </a:solidFill>
            </a:endParaRPr>
          </a:p>
        </p:txBody>
      </p:sp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39470" y="4725035"/>
          <a:ext cx="15240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6" imgW="1524000" imgH="1524000" progId="Excel.Sheet.12">
                  <p:embed/>
                </p:oleObj>
              </mc:Choice>
              <mc:Fallback>
                <p:oleObj name="" showAsIcon="1" r:id="rId6" imgW="1524000" imgH="1524000" progId="Excel.Sheet.12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39470" y="4725035"/>
                        <a:ext cx="1524000" cy="152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UNIT_PLACING_PICTURE_USER_VIEWPORT" val="{&quot;height&quot;:10926,&quot;width&quot;:19200}"/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commondata" val="eyJoZGlkIjoiNjA5YTYwYTU3OGRlNGM4NDQxMDRlODRhMjYwNTFjMTQifQ==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去吧皮卡丘">
  <a:themeElements>
    <a:clrScheme name="教学课件PPT 01-蓝橙色">
      <a:dk1>
        <a:srgbClr val="000000"/>
      </a:dk1>
      <a:lt1>
        <a:srgbClr val="FFFFFF"/>
      </a:lt1>
      <a:dk2>
        <a:srgbClr val="595959"/>
      </a:dk2>
      <a:lt2>
        <a:srgbClr val="203864"/>
      </a:lt2>
      <a:accent1>
        <a:srgbClr val="0D5BD9"/>
      </a:accent1>
      <a:accent2>
        <a:srgbClr val="0A429F"/>
      </a:accent2>
      <a:accent3>
        <a:srgbClr val="FFBC25"/>
      </a:accent3>
      <a:accent4>
        <a:srgbClr val="FB6B14"/>
      </a:accent4>
      <a:accent5>
        <a:srgbClr val="009DD9"/>
      </a:accent5>
      <a:accent6>
        <a:srgbClr val="A272ED"/>
      </a:accent6>
      <a:hlink>
        <a:srgbClr val="0563C1"/>
      </a:hlink>
      <a:folHlink>
        <a:srgbClr val="954F72"/>
      </a:folHlink>
    </a:clrScheme>
    <a:fontScheme name="微软雅黑组">
      <a:majorFont>
        <a:latin typeface="微软雅黑"/>
        <a:ea typeface="微软雅黑"/>
        <a:cs typeface=""/>
      </a:majorFont>
      <a:minorFont>
        <a:latin typeface="微软雅黑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rnd">
          <a:solidFill>
            <a:schemeClr val="bg1">
              <a:lumMod val="75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20000"/>
          </a:lnSpc>
          <a:spcAft>
            <a:spcPts val="600"/>
          </a:spcAft>
          <a:defRPr spc="80"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默认设计模板">
  <a:themeElements>
    <a:clrScheme name="自定义 1">
      <a:dk1>
        <a:srgbClr val="37465B"/>
      </a:dk1>
      <a:lt1>
        <a:srgbClr val="0086BB"/>
      </a:lt1>
      <a:dk2>
        <a:srgbClr val="00B1B1"/>
      </a:dk2>
      <a:lt2>
        <a:srgbClr val="B7D841"/>
      </a:lt2>
      <a:accent1>
        <a:srgbClr val="F47954"/>
      </a:accent1>
      <a:accent2>
        <a:srgbClr val="F3F4F6"/>
      </a:accent2>
      <a:accent3>
        <a:srgbClr val="42494D"/>
      </a:accent3>
      <a:accent4>
        <a:srgbClr val="37465B"/>
      </a:accent4>
      <a:accent5>
        <a:srgbClr val="0086BB"/>
      </a:accent5>
      <a:accent6>
        <a:srgbClr val="00B1B1"/>
      </a:accent6>
      <a:hlink>
        <a:srgbClr val="B7D841"/>
      </a:hlink>
      <a:folHlink>
        <a:srgbClr val="F47954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9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9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D9"/>
        </a:lt1>
        <a:dk2>
          <a:srgbClr val="2B2E30"/>
        </a:dk2>
        <a:lt2>
          <a:srgbClr val="777777"/>
        </a:lt2>
        <a:accent1>
          <a:srgbClr val="7FBA00"/>
        </a:accent1>
        <a:accent2>
          <a:srgbClr val="FCDB00"/>
        </a:accent2>
        <a:accent3>
          <a:srgbClr val="FFFFE9"/>
        </a:accent3>
        <a:accent4>
          <a:srgbClr val="000000"/>
        </a:accent4>
        <a:accent5>
          <a:srgbClr val="C0D9AA"/>
        </a:accent5>
        <a:accent6>
          <a:srgbClr val="E4C600"/>
        </a:accent6>
        <a:hlink>
          <a:srgbClr val="21A3D0"/>
        </a:hlink>
        <a:folHlink>
          <a:srgbClr val="DA25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WPS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2159</Words>
  <Application>WPS 表格</Application>
  <PresentationFormat>宽屏</PresentationFormat>
  <Paragraphs>168</Paragraphs>
  <Slides>20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44" baseType="lpstr">
      <vt:lpstr>Arial</vt:lpstr>
      <vt:lpstr>宋体</vt:lpstr>
      <vt:lpstr>Wingdings</vt:lpstr>
      <vt:lpstr>微软雅黑</vt:lpstr>
      <vt:lpstr>汉仪旗黑</vt:lpstr>
      <vt:lpstr>微软雅黑 Light</vt:lpstr>
      <vt:lpstr>汉仪中黑KW</vt:lpstr>
      <vt:lpstr>汉仪书宋二KW</vt:lpstr>
      <vt:lpstr>仿宋_GB2312</vt:lpstr>
      <vt:lpstr>方正仿宋_GBK</vt:lpstr>
      <vt:lpstr>微软雅黑</vt:lpstr>
      <vt:lpstr>宋体</vt:lpstr>
      <vt:lpstr>Arial Unicode MS</vt:lpstr>
      <vt:lpstr>等线 Light</vt:lpstr>
      <vt:lpstr>汉仪中等线KW</vt:lpstr>
      <vt:lpstr>等线</vt:lpstr>
      <vt:lpstr>Calibri</vt:lpstr>
      <vt:lpstr>Helvetica Neue</vt:lpstr>
      <vt:lpstr>等线</vt:lpstr>
      <vt:lpstr>微软雅黑 Light</vt:lpstr>
      <vt:lpstr>自定义设计方案</vt:lpstr>
      <vt:lpstr>去吧皮卡丘</vt:lpstr>
      <vt:lpstr>2_默认设计模板</vt:lpstr>
      <vt:lpstr>Excel.Sheet.12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http://www.ypppt.com/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cp:keywords>http:/www.ypppt.com</cp:keywords>
  <dc:description>http://www.ypppt.com/</dc:description>
  <cp:lastModifiedBy>LEUNG</cp:lastModifiedBy>
  <cp:revision>1283</cp:revision>
  <dcterms:created xsi:type="dcterms:W3CDTF">2024-06-03T05:41:11Z</dcterms:created>
  <dcterms:modified xsi:type="dcterms:W3CDTF">2024-06-03T05:41:11Z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1087726AAACB774DD0515C6627552E9C_43</vt:lpwstr>
  </property>
  <property fmtid="{D5CDD505-2E9C-101B-9397-08002B2CF9AE}" pid="3" name="KSOProductBuildVer">
    <vt:lpwstr>2052-6.3.0.8471</vt:lpwstr>
  </property>
</Properties>
</file>