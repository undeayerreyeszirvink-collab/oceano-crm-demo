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64" r:id="rId4"/>
    <p:sldMasterId id="2147483666" r:id="rId5"/>
  </p:sldMasterIdLst>
  <p:notesMasterIdLst>
    <p:notesMasterId r:id="rId23"/>
  </p:notesMasterIdLst>
  <p:handoutMasterIdLst>
    <p:handoutMasterId r:id="rId24"/>
  </p:handoutMasterIdLst>
  <p:sldIdLst>
    <p:sldId id="262" r:id="rId6"/>
    <p:sldId id="261" r:id="rId7"/>
    <p:sldId id="372" r:id="rId8"/>
    <p:sldId id="392" r:id="rId9"/>
    <p:sldId id="397" r:id="rId10"/>
    <p:sldId id="263" r:id="rId11"/>
    <p:sldId id="408" r:id="rId12"/>
    <p:sldId id="414" r:id="rId13"/>
    <p:sldId id="416" r:id="rId14"/>
    <p:sldId id="418" r:id="rId15"/>
    <p:sldId id="393" r:id="rId16"/>
    <p:sldId id="267" r:id="rId17"/>
    <p:sldId id="381" r:id="rId18"/>
    <p:sldId id="420" r:id="rId19"/>
    <p:sldId id="419" r:id="rId20"/>
    <p:sldId id="421" r:id="rId21"/>
    <p:sldId id="258" r:id="rId22"/>
  </p:sldIdLst>
  <p:sldSz cx="10691495" cy="6011545"/>
  <p:notesSz cx="10234295" cy="7103745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魏海军" initials="n" lastIdx="1" clrIdx="0"/>
  <p:cmAuthor id="2" name=" " initials="" lastIdx="0" clrIdx="1"/>
  <p:cmAuthor id="3" name="OSN" initials="O" lastIdx="1" clrIdx="2"/>
  <p:cmAuthor id="4" name="asus" initials="a" lastIdx="1" clrIdx="3"/>
  <p:cmAuthor id="5" name="陈焕林" initials="陈焕林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9C5F"/>
    <a:srgbClr val="5F5F5F"/>
    <a:srgbClr val="7E6000"/>
    <a:srgbClr val="A98A68"/>
    <a:srgbClr val="C49B6D"/>
    <a:srgbClr val="C59E65"/>
    <a:srgbClr val="C39B6D"/>
    <a:srgbClr val="3B3B3B"/>
    <a:srgbClr val="595959"/>
    <a:srgbClr val="5D59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39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1" d="100"/>
          <a:sy n="111" d="100"/>
        </p:scale>
        <p:origin x="215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132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F8E5E9-2331-443E-B7FE-0C7BEB95FBC3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7BFA4203-FFE2-44D4-86C4-0A5B30CE368D}">
      <dgm:prSet phldrT="[文本]" custT="1"/>
      <dgm:spPr/>
      <dgm:t>
        <a:bodyPr/>
        <a:lstStyle/>
        <a:p>
          <a:r>
            <a:rPr lang="zh-CN" altLang="en-US" sz="1800" b="1" dirty="0" smtClean="0">
              <a:latin typeface="华文宋体" panose="02010600040101010101" pitchFamily="2" charset="-122"/>
              <a:ea typeface="华文宋体" panose="02010600040101010101" pitchFamily="2" charset="-122"/>
            </a:rPr>
            <a:t>第一阶段选型</a:t>
          </a:r>
          <a:endParaRPr lang="en-US" altLang="zh-CN" sz="1800" b="1" dirty="0" smtClean="0">
            <a:latin typeface="华文宋体" panose="02010600040101010101" pitchFamily="2" charset="-122"/>
            <a:ea typeface="华文宋体" panose="02010600040101010101" pitchFamily="2" charset="-122"/>
          </a:endParaRPr>
        </a:p>
        <a:p>
          <a:r>
            <a:rPr lang="zh-CN" altLang="en-US" sz="900" dirty="0" smtClean="0"/>
            <a:t>主要调研服务商资质能力、案例经验已经方案的完整性。</a:t>
          </a:r>
          <a:endParaRPr lang="zh-CN" altLang="en-US" sz="900" dirty="0"/>
        </a:p>
      </dgm:t>
    </dgm:pt>
    <dgm:pt modelId="{D4A7CC80-EFBD-46D4-B321-92D283FE908A}" cxnId="{CEEE33F9-5BAC-49AB-8274-7E8E04435A5E}" type="parTrans">
      <dgm:prSet/>
      <dgm:spPr/>
      <dgm:t>
        <a:bodyPr/>
        <a:lstStyle/>
        <a:p>
          <a:endParaRPr lang="zh-CN" altLang="en-US"/>
        </a:p>
      </dgm:t>
    </dgm:pt>
    <dgm:pt modelId="{CF5F59D5-8752-4491-884E-8520A52128F1}" cxnId="{CEEE33F9-5BAC-49AB-8274-7E8E04435A5E}" type="sibTrans">
      <dgm:prSet/>
      <dgm:spPr/>
      <dgm:t>
        <a:bodyPr/>
        <a:lstStyle/>
        <a:p>
          <a:endParaRPr lang="zh-CN" altLang="en-US"/>
        </a:p>
      </dgm:t>
    </dgm:pt>
    <dgm:pt modelId="{70923C53-AC3B-463F-9AA6-7CCD622DB4CF}">
      <dgm:prSet phldrT="[文本]"/>
      <dgm:spPr/>
      <dgm:t>
        <a:bodyPr/>
        <a:lstStyle/>
        <a:p>
          <a:pPr algn="l"/>
          <a:r>
            <a:rPr lang="en-US" altLang="zh-CN" dirty="0" smtClean="0"/>
            <a:t>            ×  </a:t>
          </a:r>
          <a:r>
            <a:rPr lang="zh-CN" altLang="en-US" dirty="0" smtClean="0"/>
            <a:t>博依特           </a:t>
          </a:r>
          <a:endParaRPr lang="en-US" altLang="zh-CN" dirty="0" smtClean="0"/>
        </a:p>
        <a:p>
          <a:pPr algn="l"/>
          <a:r>
            <a:rPr lang="en-US" altLang="zh-CN" dirty="0" smtClean="0"/>
            <a:t>            ×  </a:t>
          </a:r>
          <a:r>
            <a:rPr lang="zh-CN" altLang="en-US" dirty="0" smtClean="0"/>
            <a:t>奇秦                </a:t>
          </a:r>
          <a:endParaRPr lang="en-US" altLang="zh-CN" dirty="0" smtClean="0"/>
        </a:p>
        <a:p>
          <a:pPr algn="l"/>
          <a:r>
            <a:rPr lang="en-US" altLang="zh-CN" dirty="0" smtClean="0"/>
            <a:t>            ×  </a:t>
          </a:r>
          <a:r>
            <a:rPr lang="zh-CN" altLang="en-US" dirty="0" smtClean="0"/>
            <a:t>摩尔元数</a:t>
          </a:r>
          <a:endParaRPr lang="en-US" altLang="zh-CN" dirty="0" smtClean="0"/>
        </a:p>
        <a:p>
          <a:pPr algn="l"/>
          <a:r>
            <a:rPr lang="zh-CN" altLang="en-US" dirty="0" smtClean="0"/>
            <a:t>             √   数联魔方</a:t>
          </a:r>
          <a:endParaRPr lang="en-US" altLang="zh-CN" dirty="0" smtClean="0"/>
        </a:p>
        <a:p>
          <a:pPr algn="l"/>
          <a:r>
            <a:rPr lang="zh-CN" altLang="en-US" dirty="0" smtClean="0"/>
            <a:t>             √   美云智数</a:t>
          </a:r>
          <a:endParaRPr lang="en-US" altLang="zh-CN" dirty="0" smtClean="0"/>
        </a:p>
        <a:p>
          <a:pPr algn="l"/>
          <a:r>
            <a:rPr lang="zh-CN" altLang="en-US" dirty="0" smtClean="0"/>
            <a:t>             √   航天云网</a:t>
          </a:r>
          <a:endParaRPr lang="en-US" altLang="zh-CN" dirty="0" smtClean="0"/>
        </a:p>
        <a:p>
          <a:pPr algn="l"/>
          <a:r>
            <a:rPr lang="zh-CN" altLang="en-US" dirty="0" smtClean="0"/>
            <a:t>             √   海通安恒</a:t>
          </a:r>
          <a:endParaRPr lang="zh-CN" altLang="en-US" dirty="0"/>
        </a:p>
      </dgm:t>
    </dgm:pt>
    <dgm:pt modelId="{24E153FD-7F1D-46BE-A6F5-AC175C385EEE}" cxnId="{FF2B0E10-0212-48D3-915F-4FDF8AE33276}" type="parTrans">
      <dgm:prSet/>
      <dgm:spPr/>
      <dgm:t>
        <a:bodyPr/>
        <a:lstStyle/>
        <a:p>
          <a:endParaRPr lang="zh-CN" altLang="en-US"/>
        </a:p>
      </dgm:t>
    </dgm:pt>
    <dgm:pt modelId="{475740F1-0452-455A-982C-528D5F900CBB}" cxnId="{FF2B0E10-0212-48D3-915F-4FDF8AE33276}" type="sibTrans">
      <dgm:prSet/>
      <dgm:spPr/>
      <dgm:t>
        <a:bodyPr/>
        <a:lstStyle/>
        <a:p>
          <a:endParaRPr lang="zh-CN" altLang="en-US"/>
        </a:p>
      </dgm:t>
    </dgm:pt>
    <dgm:pt modelId="{3DC7696B-1952-42EB-8E44-4A698757E375}">
      <dgm:prSet phldrT="[文本]" custT="1"/>
      <dgm:spPr/>
      <dgm:t>
        <a:bodyPr/>
        <a:lstStyle/>
        <a:p>
          <a:r>
            <a:rPr lang="zh-CN" altLang="en-US" sz="1800" dirty="0" smtClean="0">
              <a:latin typeface="+mn-ea"/>
              <a:ea typeface="+mn-ea"/>
            </a:rPr>
            <a:t>第二阶段选型</a:t>
          </a:r>
          <a:endParaRPr lang="en-US" altLang="zh-CN" sz="1800" dirty="0" smtClean="0">
            <a:latin typeface="+mn-ea"/>
            <a:ea typeface="+mn-ea"/>
          </a:endParaRPr>
        </a:p>
        <a:p>
          <a:r>
            <a:rPr lang="zh-CN" altLang="en-US" sz="900" dirty="0" smtClean="0"/>
            <a:t>主要调研服务商的详细方案、方案契合度、落地成果等。</a:t>
          </a:r>
          <a:endParaRPr lang="zh-CN" altLang="en-US" sz="900" dirty="0"/>
        </a:p>
      </dgm:t>
    </dgm:pt>
    <dgm:pt modelId="{07B2263D-84A9-4F85-9E3A-AD998D961704}" cxnId="{EE4B8034-6D5F-471B-9BB8-26684DE2F4D8}" type="parTrans">
      <dgm:prSet/>
      <dgm:spPr/>
      <dgm:t>
        <a:bodyPr/>
        <a:lstStyle/>
        <a:p>
          <a:endParaRPr lang="zh-CN" altLang="en-US"/>
        </a:p>
      </dgm:t>
    </dgm:pt>
    <dgm:pt modelId="{A62717C6-98FC-42B7-BA55-409B3698D7BF}" cxnId="{EE4B8034-6D5F-471B-9BB8-26684DE2F4D8}" type="sibTrans">
      <dgm:prSet/>
      <dgm:spPr/>
      <dgm:t>
        <a:bodyPr/>
        <a:lstStyle/>
        <a:p>
          <a:endParaRPr lang="zh-CN" altLang="en-US"/>
        </a:p>
      </dgm:t>
    </dgm:pt>
    <dgm:pt modelId="{CD309B88-7C36-4599-9065-084B0AF28382}">
      <dgm:prSet phldrT="[文本]"/>
      <dgm:spPr/>
      <dgm:t>
        <a:bodyPr/>
        <a:lstStyle/>
        <a:p>
          <a:endParaRPr lang="en-US" altLang="zh-CN" dirty="0" smtClean="0"/>
        </a:p>
        <a:p>
          <a:endParaRPr lang="en-US" altLang="zh-CN" dirty="0" smtClean="0"/>
        </a:p>
        <a:p>
          <a:r>
            <a:rPr lang="en-US" altLang="zh-CN" dirty="0" smtClean="0"/>
            <a:t>	</a:t>
          </a:r>
          <a:r>
            <a:rPr lang="zh-CN" altLang="en-US" dirty="0" smtClean="0"/>
            <a:t>√   数联魔方</a:t>
          </a:r>
          <a:endParaRPr lang="zh-CN" altLang="en-US" dirty="0"/>
        </a:p>
      </dgm:t>
    </dgm:pt>
    <dgm:pt modelId="{509F5E7E-BEE7-4440-99FD-46310DE476AD}" cxnId="{27FDABD2-A831-4FF4-9DEA-1ED96D913613}" type="parTrans">
      <dgm:prSet/>
      <dgm:spPr/>
      <dgm:t>
        <a:bodyPr/>
        <a:lstStyle/>
        <a:p>
          <a:endParaRPr lang="zh-CN" altLang="en-US"/>
        </a:p>
      </dgm:t>
    </dgm:pt>
    <dgm:pt modelId="{B6C3B456-9780-4072-9095-5C5589724489}" cxnId="{27FDABD2-A831-4FF4-9DEA-1ED96D913613}" type="sibTrans">
      <dgm:prSet/>
      <dgm:spPr/>
      <dgm:t>
        <a:bodyPr/>
        <a:lstStyle/>
        <a:p>
          <a:endParaRPr lang="zh-CN" altLang="en-US"/>
        </a:p>
      </dgm:t>
    </dgm:pt>
    <dgm:pt modelId="{65093306-5218-4EE7-B366-FE01C85A02CF}">
      <dgm:prSet/>
      <dgm:spPr/>
      <dgm:t>
        <a:bodyPr/>
        <a:lstStyle/>
        <a:p>
          <a:r>
            <a:rPr lang="zh-CN" altLang="en-US" dirty="0" smtClean="0"/>
            <a:t>                √   航天云网</a:t>
          </a:r>
          <a:endParaRPr lang="en-US" altLang="zh-CN" dirty="0" smtClean="0"/>
        </a:p>
      </dgm:t>
    </dgm:pt>
    <dgm:pt modelId="{5DAE5A11-D695-4CA4-BD49-94E14CF359F5}" cxnId="{6A9ECC4F-5718-4CC3-8FD0-A4541AF75AE7}" type="parTrans">
      <dgm:prSet/>
      <dgm:spPr/>
      <dgm:t>
        <a:bodyPr/>
        <a:lstStyle/>
        <a:p>
          <a:endParaRPr lang="zh-CN" altLang="en-US"/>
        </a:p>
      </dgm:t>
    </dgm:pt>
    <dgm:pt modelId="{6CAD78F9-DBEE-4A89-86B5-357E2AD84DC8}" cxnId="{6A9ECC4F-5718-4CC3-8FD0-A4541AF75AE7}" type="sibTrans">
      <dgm:prSet/>
      <dgm:spPr/>
      <dgm:t>
        <a:bodyPr/>
        <a:lstStyle/>
        <a:p>
          <a:endParaRPr lang="zh-CN" altLang="en-US"/>
        </a:p>
      </dgm:t>
    </dgm:pt>
    <dgm:pt modelId="{4B36CE29-4FA3-4AFD-9026-7556BCCDF578}">
      <dgm:prSet/>
      <dgm:spPr/>
      <dgm:t>
        <a:bodyPr/>
        <a:lstStyle/>
        <a:p>
          <a:r>
            <a:rPr lang="zh-CN" altLang="en-US" dirty="0" smtClean="0"/>
            <a:t>                √   海通安恒</a:t>
          </a:r>
          <a:endParaRPr lang="en-US" altLang="zh-CN" dirty="0" smtClean="0"/>
        </a:p>
        <a:p>
          <a:r>
            <a:rPr lang="zh-CN" altLang="en-US" dirty="0" smtClean="0"/>
            <a:t>                </a:t>
          </a:r>
          <a:endParaRPr lang="zh-CN" altLang="en-US" dirty="0"/>
        </a:p>
      </dgm:t>
    </dgm:pt>
    <dgm:pt modelId="{5E8C95BD-AD2F-41BC-B891-E632A6524AA6}" cxnId="{EFC4174A-6051-4434-821B-656F614355F4}" type="parTrans">
      <dgm:prSet/>
      <dgm:spPr/>
      <dgm:t>
        <a:bodyPr/>
        <a:lstStyle/>
        <a:p>
          <a:endParaRPr lang="zh-CN" altLang="en-US"/>
        </a:p>
      </dgm:t>
    </dgm:pt>
    <dgm:pt modelId="{7373F8EC-ECF6-4656-92F4-0EFA820CEBAC}" cxnId="{EFC4174A-6051-4434-821B-656F614355F4}" type="sibTrans">
      <dgm:prSet/>
      <dgm:spPr/>
      <dgm:t>
        <a:bodyPr/>
        <a:lstStyle/>
        <a:p>
          <a:endParaRPr lang="zh-CN" altLang="en-US"/>
        </a:p>
      </dgm:t>
    </dgm:pt>
    <dgm:pt modelId="{84090866-9055-4003-9574-C3707BC3000F}">
      <dgm:prSet phldrT="[文本]"/>
      <dgm:spPr/>
      <dgm:t>
        <a:bodyPr/>
        <a:lstStyle/>
        <a:p>
          <a:pPr algn="l"/>
          <a:r>
            <a:rPr lang="en-US" altLang="zh-CN" dirty="0" smtClean="0"/>
            <a:t>             </a:t>
          </a:r>
          <a:r>
            <a:rPr lang="zh-CN" altLang="en-US" dirty="0" smtClean="0"/>
            <a:t>√   科达</a:t>
          </a:r>
          <a:endParaRPr lang="zh-CN" altLang="en-US" dirty="0"/>
        </a:p>
      </dgm:t>
    </dgm:pt>
    <dgm:pt modelId="{D9F5D648-6A57-406B-A91C-A91B9BE726DC}" cxnId="{7C627A9B-E7CA-4ED4-8A4C-D3F92379A3D5}" type="parTrans">
      <dgm:prSet/>
      <dgm:spPr/>
      <dgm:t>
        <a:bodyPr/>
        <a:lstStyle/>
        <a:p>
          <a:endParaRPr lang="zh-CN" altLang="en-US"/>
        </a:p>
      </dgm:t>
    </dgm:pt>
    <dgm:pt modelId="{952A123D-981B-42AB-8B40-0F5DAB9BEEB7}" cxnId="{7C627A9B-E7CA-4ED4-8A4C-D3F92379A3D5}" type="sibTrans">
      <dgm:prSet/>
      <dgm:spPr/>
      <dgm:t>
        <a:bodyPr/>
        <a:lstStyle/>
        <a:p>
          <a:endParaRPr lang="zh-CN" altLang="en-US"/>
        </a:p>
      </dgm:t>
    </dgm:pt>
    <dgm:pt modelId="{FAAB81E9-0C70-4416-BC28-2418E6422075}" type="pres">
      <dgm:prSet presAssocID="{51F8E5E9-2331-443E-B7FE-0C7BEB95FBC3}" presName="Name0" presStyleCnt="0">
        <dgm:presLayoutVars>
          <dgm:chMax val="5"/>
          <dgm:chPref val="5"/>
          <dgm:dir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9577F4DC-4563-404D-854F-8FA93CC61647}" type="pres">
      <dgm:prSet presAssocID="{7BFA4203-FFE2-44D4-86C4-0A5B30CE368D}" presName="parentText1" presStyleLbl="node1" presStyleIdx="0" presStyleCnt="2" custScaleY="146642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E5F0EF4-F1FC-4DE7-AE63-1F305C3F2965}" type="pres">
      <dgm:prSet presAssocID="{7BFA4203-FFE2-44D4-86C4-0A5B30CE368D}" presName="childText1" presStyleLbl="solidAlignAcc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6193626-103D-4848-A8C6-9D2277C14784}" type="pres">
      <dgm:prSet presAssocID="{3DC7696B-1952-42EB-8E44-4A698757E375}" presName="parentText2" presStyleLbl="node1" presStyleIdx="1" presStyleCnt="2" custScaleY="142558">
        <dgm:presLayoutVars>
          <dgm:chMax/>
          <dgm:chPref val="3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7EED48A-14C8-4590-BA11-5915C4988ADB}" type="pres">
      <dgm:prSet presAssocID="{3DC7696B-1952-42EB-8E44-4A698757E375}" presName="childText2" presStyleLbl="solidAlignAcc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7FDABD2-A831-4FF4-9DEA-1ED96D913613}" srcId="{3DC7696B-1952-42EB-8E44-4A698757E375}" destId="{CD309B88-7C36-4599-9065-084B0AF28382}" srcOrd="0" destOrd="0" parTransId="{509F5E7E-BEE7-4440-99FD-46310DE476AD}" sibTransId="{B6C3B456-9780-4072-9095-5C5589724489}"/>
    <dgm:cxn modelId="{CEEE33F9-5BAC-49AB-8274-7E8E04435A5E}" srcId="{51F8E5E9-2331-443E-B7FE-0C7BEB95FBC3}" destId="{7BFA4203-FFE2-44D4-86C4-0A5B30CE368D}" srcOrd="0" destOrd="0" parTransId="{D4A7CC80-EFBD-46D4-B321-92D283FE908A}" sibTransId="{CF5F59D5-8752-4491-884E-8520A52128F1}"/>
    <dgm:cxn modelId="{FF2B0E10-0212-48D3-915F-4FDF8AE33276}" srcId="{7BFA4203-FFE2-44D4-86C4-0A5B30CE368D}" destId="{70923C53-AC3B-463F-9AA6-7CCD622DB4CF}" srcOrd="0" destOrd="0" parTransId="{24E153FD-7F1D-46BE-A6F5-AC175C385EEE}" sibTransId="{475740F1-0452-455A-982C-528D5F900CBB}"/>
    <dgm:cxn modelId="{5AC53F48-128B-44FC-B357-D08CCC0374A4}" type="presOf" srcId="{CD309B88-7C36-4599-9065-084B0AF28382}" destId="{A7EED48A-14C8-4590-BA11-5915C4988ADB}" srcOrd="0" destOrd="0" presId="urn:microsoft.com/office/officeart/2009/3/layout/IncreasingArrowsProcess"/>
    <dgm:cxn modelId="{6A9ECC4F-5718-4CC3-8FD0-A4541AF75AE7}" srcId="{3DC7696B-1952-42EB-8E44-4A698757E375}" destId="{65093306-5218-4EE7-B366-FE01C85A02CF}" srcOrd="1" destOrd="0" parTransId="{5DAE5A11-D695-4CA4-BD49-94E14CF359F5}" sibTransId="{6CAD78F9-DBEE-4A89-86B5-357E2AD84DC8}"/>
    <dgm:cxn modelId="{EFC4174A-6051-4434-821B-656F614355F4}" srcId="{3DC7696B-1952-42EB-8E44-4A698757E375}" destId="{4B36CE29-4FA3-4AFD-9026-7556BCCDF578}" srcOrd="2" destOrd="0" parTransId="{5E8C95BD-AD2F-41BC-B891-E632A6524AA6}" sibTransId="{7373F8EC-ECF6-4656-92F4-0EFA820CEBAC}"/>
    <dgm:cxn modelId="{2FEFC963-1495-4BA9-AB4B-BD200B063B30}" type="presOf" srcId="{3DC7696B-1952-42EB-8E44-4A698757E375}" destId="{A6193626-103D-4848-A8C6-9D2277C14784}" srcOrd="0" destOrd="0" presId="urn:microsoft.com/office/officeart/2009/3/layout/IncreasingArrowsProcess"/>
    <dgm:cxn modelId="{C907C0DD-9274-41F0-9442-926F9B4AD055}" type="presOf" srcId="{70923C53-AC3B-463F-9AA6-7CCD622DB4CF}" destId="{3E5F0EF4-F1FC-4DE7-AE63-1F305C3F2965}" srcOrd="0" destOrd="0" presId="urn:microsoft.com/office/officeart/2009/3/layout/IncreasingArrowsProcess"/>
    <dgm:cxn modelId="{FDC8CEA3-AB70-4B26-BC7E-8D59CC7B815C}" type="presOf" srcId="{7BFA4203-FFE2-44D4-86C4-0A5B30CE368D}" destId="{9577F4DC-4563-404D-854F-8FA93CC61647}" srcOrd="0" destOrd="0" presId="urn:microsoft.com/office/officeart/2009/3/layout/IncreasingArrowsProcess"/>
    <dgm:cxn modelId="{C384ADA3-A13C-4651-B47B-69AD4C9E1E0B}" type="presOf" srcId="{51F8E5E9-2331-443E-B7FE-0C7BEB95FBC3}" destId="{FAAB81E9-0C70-4416-BC28-2418E6422075}" srcOrd="0" destOrd="0" presId="urn:microsoft.com/office/officeart/2009/3/layout/IncreasingArrowsProcess"/>
    <dgm:cxn modelId="{A9D7E3A2-4633-40C9-97C6-BBBF37110A06}" type="presOf" srcId="{65093306-5218-4EE7-B366-FE01C85A02CF}" destId="{A7EED48A-14C8-4590-BA11-5915C4988ADB}" srcOrd="0" destOrd="1" presId="urn:microsoft.com/office/officeart/2009/3/layout/IncreasingArrowsProcess"/>
    <dgm:cxn modelId="{7F43D128-4BFC-4033-8BFE-49E0FBC09755}" type="presOf" srcId="{4B36CE29-4FA3-4AFD-9026-7556BCCDF578}" destId="{A7EED48A-14C8-4590-BA11-5915C4988ADB}" srcOrd="0" destOrd="2" presId="urn:microsoft.com/office/officeart/2009/3/layout/IncreasingArrowsProcess"/>
    <dgm:cxn modelId="{EA5732F2-801D-412A-BE3E-9FFDB712ECBA}" type="presOf" srcId="{84090866-9055-4003-9574-C3707BC3000F}" destId="{3E5F0EF4-F1FC-4DE7-AE63-1F305C3F2965}" srcOrd="0" destOrd="1" presId="urn:microsoft.com/office/officeart/2009/3/layout/IncreasingArrowsProcess"/>
    <dgm:cxn modelId="{EE4B8034-6D5F-471B-9BB8-26684DE2F4D8}" srcId="{51F8E5E9-2331-443E-B7FE-0C7BEB95FBC3}" destId="{3DC7696B-1952-42EB-8E44-4A698757E375}" srcOrd="1" destOrd="0" parTransId="{07B2263D-84A9-4F85-9E3A-AD998D961704}" sibTransId="{A62717C6-98FC-42B7-BA55-409B3698D7BF}"/>
    <dgm:cxn modelId="{7C627A9B-E7CA-4ED4-8A4C-D3F92379A3D5}" srcId="{7BFA4203-FFE2-44D4-86C4-0A5B30CE368D}" destId="{84090866-9055-4003-9574-C3707BC3000F}" srcOrd="1" destOrd="0" parTransId="{D9F5D648-6A57-406B-A91C-A91B9BE726DC}" sibTransId="{952A123D-981B-42AB-8B40-0F5DAB9BEEB7}"/>
    <dgm:cxn modelId="{D53D2530-09B0-49E2-AF4C-88E4727A3D34}" type="presParOf" srcId="{FAAB81E9-0C70-4416-BC28-2418E6422075}" destId="{9577F4DC-4563-404D-854F-8FA93CC61647}" srcOrd="0" destOrd="0" presId="urn:microsoft.com/office/officeart/2009/3/layout/IncreasingArrowsProcess"/>
    <dgm:cxn modelId="{50BF1A4F-242D-43FD-B467-7F6C1DEDEF4B}" type="presParOf" srcId="{FAAB81E9-0C70-4416-BC28-2418E6422075}" destId="{3E5F0EF4-F1FC-4DE7-AE63-1F305C3F2965}" srcOrd="1" destOrd="0" presId="urn:microsoft.com/office/officeart/2009/3/layout/IncreasingArrowsProcess"/>
    <dgm:cxn modelId="{581D9CBC-1DF8-4A89-A57A-C9A6CF560FAD}" type="presParOf" srcId="{FAAB81E9-0C70-4416-BC28-2418E6422075}" destId="{A6193626-103D-4848-A8C6-9D2277C14784}" srcOrd="2" destOrd="0" presId="urn:microsoft.com/office/officeart/2009/3/layout/IncreasingArrowsProcess"/>
    <dgm:cxn modelId="{81928ED7-3E97-43BF-9A11-D4A5AF7703DC}" type="presParOf" srcId="{FAAB81E9-0C70-4416-BC28-2418E6422075}" destId="{A7EED48A-14C8-4590-BA11-5915C4988ADB}" srcOrd="3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911525" cy="4333767"/>
        <a:chOff x="0" y="0"/>
        <a:chExt cx="8911525" cy="4333767"/>
      </a:xfrm>
    </dsp:grpSpPr>
    <dsp:sp modelId="{9577F4DC-4563-404D-854F-8FA93CC61647}">
      <dsp:nvSpPr>
        <dsp:cNvPr id="3" name="右箭头 2"/>
        <dsp:cNvSpPr/>
      </dsp:nvSpPr>
      <dsp:spPr bwMode="white">
        <a:xfrm>
          <a:off x="0" y="618778"/>
          <a:ext cx="8911525" cy="1297963"/>
        </a:xfrm>
        <a:prstGeom prst="rightArrow">
          <a:avLst>
            <a:gd name="adj1" fmla="val 50000"/>
            <a:gd name="adj2" fmla="val 50000"/>
          </a:avLst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228600" bIns="206051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dirty="0" smtClean="0">
              <a:latin typeface="华文宋体" panose="02010600040101010101" pitchFamily="2" charset="-122"/>
              <a:ea typeface="华文宋体" panose="02010600040101010101" pitchFamily="2" charset="-122"/>
            </a:rPr>
            <a:t>第一阶段选型</a:t>
          </a:r>
          <a:endParaRPr lang="en-US" altLang="zh-CN" sz="1800" b="1" dirty="0" smtClean="0">
            <a:latin typeface="华文宋体" panose="02010600040101010101" pitchFamily="2" charset="-122"/>
            <a:ea typeface="华文宋体" panose="02010600040101010101" pitchFamily="2" charset="-122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900" dirty="0" smtClean="0"/>
            <a:t>主要调研服务商资质能力、案例经验已经方案的完整性。</a:t>
          </a:r>
          <a:endParaRPr lang="zh-CN" altLang="en-US" sz="900" dirty="0"/>
        </a:p>
      </dsp:txBody>
      <dsp:txXfrm>
        <a:off x="0" y="618778"/>
        <a:ext cx="8911525" cy="1297963"/>
      </dsp:txXfrm>
    </dsp:sp>
    <dsp:sp modelId="{3E5F0EF4-F1FC-4DE7-AE63-1F305C3F2965}">
      <dsp:nvSpPr>
        <dsp:cNvPr id="4" name="矩形 3"/>
        <dsp:cNvSpPr/>
      </dsp:nvSpPr>
      <dsp:spPr bwMode="white">
        <a:xfrm>
          <a:off x="0" y="1622911"/>
          <a:ext cx="4117125" cy="2897123"/>
        </a:xfrm>
        <a:prstGeom prst="rect">
          <a:avLst/>
        </a:prstGeom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lt1"/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>
              <a:solidFill>
                <a:schemeClr val="dk1"/>
              </a:solidFill>
            </a:rPr>
            <a:t>            ×  </a:t>
          </a:r>
          <a:r>
            <a:rPr lang="zh-CN" altLang="en-US" dirty="0" smtClean="0">
              <a:solidFill>
                <a:schemeClr val="dk1"/>
              </a:solidFill>
            </a:rPr>
            <a:t>博依特           </a:t>
          </a:r>
          <a:endParaRPr lang="en-US" altLang="zh-CN" dirty="0" smtClean="0">
            <a:solidFill>
              <a:schemeClr val="dk1"/>
            </a:solidFill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>
              <a:solidFill>
                <a:schemeClr val="dk1"/>
              </a:solidFill>
            </a:rPr>
            <a:t>            ×  </a:t>
          </a:r>
          <a:r>
            <a:rPr lang="zh-CN" altLang="en-US" dirty="0" smtClean="0">
              <a:solidFill>
                <a:schemeClr val="dk1"/>
              </a:solidFill>
            </a:rPr>
            <a:t>奇秦                </a:t>
          </a:r>
          <a:endParaRPr lang="en-US" altLang="zh-CN" dirty="0" smtClean="0">
            <a:solidFill>
              <a:schemeClr val="dk1"/>
            </a:solidFill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>
              <a:solidFill>
                <a:schemeClr val="dk1"/>
              </a:solidFill>
            </a:rPr>
            <a:t>            ×  </a:t>
          </a:r>
          <a:r>
            <a:rPr lang="zh-CN" altLang="en-US" dirty="0" smtClean="0">
              <a:solidFill>
                <a:schemeClr val="dk1"/>
              </a:solidFill>
            </a:rPr>
            <a:t>摩尔元数</a:t>
          </a:r>
          <a:endParaRPr lang="en-US" altLang="zh-CN" dirty="0" smtClean="0">
            <a:solidFill>
              <a:schemeClr val="dk1"/>
            </a:solidFill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dk1"/>
              </a:solidFill>
            </a:rPr>
            <a:t>             √   数联魔方</a:t>
          </a:r>
          <a:endParaRPr lang="en-US" altLang="zh-CN" dirty="0" smtClean="0">
            <a:solidFill>
              <a:schemeClr val="dk1"/>
            </a:solidFill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dk1"/>
              </a:solidFill>
            </a:rPr>
            <a:t>             √   美云智数</a:t>
          </a:r>
          <a:endParaRPr lang="en-US" altLang="zh-CN" dirty="0" smtClean="0">
            <a:solidFill>
              <a:schemeClr val="dk1"/>
            </a:solidFill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dk1"/>
              </a:solidFill>
            </a:rPr>
            <a:t>             √   航天云网</a:t>
          </a:r>
          <a:endParaRPr lang="en-US" altLang="zh-CN" dirty="0" smtClean="0">
            <a:solidFill>
              <a:schemeClr val="dk1"/>
            </a:solidFill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dk1"/>
              </a:solidFill>
            </a:rPr>
            <a:t>             √   海通安恒</a:t>
          </a:r>
          <a:endParaRPr lang="zh-CN" altLang="en-US" dirty="0">
            <a:solidFill>
              <a:schemeClr val="dk1"/>
            </a:solidFill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>
              <a:solidFill>
                <a:schemeClr val="dk1"/>
              </a:solidFill>
            </a:rPr>
            <a:t>             </a:t>
          </a:r>
          <a:r>
            <a:rPr lang="zh-CN" altLang="en-US" dirty="0" smtClean="0">
              <a:solidFill>
                <a:schemeClr val="dk1"/>
              </a:solidFill>
            </a:rPr>
            <a:t>√   科达</a:t>
          </a:r>
          <a:endParaRPr lang="zh-CN" altLang="en-US" dirty="0">
            <a:solidFill>
              <a:schemeClr val="dk1"/>
            </a:solidFill>
          </a:endParaRPr>
        </a:p>
      </dsp:txBody>
      <dsp:txXfrm>
        <a:off x="0" y="1622911"/>
        <a:ext cx="4117125" cy="2897123"/>
      </dsp:txXfrm>
    </dsp:sp>
    <dsp:sp modelId="{A6193626-103D-4848-A8C6-9D2277C14784}">
      <dsp:nvSpPr>
        <dsp:cNvPr id="5" name="右箭头 4"/>
        <dsp:cNvSpPr/>
      </dsp:nvSpPr>
      <dsp:spPr bwMode="white">
        <a:xfrm>
          <a:off x="4117125" y="1051287"/>
          <a:ext cx="4794400" cy="1297963"/>
        </a:xfrm>
        <a:prstGeom prst="rightArrow">
          <a:avLst>
            <a:gd name="adj1" fmla="val 50000"/>
            <a:gd name="adj2" fmla="val 50000"/>
          </a:avLst>
        </a:prstGeom>
      </dsp:spPr>
      <dsp:style>
        <a:lnRef idx="2">
          <a:schemeClr val="lt1"/>
        </a:lnRef>
        <a:fillRef idx="1">
          <a:schemeClr val="accent2">
            <a:hueOff val="-1500000"/>
            <a:satOff val="-83921"/>
            <a:lumOff val="862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228600" bIns="206051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>
              <a:latin typeface="+mn-ea"/>
              <a:ea typeface="+mn-ea"/>
            </a:rPr>
            <a:t>第二阶段选型</a:t>
          </a:r>
          <a:endParaRPr lang="en-US" altLang="zh-CN" sz="1800" dirty="0" smtClean="0">
            <a:latin typeface="+mn-ea"/>
            <a:ea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900" dirty="0" smtClean="0"/>
            <a:t>主要调研服务商的详细方案、方案契合度、落地成果等。</a:t>
          </a:r>
          <a:endParaRPr lang="zh-CN" altLang="en-US" sz="900" dirty="0"/>
        </a:p>
      </dsp:txBody>
      <dsp:txXfrm>
        <a:off x="4117125" y="1051287"/>
        <a:ext cx="4794400" cy="1297963"/>
      </dsp:txXfrm>
    </dsp:sp>
    <dsp:sp modelId="{A7EED48A-14C8-4590-BA11-5915C4988ADB}">
      <dsp:nvSpPr>
        <dsp:cNvPr id="6" name="矩形 5"/>
        <dsp:cNvSpPr/>
      </dsp:nvSpPr>
      <dsp:spPr bwMode="white">
        <a:xfrm>
          <a:off x="4117125" y="2055421"/>
          <a:ext cx="4117125" cy="2897123"/>
        </a:xfrm>
        <a:prstGeom prst="rect">
          <a:avLst/>
        </a:prstGeom>
      </dsp:spPr>
      <dsp:style>
        <a:lnRef idx="2">
          <a:schemeClr val="accent2">
            <a:hueOff val="-1500000"/>
            <a:satOff val="-83921"/>
            <a:lumOff val="8627"/>
            <a:alpha val="100000"/>
          </a:schemeClr>
        </a:lnRef>
        <a:fillRef idx="1">
          <a:schemeClr val="lt1"/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altLang="zh-CN" dirty="0" smtClean="0">
            <a:solidFill>
              <a:schemeClr val="dk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altLang="zh-CN" dirty="0" smtClean="0">
            <a:solidFill>
              <a:schemeClr val="dk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 smtClean="0">
              <a:solidFill>
                <a:schemeClr val="dk1"/>
              </a:solidFill>
            </a:rPr>
            <a:t>	</a:t>
          </a:r>
          <a:r>
            <a:rPr lang="zh-CN" altLang="en-US" dirty="0" smtClean="0">
              <a:solidFill>
                <a:schemeClr val="dk1"/>
              </a:solidFill>
            </a:rPr>
            <a:t>√   数联魔方</a:t>
          </a:r>
          <a:endParaRPr lang="zh-CN" altLang="en-US" dirty="0">
            <a:solidFill>
              <a:schemeClr val="dk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dk1"/>
              </a:solidFill>
            </a:rPr>
            <a:t>                √   航天云网</a:t>
          </a:r>
          <a:endParaRPr lang="en-US" altLang="zh-CN" dirty="0" smtClean="0">
            <a:solidFill>
              <a:schemeClr val="dk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dk1"/>
              </a:solidFill>
            </a:rPr>
            <a:t>                √   海通安恒</a:t>
          </a:r>
          <a:endParaRPr lang="en-US" altLang="zh-CN" dirty="0" smtClean="0">
            <a:solidFill>
              <a:schemeClr val="dk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 smtClean="0">
              <a:solidFill>
                <a:schemeClr val="dk1"/>
              </a:solidFill>
            </a:rPr>
            <a:t>                </a:t>
          </a:r>
          <a:endParaRPr lang="zh-CN" altLang="en-US" dirty="0">
            <a:solidFill>
              <a:schemeClr val="dk1"/>
            </a:solidFill>
          </a:endParaRPr>
        </a:p>
      </dsp:txBody>
      <dsp:txXfrm>
        <a:off x="4117125" y="2055421"/>
        <a:ext cx="4117125" cy="28971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797550" y="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6A4035-4A2F-470F-8BEC-BF82A49167F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748463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797550" y="6748463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D6332-A8C3-46ED-9D95-F1C0F61D7A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861" cy="3564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7066" y="0"/>
            <a:ext cx="4434861" cy="3564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85226" y="887968"/>
            <a:ext cx="4263842" cy="239751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3430" y="3418677"/>
            <a:ext cx="8187436" cy="2797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747325"/>
            <a:ext cx="4434861" cy="3564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7066" y="6747325"/>
            <a:ext cx="4434861" cy="3564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tags" Target="../tags/tag4.xml"/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tags" Target="../tags/tag6.xml"/><Relationship Id="rId3" Type="http://schemas.openxmlformats.org/officeDocument/2006/relationships/image" Target="../media/image1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6756" y="984048"/>
            <a:ext cx="8020533" cy="2093364"/>
          </a:xfrm>
        </p:spPr>
        <p:txBody>
          <a:bodyPr anchor="b"/>
          <a:lstStyle>
            <a:lvl1pPr algn="ctr">
              <a:defRPr sz="526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36756" y="3158140"/>
            <a:ext cx="8020533" cy="1451715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685" indent="0" algn="ctr">
              <a:buNone/>
              <a:defRPr sz="1755"/>
            </a:lvl2pPr>
            <a:lvl3pPr marL="801370" indent="0" algn="ctr">
              <a:buNone/>
              <a:defRPr sz="1575"/>
            </a:lvl3pPr>
            <a:lvl4pPr marL="1202055" indent="0" algn="ctr">
              <a:buNone/>
              <a:defRPr sz="1400"/>
            </a:lvl4pPr>
            <a:lvl5pPr marL="1604010" indent="0" algn="ctr">
              <a:buNone/>
              <a:defRPr sz="1400"/>
            </a:lvl5pPr>
            <a:lvl6pPr marL="2004695" indent="0" algn="ctr">
              <a:buNone/>
              <a:defRPr sz="1400"/>
            </a:lvl6pPr>
            <a:lvl7pPr marL="2404745" indent="0" algn="ctr">
              <a:buNone/>
              <a:defRPr sz="1400"/>
            </a:lvl7pPr>
            <a:lvl8pPr marL="2805430" indent="0" algn="ctr">
              <a:buNone/>
              <a:defRPr sz="1400"/>
            </a:lvl8pPr>
            <a:lvl9pPr marL="3206115" indent="0" algn="ctr">
              <a:buNone/>
              <a:defRPr sz="14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5216" y="5573025"/>
            <a:ext cx="2406160" cy="320129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42402" y="5573025"/>
            <a:ext cx="3609240" cy="32012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52669" y="5573025"/>
            <a:ext cx="2406160" cy="320129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915374" y="4922696"/>
            <a:ext cx="13398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smtClean="0">
                <a:solidFill>
                  <a:srgbClr val="C39C5F"/>
                </a:solidFill>
              </a:rPr>
              <a:t>PM&amp;PM:</a:t>
            </a:r>
            <a:r>
              <a:rPr lang="zh-CN" altLang="en-US" sz="1600" smtClean="0">
                <a:solidFill>
                  <a:srgbClr val="C39C5F"/>
                </a:solidFill>
              </a:rPr>
              <a:t>桑坤</a:t>
            </a:r>
            <a:endParaRPr lang="zh-CN" altLang="en-US" sz="1600" dirty="0">
              <a:solidFill>
                <a:srgbClr val="C39C5F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5216" y="5573025"/>
            <a:ext cx="2406160" cy="320129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42402" y="5573025"/>
            <a:ext cx="3609240" cy="32012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52669" y="5573025"/>
            <a:ext cx="2406160" cy="320129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646" y="1499038"/>
            <a:ext cx="9223615" cy="2501180"/>
          </a:xfrm>
        </p:spPr>
        <p:txBody>
          <a:bodyPr anchor="b"/>
          <a:lstStyle>
            <a:lvl1pPr>
              <a:defRPr sz="526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646" y="4023880"/>
            <a:ext cx="9223615" cy="1315312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1pPr>
            <a:lvl2pPr marL="400685" indent="0">
              <a:buNone/>
              <a:defRPr sz="1755">
                <a:solidFill>
                  <a:schemeClr val="tx1">
                    <a:tint val="75000"/>
                  </a:schemeClr>
                </a:solidFill>
              </a:defRPr>
            </a:lvl2pPr>
            <a:lvl3pPr marL="80137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3pPr>
            <a:lvl4pPr marL="120205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60401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0046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4047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8054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2061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5216" y="5573025"/>
            <a:ext cx="2406160" cy="320129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42402" y="5573025"/>
            <a:ext cx="3609240" cy="32012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52669" y="5573025"/>
            <a:ext cx="2406160" cy="320129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5216" y="1600644"/>
            <a:ext cx="4544969" cy="3815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13860" y="1600644"/>
            <a:ext cx="4544969" cy="3815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735216" y="5573025"/>
            <a:ext cx="2406160" cy="320129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2402" y="5573025"/>
            <a:ext cx="3609240" cy="32012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552669" y="5573025"/>
            <a:ext cx="2406160" cy="320129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608" y="320129"/>
            <a:ext cx="9223615" cy="116220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40963" y="1559272"/>
            <a:ext cx="4274788" cy="722378"/>
          </a:xfrm>
        </p:spPr>
        <p:txBody>
          <a:bodyPr anchor="ctr" anchorCtr="0"/>
          <a:lstStyle>
            <a:lvl1pPr marL="0" indent="0">
              <a:buNone/>
              <a:defRPr sz="2460"/>
            </a:lvl1pPr>
            <a:lvl2pPr marL="400685" indent="0">
              <a:buNone/>
              <a:defRPr sz="2105"/>
            </a:lvl2pPr>
            <a:lvl3pPr marL="801370" indent="0">
              <a:buNone/>
              <a:defRPr sz="1755"/>
            </a:lvl3pPr>
            <a:lvl4pPr marL="1202055" indent="0">
              <a:buNone/>
              <a:defRPr sz="1575"/>
            </a:lvl4pPr>
            <a:lvl5pPr marL="1604010" indent="0">
              <a:buNone/>
              <a:defRPr sz="1575"/>
            </a:lvl5pPr>
            <a:lvl6pPr marL="2004695" indent="0">
              <a:buNone/>
              <a:defRPr sz="1575"/>
            </a:lvl6pPr>
            <a:lvl7pPr marL="2404745" indent="0">
              <a:buNone/>
              <a:defRPr sz="1575"/>
            </a:lvl7pPr>
            <a:lvl8pPr marL="2805430" indent="0">
              <a:buNone/>
              <a:defRPr sz="1575"/>
            </a:lvl8pPr>
            <a:lvl9pPr marL="3206115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40963" y="2336911"/>
            <a:ext cx="4274788" cy="30899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88187" y="1559272"/>
            <a:ext cx="4295842" cy="722378"/>
          </a:xfrm>
        </p:spPr>
        <p:txBody>
          <a:bodyPr anchor="ctr" anchorCtr="0"/>
          <a:lstStyle>
            <a:lvl1pPr marL="0" indent="0">
              <a:buNone/>
              <a:defRPr sz="2460"/>
            </a:lvl1pPr>
            <a:lvl2pPr marL="400685" indent="0">
              <a:buNone/>
              <a:defRPr sz="2105"/>
            </a:lvl2pPr>
            <a:lvl3pPr marL="801370" indent="0">
              <a:buNone/>
              <a:defRPr sz="1755"/>
            </a:lvl3pPr>
            <a:lvl4pPr marL="1202055" indent="0">
              <a:buNone/>
              <a:defRPr sz="1575"/>
            </a:lvl4pPr>
            <a:lvl5pPr marL="1604010" indent="0">
              <a:buNone/>
              <a:defRPr sz="1575"/>
            </a:lvl5pPr>
            <a:lvl6pPr marL="2004695" indent="0">
              <a:buNone/>
              <a:defRPr sz="1575"/>
            </a:lvl6pPr>
            <a:lvl7pPr marL="2404745" indent="0">
              <a:buNone/>
              <a:defRPr sz="1575"/>
            </a:lvl7pPr>
            <a:lvl8pPr marL="2805430" indent="0">
              <a:buNone/>
              <a:defRPr sz="1575"/>
            </a:lvl8pPr>
            <a:lvl9pPr marL="3206115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88187" y="2336911"/>
            <a:ext cx="4295842" cy="30899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735216" y="5573025"/>
            <a:ext cx="2406160" cy="320129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542402" y="5573025"/>
            <a:ext cx="3609240" cy="32012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7552669" y="5573025"/>
            <a:ext cx="2406160" cy="320129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735216" y="5573025"/>
            <a:ext cx="2406160" cy="320129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542402" y="5573025"/>
            <a:ext cx="3609240" cy="32012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552669" y="5573025"/>
            <a:ext cx="2406160" cy="320129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608" y="400857"/>
            <a:ext cx="3653579" cy="1402999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6363" y="400857"/>
            <a:ext cx="5413860" cy="4737906"/>
          </a:xfrm>
        </p:spPr>
        <p:txBody>
          <a:bodyPr/>
          <a:lstStyle>
            <a:lvl1pPr marL="0" indent="0">
              <a:buNone/>
              <a:defRPr sz="2800"/>
            </a:lvl1pPr>
            <a:lvl2pPr marL="400685" indent="0">
              <a:buNone/>
              <a:defRPr sz="2460"/>
            </a:lvl2pPr>
            <a:lvl3pPr marL="801370" indent="0">
              <a:buNone/>
              <a:defRPr sz="2105"/>
            </a:lvl3pPr>
            <a:lvl4pPr marL="1202055" indent="0">
              <a:buNone/>
              <a:defRPr sz="1755"/>
            </a:lvl4pPr>
            <a:lvl5pPr marL="1604010" indent="0">
              <a:buNone/>
              <a:defRPr sz="1755"/>
            </a:lvl5pPr>
            <a:lvl6pPr marL="2004695" indent="0">
              <a:buNone/>
              <a:defRPr sz="1755"/>
            </a:lvl6pPr>
            <a:lvl7pPr marL="2404745" indent="0">
              <a:buNone/>
              <a:defRPr sz="1755"/>
            </a:lvl7pPr>
            <a:lvl8pPr marL="2805430" indent="0">
              <a:buNone/>
              <a:defRPr sz="1755"/>
            </a:lvl8pPr>
            <a:lvl9pPr marL="3206115" indent="0">
              <a:buNone/>
              <a:defRPr sz="17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608" y="1803856"/>
            <a:ext cx="3653579" cy="3341866"/>
          </a:xfrm>
        </p:spPr>
        <p:txBody>
          <a:bodyPr/>
          <a:lstStyle>
            <a:lvl1pPr marL="0" indent="0">
              <a:buNone/>
              <a:defRPr sz="1755"/>
            </a:lvl1pPr>
            <a:lvl2pPr marL="400685" indent="0">
              <a:buNone/>
              <a:defRPr sz="1575"/>
            </a:lvl2pPr>
            <a:lvl3pPr marL="801370" indent="0">
              <a:buNone/>
              <a:defRPr sz="1400"/>
            </a:lvl3pPr>
            <a:lvl4pPr marL="1202055" indent="0">
              <a:buNone/>
              <a:defRPr sz="1225"/>
            </a:lvl4pPr>
            <a:lvl5pPr marL="1604010" indent="0">
              <a:buNone/>
              <a:defRPr sz="1225"/>
            </a:lvl5pPr>
            <a:lvl6pPr marL="2004695" indent="0">
              <a:buNone/>
              <a:defRPr sz="1225"/>
            </a:lvl6pPr>
            <a:lvl7pPr marL="2404745" indent="0">
              <a:buNone/>
              <a:defRPr sz="1225"/>
            </a:lvl7pPr>
            <a:lvl8pPr marL="2805430" indent="0">
              <a:buNone/>
              <a:defRPr sz="1225"/>
            </a:lvl8pPr>
            <a:lvl9pPr marL="3206115" indent="0">
              <a:buNone/>
              <a:defRPr sz="12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735216" y="5573025"/>
            <a:ext cx="2406160" cy="320129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2402" y="5573025"/>
            <a:ext cx="3609240" cy="32012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552669" y="5573025"/>
            <a:ext cx="2406160" cy="320129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52926" y="320129"/>
            <a:ext cx="2305903" cy="50956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5216" y="320129"/>
            <a:ext cx="6784034" cy="50956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5216" y="5573025"/>
            <a:ext cx="2406160" cy="320129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42402" y="5573025"/>
            <a:ext cx="3609240" cy="32012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52669" y="5573025"/>
            <a:ext cx="2406160" cy="320129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735216" y="320129"/>
            <a:ext cx="9223615" cy="50956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735216" y="5573025"/>
            <a:ext cx="2406160" cy="320129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542402" y="5573025"/>
            <a:ext cx="3609240" cy="32012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552669" y="5573025"/>
            <a:ext cx="2406160" cy="320129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5216" y="5573025"/>
            <a:ext cx="2406160" cy="320129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42402" y="5573025"/>
            <a:ext cx="3609240" cy="32012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552669" y="5573025"/>
            <a:ext cx="2406160" cy="320129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11" y="102238"/>
            <a:ext cx="8548966" cy="694322"/>
          </a:xfrm>
          <a:prstGeom prst="rect">
            <a:avLst/>
          </a:prstGeom>
        </p:spPr>
        <p:txBody>
          <a:bodyPr anchor="ctr"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/>
          <p:cNvSpPr txBox="1">
            <a:spLocks noChangeArrowheads="1"/>
          </p:cNvSpPr>
          <p:nvPr userDrawn="1"/>
        </p:nvSpPr>
        <p:spPr bwMode="auto">
          <a:xfrm>
            <a:off x="458980" y="0"/>
            <a:ext cx="276545" cy="9817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5785" dirty="0">
                <a:solidFill>
                  <a:srgbClr val="C00000"/>
                </a:solidFill>
                <a:latin typeface="Impact" panose="020B0806030902050204" pitchFamily="34" charset="0"/>
              </a:rPr>
              <a:t>7</a:t>
            </a:r>
            <a:endParaRPr lang="zh-CN" altLang="en-US" sz="5785" dirty="0">
              <a:solidFill>
                <a:srgbClr val="C000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88148" y="670891"/>
            <a:ext cx="9713470" cy="780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832" tIns="53415" rIns="106832" bIns="53415" anchor="ctr"/>
          <a:lstStyle/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580"/>
          </a:p>
        </p:txBody>
      </p:sp>
      <p:sp>
        <p:nvSpPr>
          <p:cNvPr id="10" name="矩形 9"/>
          <p:cNvSpPr/>
          <p:nvPr userDrawn="1"/>
        </p:nvSpPr>
        <p:spPr>
          <a:xfrm>
            <a:off x="-20453" y="673428"/>
            <a:ext cx="460053" cy="780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832" tIns="53415" rIns="106832" bIns="53415" anchor="ctr"/>
          <a:lstStyle/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58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8377357" y="12314"/>
            <a:ext cx="2316832" cy="835241"/>
            <a:chOff x="9956517" y="28498"/>
            <a:chExt cx="2236650" cy="737000"/>
          </a:xfrm>
        </p:grpSpPr>
        <p:sp>
          <p:nvSpPr>
            <p:cNvPr id="7" name="矩形 6"/>
            <p:cNvSpPr/>
            <p:nvPr/>
          </p:nvSpPr>
          <p:spPr>
            <a:xfrm>
              <a:off x="10135398" y="59273"/>
              <a:ext cx="1981710" cy="5446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580" dirty="0">
                <a:latin typeface="Source Han Sans CN Normal" panose="02000503000000000000" pitchFamily="34" charset="-128"/>
                <a:ea typeface="Source Han Sans CN Normal" panose="02000503000000000000" pitchFamily="34" charset="-128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56517" y="28498"/>
              <a:ext cx="2236650" cy="7370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>
        <p:random/>
      </p:transition>
    </mc:Choice>
    <mc:Fallback>
      <p:transition spd="slow" advClick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2.png"/><Relationship Id="rId15" Type="http://schemas.openxmlformats.org/officeDocument/2006/relationships/image" Target="../media/image1.png"/><Relationship Id="rId14" Type="http://schemas.openxmlformats.org/officeDocument/2006/relationships/image" Target="../media/image4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5" Type="http://schemas.openxmlformats.org/officeDocument/2006/relationships/theme" Target="../theme/theme4.xml"/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D:\Users\zhh2\Desktop\文件\联络函\对外\CorelSDK_0003.JPGCorelSDK_0003"/>
          <p:cNvPicPr>
            <a:picLocks noChangeAspect="1"/>
          </p:cNvPicPr>
          <p:nvPr userDrawn="1"/>
        </p:nvPicPr>
        <p:blipFill>
          <a:blip r:embed="rId14"/>
          <a:srcRect/>
          <a:stretch>
            <a:fillRect/>
          </a:stretch>
        </p:blipFill>
        <p:spPr>
          <a:xfrm>
            <a:off x="0" y="-317"/>
            <a:ext cx="10689590" cy="601218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216" y="539204"/>
            <a:ext cx="9223615" cy="116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330" y="1800860"/>
            <a:ext cx="9223375" cy="3653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746354" y="5666282"/>
            <a:ext cx="3335312" cy="232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l" defTabSz="80137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00025" indent="-200025" algn="l" defTabSz="801370" rtl="0" eaLnBrk="1" latinLnBrk="0" hangingPunct="1">
        <a:lnSpc>
          <a:spcPct val="90000"/>
        </a:lnSpc>
        <a:spcBef>
          <a:spcPct val="175000"/>
        </a:spcBef>
        <a:buFont typeface="Arial" panose="020B0604020202020204" pitchFamily="34" charset="0"/>
        <a:buChar char="•"/>
        <a:defRPr sz="246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0071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210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0139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75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40335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80403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20472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60540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300609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40677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40068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80137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0205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0401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00469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40474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80543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D:\Users\zhh2\Desktop\文件\联络函\对外\CorelSDK_0003.JPGCorelSDK_000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-317"/>
            <a:ext cx="10689590" cy="601218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216" y="539204"/>
            <a:ext cx="9223615" cy="116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330" y="1800860"/>
            <a:ext cx="9223375" cy="3653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746354" y="5666282"/>
            <a:ext cx="3335312" cy="232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iming>
    <p:tnLst>
      <p:par>
        <p:cTn id="1" dur="indefinite" restart="never" nodeType="tmRoot"/>
      </p:par>
    </p:tnLst>
  </p:timing>
  <p:txStyles>
    <p:titleStyle>
      <a:lvl1pPr algn="l" defTabSz="80137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00025" indent="-200025" algn="l" defTabSz="801370" rtl="0" eaLnBrk="1" latinLnBrk="0" hangingPunct="1">
        <a:lnSpc>
          <a:spcPct val="90000"/>
        </a:lnSpc>
        <a:spcBef>
          <a:spcPct val="175000"/>
        </a:spcBef>
        <a:buFont typeface="Arial" panose="020B0604020202020204" pitchFamily="34" charset="0"/>
        <a:buChar char="•"/>
        <a:defRPr sz="246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0071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210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0139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75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40335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80403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20472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60540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300609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40677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40068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80137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0205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0401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00469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40474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80543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D:\Users\zhh2\Desktop\文件\联络函\对外\CorelSDK_0003.JPGCorelSDK_000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-317"/>
            <a:ext cx="10689590" cy="601218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216" y="539204"/>
            <a:ext cx="9223615" cy="116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330" y="1800860"/>
            <a:ext cx="9223375" cy="3653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746354" y="5666282"/>
            <a:ext cx="3335312" cy="232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iming>
    <p:tnLst>
      <p:par>
        <p:cTn id="1" dur="indefinite" restart="never" nodeType="tmRoot"/>
      </p:par>
    </p:tnLst>
  </p:timing>
  <p:txStyles>
    <p:titleStyle>
      <a:lvl1pPr algn="l" defTabSz="80137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00025" indent="-200025" algn="l" defTabSz="801370" rtl="0" eaLnBrk="1" latinLnBrk="0" hangingPunct="1">
        <a:lnSpc>
          <a:spcPct val="90000"/>
        </a:lnSpc>
        <a:spcBef>
          <a:spcPct val="175000"/>
        </a:spcBef>
        <a:buFont typeface="Arial" panose="020B0604020202020204" pitchFamily="34" charset="0"/>
        <a:buChar char="•"/>
        <a:defRPr sz="246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0071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210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0139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75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40335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80403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20472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60540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300609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40677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40068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80137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0205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0401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00469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40474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80543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D:\Users\zhh2\Desktop\文件\联络函\对外\CorelSDK_0003.JPGCorelSDK_000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-317"/>
            <a:ext cx="10689590" cy="601218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216" y="539204"/>
            <a:ext cx="9223615" cy="116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330" y="1800860"/>
            <a:ext cx="9223375" cy="3653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55749" y="185197"/>
            <a:ext cx="1390433" cy="447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1" y="248070"/>
            <a:ext cx="975541" cy="321928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746354" y="5666282"/>
            <a:ext cx="3335312" cy="232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iming>
    <p:tnLst>
      <p:par>
        <p:cTn id="1" dur="indefinite" restart="never" nodeType="tmRoot"/>
      </p:par>
    </p:tnLst>
  </p:timing>
  <p:txStyles>
    <p:titleStyle>
      <a:lvl1pPr algn="l" defTabSz="80137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00025" indent="-200025" algn="l" defTabSz="801370" rtl="0" eaLnBrk="1" latinLnBrk="0" hangingPunct="1">
        <a:lnSpc>
          <a:spcPct val="90000"/>
        </a:lnSpc>
        <a:spcBef>
          <a:spcPct val="175000"/>
        </a:spcBef>
        <a:buFont typeface="Arial" panose="020B0604020202020204" pitchFamily="34" charset="0"/>
        <a:buChar char="•"/>
        <a:defRPr sz="246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0071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210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0139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75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40335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80403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20472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60540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3006090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406775" indent="-200025" algn="l" defTabSz="801370" rtl="0" eaLnBrk="1" latinLnBrk="0" hangingPunct="1">
        <a:lnSpc>
          <a:spcPct val="90000"/>
        </a:lnSpc>
        <a:spcBef>
          <a:spcPct val="88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40068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80137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0205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0401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00469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40474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805430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algn="l" defTabSz="80137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7.xml"/><Relationship Id="rId20" Type="http://schemas.openxmlformats.org/officeDocument/2006/relationships/tags" Target="../tags/tag26.xml"/><Relationship Id="rId2" Type="http://schemas.openxmlformats.org/officeDocument/2006/relationships/tags" Target="../tags/tag8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2" Type="http://schemas.openxmlformats.org/officeDocument/2006/relationships/slideLayout" Target="../slideLayouts/slideLayout14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6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10.png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79.xml"/><Relationship Id="rId2" Type="http://schemas.openxmlformats.org/officeDocument/2006/relationships/tags" Target="../tags/tag65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image" Target="../media/image13.svg"/><Relationship Id="rId16" Type="http://schemas.openxmlformats.org/officeDocument/2006/relationships/image" Target="../media/image12.png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tags" Target="../tags/tag6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9" Type="http://schemas.openxmlformats.org/officeDocument/2006/relationships/slideLayout" Target="../slideLayouts/slideLayout16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tags" Target="../tags/tag8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98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image" Target="../media/image16.png"/><Relationship Id="rId3" Type="http://schemas.openxmlformats.org/officeDocument/2006/relationships/tags" Target="../tags/tag110.xml"/><Relationship Id="rId2" Type="http://schemas.openxmlformats.org/officeDocument/2006/relationships/image" Target="../media/image15.png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Users\zhh2\Desktop\文件\联络函\对外\CorelSDK_0001.JPGCorelSDK_000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163" y="123"/>
            <a:ext cx="10686415" cy="60096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875345" y="2159327"/>
            <a:ext cx="4919937" cy="1691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195" dirty="0" smtClean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欧神诺</a:t>
            </a:r>
            <a:r>
              <a:rPr lang="en-US" altLang="zh-CN" sz="5195" dirty="0" smtClean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MES</a:t>
            </a:r>
            <a:r>
              <a:rPr lang="zh-CN" altLang="en-US" sz="5195" dirty="0" smtClean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endParaRPr lang="en-US" altLang="zh-CN" sz="5195" dirty="0" smtClean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5195" dirty="0" smtClean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立项报告</a:t>
            </a:r>
            <a:endParaRPr lang="zh-CN" altLang="zh-CN" sz="5195" dirty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43925" y="3877582"/>
            <a:ext cx="120396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C39C5F"/>
                </a:solidFill>
              </a:rPr>
              <a:t>版本：</a:t>
            </a:r>
            <a:r>
              <a:rPr lang="en-US" sz="1600" dirty="0" smtClean="0">
                <a:solidFill>
                  <a:srgbClr val="C39C5F"/>
                </a:solidFill>
              </a:rPr>
              <a:t>1.0.0</a:t>
            </a:r>
            <a:endParaRPr lang="en-US" sz="1600" dirty="0">
              <a:solidFill>
                <a:srgbClr val="C39C5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00" y="1006243"/>
            <a:ext cx="1659026" cy="91104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925" y="1172346"/>
            <a:ext cx="1203960" cy="3973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936523" y="722671"/>
            <a:ext cx="1887793" cy="4203290"/>
          </a:xfrm>
          <a:prstGeom prst="rect">
            <a:avLst/>
          </a:prstGeom>
          <a:noFill/>
          <a:ln w="28575">
            <a:solidFill>
              <a:srgbClr val="C39C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11"/>
          <p:cNvSpPr txBox="1"/>
          <p:nvPr/>
        </p:nvSpPr>
        <p:spPr bwMode="auto">
          <a:xfrm>
            <a:off x="2040505" y="1600200"/>
            <a:ext cx="1567295" cy="1016000"/>
          </a:xfrm>
          <a:prstGeom prst="rect">
            <a:avLst/>
          </a:prstGeom>
          <a:solidFill>
            <a:srgbClr val="C39C5F"/>
          </a:solidFill>
        </p:spPr>
        <p:txBody>
          <a:bodyPr wrap="none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6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6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18"/>
          <p:cNvSpPr txBox="1"/>
          <p:nvPr/>
        </p:nvSpPr>
        <p:spPr>
          <a:xfrm>
            <a:off x="4779892" y="2706262"/>
            <a:ext cx="3773805" cy="418465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2400" dirty="0" smtClean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二、项目</a:t>
            </a:r>
            <a:r>
              <a:rPr lang="zh-CN" altLang="en-US" sz="2400" dirty="0" smtClean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目标与范围</a:t>
            </a:r>
            <a:endParaRPr lang="zh-CN" altLang="en-US" sz="2400" dirty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8"/>
          <p:cNvSpPr txBox="1"/>
          <p:nvPr/>
        </p:nvSpPr>
        <p:spPr>
          <a:xfrm>
            <a:off x="4779818" y="1952448"/>
            <a:ext cx="3073400" cy="418523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2400" dirty="0" smtClean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一、项目背景</a:t>
            </a:r>
            <a:endParaRPr lang="zh-CN" altLang="en-US" sz="2400" dirty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2400" dirty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95456" y="2795401"/>
            <a:ext cx="1197764" cy="369332"/>
          </a:xfrm>
          <a:prstGeom prst="rect">
            <a:avLst/>
          </a:prstGeom>
          <a:solidFill>
            <a:srgbClr val="C39C5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CONTENTS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" name="文本框 18"/>
          <p:cNvSpPr txBox="1"/>
          <p:nvPr/>
        </p:nvSpPr>
        <p:spPr>
          <a:xfrm>
            <a:off x="4779816" y="3464400"/>
            <a:ext cx="3773805" cy="418465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2400" dirty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三</a:t>
            </a:r>
            <a:r>
              <a:rPr lang="zh-CN" altLang="en-US" sz="2400" dirty="0" smtClean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、调研过程</a:t>
            </a:r>
            <a:endParaRPr lang="zh-CN" altLang="en-US" sz="2400" dirty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36067" y="2129345"/>
            <a:ext cx="4185762" cy="89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195" dirty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一</a:t>
            </a:r>
            <a:r>
              <a:rPr lang="zh-CN" altLang="en-US" sz="5195" dirty="0" smtClean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、项目背景</a:t>
            </a:r>
            <a:endParaRPr lang="zh-CN" altLang="zh-CN" sz="5195" dirty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" name="open-office-folder_74337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2909268" y="4288754"/>
            <a:ext cx="430562" cy="317428"/>
          </a:xfrm>
          <a:custGeom>
            <a:avLst/>
            <a:gdLst>
              <a:gd name="connsiteX0" fmla="*/ 116997 w 605592"/>
              <a:gd name="connsiteY0" fmla="*/ 132804 h 446468"/>
              <a:gd name="connsiteX1" fmla="*/ 605592 w 605592"/>
              <a:gd name="connsiteY1" fmla="*/ 132804 h 446468"/>
              <a:gd name="connsiteX2" fmla="*/ 555359 w 605592"/>
              <a:gd name="connsiteY2" fmla="*/ 446468 h 446468"/>
              <a:gd name="connsiteX3" fmla="*/ 116997 w 605592"/>
              <a:gd name="connsiteY3" fmla="*/ 446468 h 446468"/>
              <a:gd name="connsiteX4" fmla="*/ 0 w 605592"/>
              <a:gd name="connsiteY4" fmla="*/ 0 h 446468"/>
              <a:gd name="connsiteX5" fmla="*/ 137120 w 605592"/>
              <a:gd name="connsiteY5" fmla="*/ 0 h 446468"/>
              <a:gd name="connsiteX6" fmla="*/ 153635 w 605592"/>
              <a:gd name="connsiteY6" fmla="*/ 27991 h 446468"/>
              <a:gd name="connsiteX7" fmla="*/ 438423 w 605592"/>
              <a:gd name="connsiteY7" fmla="*/ 27991 h 446468"/>
              <a:gd name="connsiteX8" fmla="*/ 438423 w 605592"/>
              <a:gd name="connsiteY8" fmla="*/ 91455 h 446468"/>
              <a:gd name="connsiteX9" fmla="*/ 69670 w 605592"/>
              <a:gd name="connsiteY9" fmla="*/ 91455 h 446468"/>
              <a:gd name="connsiteX10" fmla="*/ 69670 w 605592"/>
              <a:gd name="connsiteY10" fmla="*/ 446468 h 446468"/>
              <a:gd name="connsiteX11" fmla="*/ 0 w 605592"/>
              <a:gd name="connsiteY11" fmla="*/ 446468 h 44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5592" h="446468">
                <a:moveTo>
                  <a:pt x="116997" y="132804"/>
                </a:moveTo>
                <a:lnTo>
                  <a:pt x="605592" y="132804"/>
                </a:lnTo>
                <a:lnTo>
                  <a:pt x="555359" y="446468"/>
                </a:lnTo>
                <a:lnTo>
                  <a:pt x="116997" y="446468"/>
                </a:lnTo>
                <a:close/>
                <a:moveTo>
                  <a:pt x="0" y="0"/>
                </a:moveTo>
                <a:lnTo>
                  <a:pt x="137120" y="0"/>
                </a:lnTo>
                <a:lnTo>
                  <a:pt x="153635" y="27991"/>
                </a:lnTo>
                <a:lnTo>
                  <a:pt x="438423" y="27991"/>
                </a:lnTo>
                <a:lnTo>
                  <a:pt x="438423" y="91455"/>
                </a:lnTo>
                <a:lnTo>
                  <a:pt x="69670" y="91455"/>
                </a:lnTo>
                <a:lnTo>
                  <a:pt x="69670" y="446468"/>
                </a:lnTo>
                <a:lnTo>
                  <a:pt x="0" y="446468"/>
                </a:lnTo>
                <a:close/>
              </a:path>
            </a:pathLst>
          </a:custGeom>
          <a:solidFill>
            <a:srgbClr val="7E6000"/>
          </a:solidFill>
          <a:ln>
            <a:noFill/>
          </a:ln>
        </p:spPr>
        <p:txBody>
          <a:bodyPr/>
          <a:lstStyle/>
          <a:p>
            <a:endParaRPr lang="zh-CN" altLang="en-US" sz="158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: 形状 43"/>
          <p:cNvSpPr/>
          <p:nvPr>
            <p:custDataLst>
              <p:tags r:id="rId2"/>
            </p:custDataLst>
          </p:nvPr>
        </p:nvSpPr>
        <p:spPr>
          <a:xfrm>
            <a:off x="5809437" y="2153124"/>
            <a:ext cx="990895" cy="2466561"/>
          </a:xfrm>
          <a:custGeom>
            <a:avLst/>
            <a:gdLst>
              <a:gd name="connsiteX0" fmla="*/ 469597 w 1441073"/>
              <a:gd name="connsiteY0" fmla="*/ 0 h 3587156"/>
              <a:gd name="connsiteX1" fmla="*/ 509370 w 1441073"/>
              <a:gd name="connsiteY1" fmla="*/ 24364 h 3587156"/>
              <a:gd name="connsiteX2" fmla="*/ 1441073 w 1441073"/>
              <a:gd name="connsiteY2" fmla="*/ 1791265 h 3587156"/>
              <a:gd name="connsiteX3" fmla="*/ 839942 w 1441073"/>
              <a:gd name="connsiteY3" fmla="*/ 3279793 h 3587156"/>
              <a:gd name="connsiteX4" fmla="*/ 675483 w 1441073"/>
              <a:gd name="connsiteY4" fmla="*/ 3432322 h 3587156"/>
              <a:gd name="connsiteX5" fmla="*/ 763959 w 1441073"/>
              <a:gd name="connsiteY5" fmla="*/ 3587156 h 3587156"/>
              <a:gd name="connsiteX6" fmla="*/ 57881 w 1441073"/>
              <a:gd name="connsiteY6" fmla="*/ 3145131 h 3587156"/>
              <a:gd name="connsiteX7" fmla="*/ 49471 w 1441073"/>
              <a:gd name="connsiteY7" fmla="*/ 2336796 h 3587156"/>
              <a:gd name="connsiteX8" fmla="*/ 137601 w 1441073"/>
              <a:gd name="connsiteY8" fmla="*/ 2491025 h 3587156"/>
              <a:gd name="connsiteX9" fmla="*/ 162659 w 1441073"/>
              <a:gd name="connsiteY9" fmla="*/ 2462778 h 3587156"/>
              <a:gd name="connsiteX10" fmla="*/ 405457 w 1441073"/>
              <a:gd name="connsiteY10" fmla="*/ 1769866 h 3587156"/>
              <a:gd name="connsiteX11" fmla="*/ 18528 w 1441073"/>
              <a:gd name="connsiteY11" fmla="*/ 929290 h 3587156"/>
              <a:gd name="connsiteX12" fmla="*/ 0 w 1441073"/>
              <a:gd name="connsiteY12" fmla="*/ 915096 h 3587156"/>
              <a:gd name="connsiteX13" fmla="*/ 470549 w 1441073"/>
              <a:gd name="connsiteY13" fmla="*/ 602917 h 3587156"/>
              <a:gd name="connsiteX14" fmla="*/ 479363 w 1441073"/>
              <a:gd name="connsiteY14" fmla="*/ 602774 h 3587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41073" h="3587156">
                <a:moveTo>
                  <a:pt x="469597" y="0"/>
                </a:moveTo>
                <a:lnTo>
                  <a:pt x="509370" y="24364"/>
                </a:lnTo>
                <a:cubicBezTo>
                  <a:pt x="1071493" y="407286"/>
                  <a:pt x="1441073" y="1055757"/>
                  <a:pt x="1441073" y="1791265"/>
                </a:cubicBezTo>
                <a:cubicBezTo>
                  <a:pt x="1441073" y="2370479"/>
                  <a:pt x="1211876" y="2895714"/>
                  <a:pt x="839942" y="3279793"/>
                </a:cubicBezTo>
                <a:lnTo>
                  <a:pt x="675483" y="3432322"/>
                </a:lnTo>
                <a:lnTo>
                  <a:pt x="763959" y="3587156"/>
                </a:lnTo>
                <a:lnTo>
                  <a:pt x="57881" y="3145131"/>
                </a:lnTo>
                <a:lnTo>
                  <a:pt x="49471" y="2336796"/>
                </a:lnTo>
                <a:lnTo>
                  <a:pt x="137601" y="2491025"/>
                </a:lnTo>
                <a:lnTo>
                  <a:pt x="162659" y="2462778"/>
                </a:lnTo>
                <a:cubicBezTo>
                  <a:pt x="314340" y="2274478"/>
                  <a:pt x="405457" y="2033074"/>
                  <a:pt x="405457" y="1769866"/>
                </a:cubicBezTo>
                <a:cubicBezTo>
                  <a:pt x="405457" y="1431456"/>
                  <a:pt x="254835" y="1129088"/>
                  <a:pt x="18528" y="929290"/>
                </a:cubicBezTo>
                <a:lnTo>
                  <a:pt x="0" y="915096"/>
                </a:lnTo>
                <a:lnTo>
                  <a:pt x="470549" y="602917"/>
                </a:lnTo>
                <a:lnTo>
                  <a:pt x="479363" y="602774"/>
                </a:lnTo>
                <a:close/>
              </a:path>
            </a:pathLst>
          </a:custGeom>
          <a:solidFill>
            <a:srgbClr val="A98A68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58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: 形状 37"/>
          <p:cNvSpPr/>
          <p:nvPr>
            <p:custDataLst>
              <p:tags r:id="rId3"/>
            </p:custDataLst>
          </p:nvPr>
        </p:nvSpPr>
        <p:spPr>
          <a:xfrm rot="7086092">
            <a:off x="3848388" y="1884105"/>
            <a:ext cx="2318338" cy="1699574"/>
          </a:xfrm>
          <a:custGeom>
            <a:avLst/>
            <a:gdLst>
              <a:gd name="connsiteX0" fmla="*/ 408525 w 3371593"/>
              <a:gd name="connsiteY0" fmla="*/ 1357849 h 2471715"/>
              <a:gd name="connsiteX1" fmla="*/ 173911 w 3371593"/>
              <a:gd name="connsiteY1" fmla="*/ 604707 h 2471715"/>
              <a:gd name="connsiteX2" fmla="*/ 164013 w 3371593"/>
              <a:gd name="connsiteY2" fmla="*/ 409318 h 2471715"/>
              <a:gd name="connsiteX3" fmla="*/ 0 w 3371593"/>
              <a:gd name="connsiteY3" fmla="*/ 409963 h 2471715"/>
              <a:gd name="connsiteX4" fmla="*/ 687323 w 3371593"/>
              <a:gd name="connsiteY4" fmla="*/ 0 h 2471715"/>
              <a:gd name="connsiteX5" fmla="*/ 1142445 w 3371593"/>
              <a:gd name="connsiteY5" fmla="*/ 263142 h 2471715"/>
              <a:gd name="connsiteX6" fmla="*/ 1183519 w 3371593"/>
              <a:gd name="connsiteY6" fmla="*/ 285292 h 2471715"/>
              <a:gd name="connsiteX7" fmla="*/ 1183417 w 3371593"/>
              <a:gd name="connsiteY7" fmla="*/ 286831 h 2471715"/>
              <a:gd name="connsiteX8" fmla="*/ 1386941 w 3371593"/>
              <a:gd name="connsiteY8" fmla="*/ 404505 h 2471715"/>
              <a:gd name="connsiteX9" fmla="*/ 1181054 w 3371593"/>
              <a:gd name="connsiteY9" fmla="*/ 405315 h 2471715"/>
              <a:gd name="connsiteX10" fmla="*/ 1184606 w 3371593"/>
              <a:gd name="connsiteY10" fmla="*/ 485191 h 2471715"/>
              <a:gd name="connsiteX11" fmla="*/ 1301598 w 3371593"/>
              <a:gd name="connsiteY11" fmla="*/ 864693 h 2471715"/>
              <a:gd name="connsiteX12" fmla="*/ 2662508 w 3371593"/>
              <a:gd name="connsiteY12" fmla="*/ 1337122 h 2471715"/>
              <a:gd name="connsiteX13" fmla="*/ 2745586 w 3371593"/>
              <a:gd name="connsiteY13" fmla="*/ 1297887 h 2471715"/>
              <a:gd name="connsiteX14" fmla="*/ 2799626 w 3371593"/>
              <a:gd name="connsiteY14" fmla="*/ 1862057 h 2471715"/>
              <a:gd name="connsiteX15" fmla="*/ 2795602 w 3371593"/>
              <a:gd name="connsiteY15" fmla="*/ 1869898 h 2471715"/>
              <a:gd name="connsiteX16" fmla="*/ 3371593 w 3371593"/>
              <a:gd name="connsiteY16" fmla="*/ 2165436 h 2471715"/>
              <a:gd name="connsiteX17" fmla="*/ 3283549 w 3371593"/>
              <a:gd name="connsiteY17" fmla="*/ 2218272 h 2471715"/>
              <a:gd name="connsiteX18" fmla="*/ 408525 w 3371593"/>
              <a:gd name="connsiteY18" fmla="*/ 1357849 h 247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71593" h="2471715">
                <a:moveTo>
                  <a:pt x="408525" y="1357849"/>
                </a:moveTo>
                <a:cubicBezTo>
                  <a:pt x="279678" y="1116556"/>
                  <a:pt x="202775" y="861285"/>
                  <a:pt x="173911" y="604707"/>
                </a:cubicBezTo>
                <a:lnTo>
                  <a:pt x="164013" y="409318"/>
                </a:lnTo>
                <a:lnTo>
                  <a:pt x="0" y="409963"/>
                </a:lnTo>
                <a:lnTo>
                  <a:pt x="687323" y="0"/>
                </a:lnTo>
                <a:lnTo>
                  <a:pt x="1142445" y="263142"/>
                </a:lnTo>
                <a:lnTo>
                  <a:pt x="1183519" y="285292"/>
                </a:lnTo>
                <a:lnTo>
                  <a:pt x="1183417" y="286831"/>
                </a:lnTo>
                <a:lnTo>
                  <a:pt x="1386941" y="404505"/>
                </a:lnTo>
                <a:lnTo>
                  <a:pt x="1181054" y="405315"/>
                </a:lnTo>
                <a:lnTo>
                  <a:pt x="1184606" y="485191"/>
                </a:lnTo>
                <a:cubicBezTo>
                  <a:pt x="1198449" y="614649"/>
                  <a:pt x="1236769" y="743287"/>
                  <a:pt x="1301598" y="864693"/>
                </a:cubicBezTo>
                <a:cubicBezTo>
                  <a:pt x="1560913" y="1350316"/>
                  <a:pt x="2152316" y="1547831"/>
                  <a:pt x="2662508" y="1337122"/>
                </a:cubicBezTo>
                <a:lnTo>
                  <a:pt x="2745586" y="1297887"/>
                </a:lnTo>
                <a:lnTo>
                  <a:pt x="2799626" y="1862057"/>
                </a:lnTo>
                <a:lnTo>
                  <a:pt x="2795602" y="1869898"/>
                </a:lnTo>
                <a:lnTo>
                  <a:pt x="3371593" y="2165436"/>
                </a:lnTo>
                <a:lnTo>
                  <a:pt x="3283549" y="2218272"/>
                </a:lnTo>
                <a:cubicBezTo>
                  <a:pt x="2245464" y="2772594"/>
                  <a:pt x="958272" y="2387369"/>
                  <a:pt x="408525" y="1357849"/>
                </a:cubicBezTo>
                <a:close/>
              </a:path>
            </a:pathLst>
          </a:custGeom>
          <a:solidFill>
            <a:srgbClr val="C49B6D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158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: 形状 41"/>
          <p:cNvSpPr/>
          <p:nvPr>
            <p:custDataLst>
              <p:tags r:id="rId4"/>
            </p:custDataLst>
          </p:nvPr>
        </p:nvSpPr>
        <p:spPr>
          <a:xfrm rot="21129011">
            <a:off x="3874965" y="3187604"/>
            <a:ext cx="2208408" cy="1718802"/>
          </a:xfrm>
          <a:custGeom>
            <a:avLst/>
            <a:gdLst>
              <a:gd name="connsiteX0" fmla="*/ 737885 w 3211721"/>
              <a:gd name="connsiteY0" fmla="*/ 0 h 2499680"/>
              <a:gd name="connsiteX1" fmla="*/ 1440034 w 3211721"/>
              <a:gd name="connsiteY1" fmla="*/ 400579 h 2499680"/>
              <a:gd name="connsiteX2" fmla="*/ 1226190 w 3211721"/>
              <a:gd name="connsiteY2" fmla="*/ 398503 h 2499680"/>
              <a:gd name="connsiteX3" fmla="*/ 1232619 w 3211721"/>
              <a:gd name="connsiteY3" fmla="*/ 518686 h 2499680"/>
              <a:gd name="connsiteX4" fmla="*/ 2136050 w 3211721"/>
              <a:gd name="connsiteY4" fmla="*/ 1428820 h 2499680"/>
              <a:gd name="connsiteX5" fmla="*/ 2750368 w 3211721"/>
              <a:gd name="connsiteY5" fmla="*/ 1325717 h 2499680"/>
              <a:gd name="connsiteX6" fmla="*/ 2786722 w 3211721"/>
              <a:gd name="connsiteY6" fmla="*/ 1305060 h 2499680"/>
              <a:gd name="connsiteX7" fmla="*/ 2713583 w 3211721"/>
              <a:gd name="connsiteY7" fmla="*/ 1835554 h 2499680"/>
              <a:gd name="connsiteX8" fmla="*/ 2707861 w 3211721"/>
              <a:gd name="connsiteY8" fmla="*/ 1842259 h 2499680"/>
              <a:gd name="connsiteX9" fmla="*/ 3211721 w 3211721"/>
              <a:gd name="connsiteY9" fmla="*/ 2272342 h 2499680"/>
              <a:gd name="connsiteX10" fmla="*/ 3196825 w 3211721"/>
              <a:gd name="connsiteY10" fmla="*/ 2280655 h 2499680"/>
              <a:gd name="connsiteX11" fmla="*/ 1976668 w 3211721"/>
              <a:gd name="connsiteY11" fmla="*/ 2479785 h 2499680"/>
              <a:gd name="connsiteX12" fmla="*/ 158141 w 3211721"/>
              <a:gd name="connsiteY12" fmla="*/ 511596 h 2499680"/>
              <a:gd name="connsiteX13" fmla="*/ 156509 w 3211721"/>
              <a:gd name="connsiteY13" fmla="*/ 388118 h 2499680"/>
              <a:gd name="connsiteX14" fmla="*/ 0 w 3211721"/>
              <a:gd name="connsiteY14" fmla="*/ 386598 h 249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11721" h="2499680">
                <a:moveTo>
                  <a:pt x="737885" y="0"/>
                </a:moveTo>
                <a:lnTo>
                  <a:pt x="1440034" y="400579"/>
                </a:lnTo>
                <a:lnTo>
                  <a:pt x="1226190" y="398503"/>
                </a:lnTo>
                <a:lnTo>
                  <a:pt x="1232619" y="518686"/>
                </a:lnTo>
                <a:cubicBezTo>
                  <a:pt x="1300603" y="982349"/>
                  <a:pt x="1658857" y="1363030"/>
                  <a:pt x="2136050" y="1428820"/>
                </a:cubicBezTo>
                <a:cubicBezTo>
                  <a:pt x="2354196" y="1458896"/>
                  <a:pt x="2566220" y="1418895"/>
                  <a:pt x="2750368" y="1325717"/>
                </a:cubicBezTo>
                <a:lnTo>
                  <a:pt x="2786722" y="1305060"/>
                </a:lnTo>
                <a:lnTo>
                  <a:pt x="2713583" y="1835554"/>
                </a:lnTo>
                <a:lnTo>
                  <a:pt x="2707861" y="1842259"/>
                </a:lnTo>
                <a:lnTo>
                  <a:pt x="3211721" y="2272342"/>
                </a:lnTo>
                <a:lnTo>
                  <a:pt x="3196825" y="2280655"/>
                </a:lnTo>
                <a:cubicBezTo>
                  <a:pt x="2831332" y="2462192"/>
                  <a:pt x="2410231" y="2539559"/>
                  <a:pt x="1976668" y="2479785"/>
                </a:cubicBezTo>
                <a:cubicBezTo>
                  <a:pt x="965020" y="2340310"/>
                  <a:pt x="220732" y="1500384"/>
                  <a:pt x="158141" y="511596"/>
                </a:cubicBezTo>
                <a:lnTo>
                  <a:pt x="156509" y="388118"/>
                </a:lnTo>
                <a:lnTo>
                  <a:pt x="0" y="386598"/>
                </a:lnTo>
                <a:close/>
              </a:path>
            </a:pathLst>
          </a:custGeom>
          <a:solidFill>
            <a:srgbClr val="7E6000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158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形状"/>
          <p:cNvSpPr/>
          <p:nvPr>
            <p:custDataLst>
              <p:tags r:id="rId5"/>
            </p:custDataLst>
          </p:nvPr>
        </p:nvSpPr>
        <p:spPr>
          <a:xfrm>
            <a:off x="2908823" y="2193892"/>
            <a:ext cx="411093" cy="3019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04" y="13188"/>
                </a:moveTo>
                <a:cubicBezTo>
                  <a:pt x="9003" y="12815"/>
                  <a:pt x="8329" y="12268"/>
                  <a:pt x="8056" y="11720"/>
                </a:cubicBezTo>
                <a:cubicBezTo>
                  <a:pt x="674" y="2563"/>
                  <a:pt x="674" y="2563"/>
                  <a:pt x="674" y="2563"/>
                </a:cubicBezTo>
                <a:cubicBezTo>
                  <a:pt x="417" y="2191"/>
                  <a:pt x="144" y="1271"/>
                  <a:pt x="273" y="723"/>
                </a:cubicBezTo>
                <a:cubicBezTo>
                  <a:pt x="546" y="372"/>
                  <a:pt x="818" y="0"/>
                  <a:pt x="1476" y="0"/>
                </a:cubicBezTo>
                <a:cubicBezTo>
                  <a:pt x="20140" y="0"/>
                  <a:pt x="20140" y="0"/>
                  <a:pt x="20140" y="0"/>
                </a:cubicBezTo>
                <a:cubicBezTo>
                  <a:pt x="20140" y="0"/>
                  <a:pt x="20942" y="0"/>
                  <a:pt x="21343" y="898"/>
                </a:cubicBezTo>
                <a:cubicBezTo>
                  <a:pt x="21600" y="1468"/>
                  <a:pt x="21343" y="2366"/>
                  <a:pt x="20942" y="2738"/>
                </a:cubicBezTo>
                <a:cubicBezTo>
                  <a:pt x="12886" y="12618"/>
                  <a:pt x="12886" y="12618"/>
                  <a:pt x="12886" y="12618"/>
                </a:cubicBezTo>
                <a:cubicBezTo>
                  <a:pt x="12886" y="12618"/>
                  <a:pt x="11410" y="14283"/>
                  <a:pt x="9404" y="13188"/>
                </a:cubicBezTo>
                <a:close/>
                <a:moveTo>
                  <a:pt x="1476" y="21600"/>
                </a:moveTo>
                <a:cubicBezTo>
                  <a:pt x="1476" y="21600"/>
                  <a:pt x="0" y="21425"/>
                  <a:pt x="0" y="19585"/>
                </a:cubicBezTo>
                <a:cubicBezTo>
                  <a:pt x="0" y="4929"/>
                  <a:pt x="0" y="4929"/>
                  <a:pt x="0" y="4929"/>
                </a:cubicBezTo>
                <a:cubicBezTo>
                  <a:pt x="0" y="4381"/>
                  <a:pt x="273" y="4206"/>
                  <a:pt x="674" y="4754"/>
                </a:cubicBezTo>
                <a:cubicBezTo>
                  <a:pt x="3755" y="8960"/>
                  <a:pt x="3755" y="8960"/>
                  <a:pt x="3755" y="8960"/>
                </a:cubicBezTo>
                <a:cubicBezTo>
                  <a:pt x="4172" y="9332"/>
                  <a:pt x="4301" y="10252"/>
                  <a:pt x="4028" y="10800"/>
                </a:cubicBezTo>
                <a:cubicBezTo>
                  <a:pt x="1749" y="18117"/>
                  <a:pt x="1749" y="18117"/>
                  <a:pt x="1749" y="18117"/>
                </a:cubicBezTo>
                <a:cubicBezTo>
                  <a:pt x="1621" y="18686"/>
                  <a:pt x="1749" y="18686"/>
                  <a:pt x="2022" y="18117"/>
                </a:cubicBezTo>
                <a:cubicBezTo>
                  <a:pt x="5103" y="12618"/>
                  <a:pt x="5103" y="12618"/>
                  <a:pt x="5103" y="12618"/>
                </a:cubicBezTo>
                <a:cubicBezTo>
                  <a:pt x="5504" y="12092"/>
                  <a:pt x="5905" y="12092"/>
                  <a:pt x="6307" y="12443"/>
                </a:cubicBezTo>
                <a:cubicBezTo>
                  <a:pt x="7655" y="14086"/>
                  <a:pt x="7655" y="14086"/>
                  <a:pt x="7655" y="14086"/>
                </a:cubicBezTo>
                <a:cubicBezTo>
                  <a:pt x="8056" y="14458"/>
                  <a:pt x="8730" y="15006"/>
                  <a:pt x="9131" y="15203"/>
                </a:cubicBezTo>
                <a:cubicBezTo>
                  <a:pt x="10206" y="15554"/>
                  <a:pt x="11939" y="16101"/>
                  <a:pt x="13159" y="14831"/>
                </a:cubicBezTo>
                <a:cubicBezTo>
                  <a:pt x="15165" y="12443"/>
                  <a:pt x="15165" y="12443"/>
                  <a:pt x="15165" y="12443"/>
                </a:cubicBezTo>
                <a:cubicBezTo>
                  <a:pt x="15566" y="12092"/>
                  <a:pt x="16112" y="12092"/>
                  <a:pt x="16368" y="12618"/>
                </a:cubicBezTo>
                <a:cubicBezTo>
                  <a:pt x="19722" y="18686"/>
                  <a:pt x="19722" y="18686"/>
                  <a:pt x="19722" y="18686"/>
                </a:cubicBezTo>
                <a:cubicBezTo>
                  <a:pt x="19995" y="19212"/>
                  <a:pt x="19995" y="19037"/>
                  <a:pt x="19867" y="18489"/>
                </a:cubicBezTo>
                <a:cubicBezTo>
                  <a:pt x="17588" y="10800"/>
                  <a:pt x="17588" y="10800"/>
                  <a:pt x="17588" y="10800"/>
                </a:cubicBezTo>
                <a:cubicBezTo>
                  <a:pt x="17315" y="10252"/>
                  <a:pt x="17444" y="9508"/>
                  <a:pt x="17845" y="8960"/>
                </a:cubicBezTo>
                <a:cubicBezTo>
                  <a:pt x="21070" y="4754"/>
                  <a:pt x="21070" y="4754"/>
                  <a:pt x="21070" y="4754"/>
                </a:cubicBezTo>
                <a:cubicBezTo>
                  <a:pt x="21343" y="4206"/>
                  <a:pt x="21600" y="4381"/>
                  <a:pt x="21600" y="4929"/>
                </a:cubicBezTo>
                <a:cubicBezTo>
                  <a:pt x="21600" y="19782"/>
                  <a:pt x="21600" y="19782"/>
                  <a:pt x="21600" y="19782"/>
                </a:cubicBezTo>
                <a:cubicBezTo>
                  <a:pt x="21600" y="19782"/>
                  <a:pt x="21472" y="21600"/>
                  <a:pt x="19995" y="21600"/>
                </a:cubicBezTo>
                <a:cubicBezTo>
                  <a:pt x="1476" y="21600"/>
                  <a:pt x="1476" y="21600"/>
                  <a:pt x="1476" y="21600"/>
                </a:cubicBezTo>
                <a:close/>
              </a:path>
            </a:pathLst>
          </a:custGeom>
          <a:solidFill>
            <a:srgbClr val="C49B6D"/>
          </a:solidFill>
          <a:ln w="12700">
            <a:miter lim="400000"/>
          </a:ln>
        </p:spPr>
        <p:txBody>
          <a:bodyPr lIns="40076" rIns="40076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00"/>
            </a:pPr>
            <a:endParaRPr kumimoji="0" sz="87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线条"/>
          <p:cNvSpPr/>
          <p:nvPr>
            <p:custDataLst>
              <p:tags r:id="rId6"/>
            </p:custDataLst>
          </p:nvPr>
        </p:nvSpPr>
        <p:spPr>
          <a:xfrm>
            <a:off x="3474385" y="2321582"/>
            <a:ext cx="687126" cy="1"/>
          </a:xfrm>
          <a:prstGeom prst="line">
            <a:avLst/>
          </a:prstGeom>
          <a:ln w="12700">
            <a:solidFill>
              <a:srgbClr val="ADB9CA"/>
            </a:solidFill>
            <a:prstDash val="sysDash"/>
            <a:miter/>
            <a:headEnd type="oval"/>
            <a:tailEnd type="oval"/>
          </a:ln>
        </p:spPr>
        <p:txBody>
          <a:bodyPr lIns="40076" rIns="40076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5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线条"/>
          <p:cNvSpPr/>
          <p:nvPr>
            <p:custDataLst>
              <p:tags r:id="rId7"/>
            </p:custDataLst>
          </p:nvPr>
        </p:nvSpPr>
        <p:spPr>
          <a:xfrm>
            <a:off x="3474385" y="4438860"/>
            <a:ext cx="687126" cy="1"/>
          </a:xfrm>
          <a:prstGeom prst="line">
            <a:avLst/>
          </a:prstGeom>
          <a:ln w="12700">
            <a:solidFill>
              <a:srgbClr val="ADB9CA"/>
            </a:solidFill>
            <a:prstDash val="sysDash"/>
            <a:miter/>
            <a:headEnd type="oval"/>
            <a:tailEnd type="oval"/>
          </a:ln>
        </p:spPr>
        <p:txBody>
          <a:bodyPr lIns="40076" rIns="40076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5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8"/>
            </p:custDataLst>
          </p:nvPr>
        </p:nvSpPr>
        <p:spPr>
          <a:xfrm>
            <a:off x="4621538" y="2224574"/>
            <a:ext cx="422442" cy="469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55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kumimoji="0" lang="zh-CN" altLang="en-US" sz="2455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9"/>
            </p:custDataLst>
          </p:nvPr>
        </p:nvSpPr>
        <p:spPr>
          <a:xfrm>
            <a:off x="4603860" y="4085390"/>
            <a:ext cx="422442" cy="469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5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kumimoji="0" lang="zh-CN" altLang="en-US" sz="2455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10"/>
            </p:custDataLst>
          </p:nvPr>
        </p:nvSpPr>
        <p:spPr>
          <a:xfrm>
            <a:off x="6232620" y="3183558"/>
            <a:ext cx="422442" cy="469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55" b="1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kumimoji="0" lang="zh-CN" altLang="en-US" sz="2455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11"/>
            </p:custDataLst>
          </p:nvPr>
        </p:nvSpPr>
        <p:spPr>
          <a:xfrm>
            <a:off x="2417223" y="412446"/>
            <a:ext cx="5806427" cy="613433"/>
          </a:xfrm>
          <a:prstGeom prst="rect">
            <a:avLst/>
          </a:prstGeom>
        </p:spPr>
        <p:txBody>
          <a:bodyPr wrap="square" bIns="0" anchor="b" anchorCtr="0">
            <a:normAutofit lnSpcReduction="100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155" b="1" spc="300" dirty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 altLang="en-US" sz="3155" b="1" spc="300" dirty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2"/>
            </p:custDataLst>
          </p:nvPr>
        </p:nvSpPr>
        <p:spPr>
          <a:xfrm>
            <a:off x="363607" y="1641999"/>
            <a:ext cx="2022658" cy="351787"/>
          </a:xfrm>
          <a:prstGeom prst="rect">
            <a:avLst/>
          </a:prstGeom>
          <a:noFill/>
        </p:spPr>
        <p:txBody>
          <a:bodyPr wrap="square" lIns="78891" tIns="41023" rIns="78891" bIns="0" anchor="b" anchorCtr="0">
            <a:normAutofit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algn="r">
              <a:lnSpc>
                <a:spcPct val="120000"/>
              </a:lnSpc>
            </a:pPr>
            <a:r>
              <a:rPr lang="zh-CN" altLang="en-US" sz="1755" b="1" spc="3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市场大环境</a:t>
            </a:r>
            <a:endParaRPr lang="zh-CN" altLang="en-US" sz="1755" b="1" spc="3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13"/>
            </p:custDataLst>
          </p:nvPr>
        </p:nvSpPr>
        <p:spPr>
          <a:xfrm>
            <a:off x="363855" y="2018030"/>
            <a:ext cx="2545080" cy="1026795"/>
          </a:xfrm>
          <a:prstGeom prst="rect">
            <a:avLst/>
          </a:prstGeom>
          <a:noFill/>
        </p:spPr>
        <p:txBody>
          <a:bodyPr wrap="square" lIns="78891" tIns="0" rIns="78891" bIns="41023">
            <a:normAutofit fontScale="9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225" spc="150" dirty="0">
                <a:latin typeface="微软雅黑" panose="020B0503020204020204" charset="-122"/>
                <a:ea typeface="微软雅黑" panose="020B0503020204020204" charset="-122"/>
              </a:rPr>
              <a:t>市场已从卖方市场转变为买方市场，行业内竞争异常激烈。蒙娜丽莎、新明珠、东鹏等企业均已实现不同程度</a:t>
            </a:r>
            <a:r>
              <a:rPr lang="zh-CN" altLang="en-US" sz="1225" b="1" spc="150" dirty="0">
                <a:latin typeface="微软雅黑" panose="020B0503020204020204" charset="-122"/>
                <a:ea typeface="微软雅黑" panose="020B0503020204020204" charset="-122"/>
              </a:rPr>
              <a:t>数字化转型</a:t>
            </a:r>
            <a:r>
              <a:rPr lang="zh-CN" altLang="en-US" sz="1225" spc="15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225" spc="1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363607" y="4075051"/>
            <a:ext cx="2022658" cy="351787"/>
          </a:xfrm>
          <a:prstGeom prst="rect">
            <a:avLst/>
          </a:prstGeom>
          <a:noFill/>
        </p:spPr>
        <p:txBody>
          <a:bodyPr wrap="square" lIns="78891" tIns="41023" rIns="78891" bIns="0" anchor="b" anchorCtr="0">
            <a:normAutofit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algn="r">
              <a:lnSpc>
                <a:spcPct val="120000"/>
              </a:lnSpc>
            </a:pPr>
            <a:r>
              <a:rPr lang="zh-CN" altLang="en-US" sz="1755" b="1" spc="3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公司战略</a:t>
            </a:r>
            <a:endParaRPr lang="zh-CN" altLang="en-US" sz="1755" b="1" spc="3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15"/>
            </p:custDataLst>
          </p:nvPr>
        </p:nvSpPr>
        <p:spPr>
          <a:xfrm>
            <a:off x="363855" y="4451350"/>
            <a:ext cx="2411730" cy="727710"/>
          </a:xfrm>
          <a:prstGeom prst="rect">
            <a:avLst/>
          </a:prstGeom>
          <a:noFill/>
        </p:spPr>
        <p:txBody>
          <a:bodyPr wrap="square" lIns="78891" tIns="0" rIns="78891" bIns="41023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100" spc="150" dirty="0">
                <a:latin typeface="微软雅黑" panose="020B0503020204020204" charset="-122"/>
                <a:ea typeface="微软雅黑" panose="020B0503020204020204" charset="-122"/>
              </a:rPr>
              <a:t>围绕企业数字化经营目标，构建</a:t>
            </a:r>
            <a:r>
              <a:rPr lang="en-US" altLang="zh-CN" sz="1100" spc="150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1100" b="1" spc="150" dirty="0">
                <a:latin typeface="微软雅黑" panose="020B0503020204020204" charset="-122"/>
                <a:ea typeface="微软雅黑" panose="020B0503020204020204" charset="-122"/>
              </a:rPr>
              <a:t>产供销一体化</a:t>
            </a:r>
            <a:r>
              <a:rPr lang="en-US" altLang="zh-CN" sz="1100" spc="150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1100" spc="150" dirty="0">
                <a:latin typeface="微软雅黑" panose="020B0503020204020204" charset="-122"/>
                <a:ea typeface="微软雅黑" panose="020B0503020204020204" charset="-122"/>
              </a:rPr>
              <a:t>的智能信息平台</a:t>
            </a:r>
            <a:r>
              <a:rPr lang="zh-CN" altLang="en-US" sz="1100" spc="15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，</a:t>
            </a:r>
            <a:r>
              <a:rPr lang="zh-CN" altLang="en-US" sz="1100" spc="150" dirty="0">
                <a:latin typeface="微软雅黑" panose="020B0503020204020204" charset="-122"/>
                <a:cs typeface="+mn-ea"/>
                <a:sym typeface="+mn-ea"/>
              </a:rPr>
              <a:t>支撑欧神诺持续创新与发展，保障战略目标的实现。</a:t>
            </a:r>
            <a:endParaRPr lang="zh-CN" altLang="en-US" sz="1100" spc="150" dirty="0"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6"/>
            </p:custDataLst>
          </p:nvPr>
        </p:nvSpPr>
        <p:spPr>
          <a:xfrm>
            <a:off x="8208077" y="2860984"/>
            <a:ext cx="2022658" cy="351787"/>
          </a:xfrm>
          <a:prstGeom prst="rect">
            <a:avLst/>
          </a:prstGeom>
          <a:noFill/>
        </p:spPr>
        <p:txBody>
          <a:bodyPr wrap="square" lIns="78891" tIns="41023" rIns="78891" bIns="0" anchor="b" anchorCtr="0">
            <a:normAutofit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755" b="1" spc="3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国家政策</a:t>
            </a:r>
            <a:endParaRPr lang="zh-CN" altLang="en-US" sz="1755" b="1" spc="3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17"/>
            </p:custDataLst>
          </p:nvPr>
        </p:nvSpPr>
        <p:spPr>
          <a:xfrm>
            <a:off x="7868285" y="3237230"/>
            <a:ext cx="2362200" cy="1318260"/>
          </a:xfrm>
          <a:prstGeom prst="rect">
            <a:avLst/>
          </a:prstGeom>
          <a:noFill/>
        </p:spPr>
        <p:txBody>
          <a:bodyPr wrap="square" lIns="78891" tIns="0" rIns="78891" bIns="41023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3765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100" spc="150" dirty="0">
                <a:latin typeface="微软雅黑" panose="020B0503020204020204" charset="-122"/>
                <a:ea typeface="微软雅黑" panose="020B0503020204020204" charset="-122"/>
              </a:rPr>
              <a:t>为贯彻落实党中央、国务院和省委、省政府关于加快数字化发展的战略部署，全面推进制造业数字化转型，促进全省战略性支柱产业集群和战略性新兴产业集群高质量发展，出台相关的奖励方案。最高可达</a:t>
            </a:r>
            <a:r>
              <a:rPr lang="en-US" altLang="zh-CN" sz="1100" b="1" spc="150" dirty="0">
                <a:latin typeface="微软雅黑" panose="020B0503020204020204" charset="-122"/>
                <a:ea typeface="微软雅黑" panose="020B0503020204020204" charset="-122"/>
              </a:rPr>
              <a:t>2000</a:t>
            </a:r>
            <a:r>
              <a:rPr lang="zh-CN" altLang="en-US" sz="1100" b="1" spc="150" dirty="0">
                <a:latin typeface="微软雅黑" panose="020B0503020204020204" charset="-122"/>
                <a:ea typeface="微软雅黑" panose="020B0503020204020204" charset="-122"/>
              </a:rPr>
              <a:t>万</a:t>
            </a:r>
            <a:r>
              <a:rPr lang="zh-CN" altLang="en-US" sz="1100" spc="15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100" spc="1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Shape 11364"/>
          <p:cNvSpPr/>
          <p:nvPr>
            <p:custDataLst>
              <p:tags r:id="rId18"/>
            </p:custDataLst>
          </p:nvPr>
        </p:nvSpPr>
        <p:spPr>
          <a:xfrm>
            <a:off x="7438550" y="3433743"/>
            <a:ext cx="430561" cy="1539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6199"/>
                </a:moveTo>
                <a:cubicBezTo>
                  <a:pt x="0" y="19169"/>
                  <a:pt x="868" y="21600"/>
                  <a:pt x="1929" y="21600"/>
                </a:cubicBezTo>
                <a:lnTo>
                  <a:pt x="19673" y="21600"/>
                </a:lnTo>
                <a:cubicBezTo>
                  <a:pt x="20733" y="21600"/>
                  <a:pt x="21600" y="19169"/>
                  <a:pt x="21600" y="16199"/>
                </a:cubicBezTo>
                <a:lnTo>
                  <a:pt x="21600" y="0"/>
                </a:lnTo>
                <a:lnTo>
                  <a:pt x="13500" y="0"/>
                </a:lnTo>
                <a:lnTo>
                  <a:pt x="13500" y="5397"/>
                </a:lnTo>
                <a:cubicBezTo>
                  <a:pt x="13500" y="6580"/>
                  <a:pt x="13150" y="7560"/>
                  <a:pt x="12730" y="7560"/>
                </a:cubicBezTo>
                <a:lnTo>
                  <a:pt x="8872" y="7560"/>
                </a:lnTo>
                <a:cubicBezTo>
                  <a:pt x="8449" y="7560"/>
                  <a:pt x="8100" y="6580"/>
                  <a:pt x="8100" y="5397"/>
                </a:cubicBezTo>
                <a:lnTo>
                  <a:pt x="8100" y="0"/>
                </a:lnTo>
                <a:lnTo>
                  <a:pt x="0" y="0"/>
                </a:lnTo>
                <a:cubicBezTo>
                  <a:pt x="0" y="0"/>
                  <a:pt x="0" y="16199"/>
                  <a:pt x="0" y="16199"/>
                </a:cubicBezTo>
                <a:close/>
              </a:path>
            </a:pathLst>
          </a:custGeom>
          <a:solidFill>
            <a:srgbClr val="A98A68"/>
          </a:solidFill>
          <a:ln w="12700">
            <a:miter lim="400000"/>
          </a:ln>
        </p:spPr>
        <p:txBody>
          <a:bodyPr lIns="16698" tIns="16698" rIns="16698" bIns="16698" anchor="ctr"/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3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sym typeface="Gill Sans"/>
            </a:endParaRPr>
          </a:p>
        </p:txBody>
      </p:sp>
      <p:sp>
        <p:nvSpPr>
          <p:cNvPr id="27" name="Shape 11365"/>
          <p:cNvSpPr/>
          <p:nvPr>
            <p:custDataLst>
              <p:tags r:id="rId19"/>
            </p:custDataLst>
          </p:nvPr>
        </p:nvSpPr>
        <p:spPr>
          <a:xfrm>
            <a:off x="7617612" y="3433743"/>
            <a:ext cx="61500" cy="30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  <a:cubicBezTo>
                  <a:pt x="0" y="21600"/>
                  <a:pt x="21600" y="21600"/>
                  <a:pt x="21600" y="21600"/>
                </a:cubicBezTo>
                <a:close/>
              </a:path>
            </a:pathLst>
          </a:custGeom>
          <a:solidFill>
            <a:srgbClr val="3498DB"/>
          </a:solidFill>
          <a:ln w="12700">
            <a:miter lim="400000"/>
          </a:ln>
        </p:spPr>
        <p:txBody>
          <a:bodyPr lIns="16698" tIns="16698" rIns="16698" bIns="16698" anchor="ctr"/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3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sym typeface="Gill Sans"/>
            </a:endParaRPr>
          </a:p>
        </p:txBody>
      </p:sp>
      <p:sp>
        <p:nvSpPr>
          <p:cNvPr id="28" name="Shape 11366"/>
          <p:cNvSpPr/>
          <p:nvPr>
            <p:custDataLst>
              <p:tags r:id="rId20"/>
            </p:custDataLst>
          </p:nvPr>
        </p:nvSpPr>
        <p:spPr>
          <a:xfrm>
            <a:off x="7438550" y="3214892"/>
            <a:ext cx="430561" cy="1924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715" y="3456"/>
                </a:moveTo>
                <a:lnTo>
                  <a:pt x="13886" y="3456"/>
                </a:lnTo>
                <a:lnTo>
                  <a:pt x="13886" y="6912"/>
                </a:lnTo>
                <a:lnTo>
                  <a:pt x="7715" y="6912"/>
                </a:lnTo>
                <a:cubicBezTo>
                  <a:pt x="7715" y="6912"/>
                  <a:pt x="7715" y="3456"/>
                  <a:pt x="7715" y="3456"/>
                </a:cubicBezTo>
                <a:close/>
                <a:moveTo>
                  <a:pt x="0" y="21600"/>
                </a:moveTo>
                <a:lnTo>
                  <a:pt x="21600" y="21600"/>
                </a:lnTo>
                <a:lnTo>
                  <a:pt x="21600" y="11231"/>
                </a:lnTo>
                <a:cubicBezTo>
                  <a:pt x="21600" y="8858"/>
                  <a:pt x="20733" y="6912"/>
                  <a:pt x="19673" y="6912"/>
                </a:cubicBezTo>
                <a:lnTo>
                  <a:pt x="15431" y="6912"/>
                </a:lnTo>
                <a:lnTo>
                  <a:pt x="15431" y="2591"/>
                </a:lnTo>
                <a:cubicBezTo>
                  <a:pt x="15431" y="1162"/>
                  <a:pt x="14910" y="0"/>
                  <a:pt x="14273" y="0"/>
                </a:cubicBezTo>
                <a:lnTo>
                  <a:pt x="7329" y="0"/>
                </a:lnTo>
                <a:cubicBezTo>
                  <a:pt x="6689" y="0"/>
                  <a:pt x="6171" y="1162"/>
                  <a:pt x="6171" y="2591"/>
                </a:cubicBezTo>
                <a:lnTo>
                  <a:pt x="6171" y="6912"/>
                </a:lnTo>
                <a:lnTo>
                  <a:pt x="1929" y="6912"/>
                </a:lnTo>
                <a:cubicBezTo>
                  <a:pt x="868" y="6912"/>
                  <a:pt x="0" y="8858"/>
                  <a:pt x="0" y="11231"/>
                </a:cubicBezTo>
                <a:cubicBezTo>
                  <a:pt x="0" y="11231"/>
                  <a:pt x="0" y="21600"/>
                  <a:pt x="0" y="21600"/>
                </a:cubicBezTo>
                <a:close/>
              </a:path>
            </a:pathLst>
          </a:custGeom>
          <a:solidFill>
            <a:srgbClr val="A98A68"/>
          </a:solidFill>
          <a:ln w="12700">
            <a:miter lim="400000"/>
          </a:ln>
        </p:spPr>
        <p:txBody>
          <a:bodyPr lIns="16698" tIns="16698" rIns="16698" bIns="16698" anchor="ctr"/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kumimoji="0" sz="131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sym typeface="Gill Sans"/>
            </a:endParaRPr>
          </a:p>
        </p:txBody>
      </p:sp>
      <p:sp>
        <p:nvSpPr>
          <p:cNvPr id="32" name="线条"/>
          <p:cNvSpPr/>
          <p:nvPr>
            <p:custDataLst>
              <p:tags r:id="rId21"/>
            </p:custDataLst>
          </p:nvPr>
        </p:nvSpPr>
        <p:spPr>
          <a:xfrm flipV="1">
            <a:off x="6945453" y="3401284"/>
            <a:ext cx="249981" cy="0"/>
          </a:xfrm>
          <a:prstGeom prst="line">
            <a:avLst/>
          </a:prstGeom>
          <a:ln w="12700">
            <a:solidFill>
              <a:srgbClr val="ADB9CA"/>
            </a:solidFill>
            <a:prstDash val="sysDash"/>
            <a:miter/>
            <a:headEnd type="oval"/>
            <a:tailEnd type="oval"/>
          </a:ln>
        </p:spPr>
        <p:txBody>
          <a:bodyPr lIns="40076" rIns="40076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5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91880" y="197164"/>
          <a:ext cx="9707245" cy="4459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871"/>
                <a:gridCol w="1677035"/>
                <a:gridCol w="6289193"/>
              </a:tblGrid>
              <a:tr h="567055">
                <a:tc gridSpan="3"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3200" b="1" baseline="0" dirty="0" smtClean="0">
                          <a:solidFill>
                            <a:srgbClr val="C39C5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生产现状</a:t>
                      </a:r>
                      <a:endParaRPr lang="zh-CN" altLang="en-US" sz="3200" b="1" spc="13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109053" marR="109053" marT="54527" marB="545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109053" marR="109053" marT="54527" marB="54527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8625"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</a:pPr>
                      <a:r>
                        <a:rPr lang="zh-CN" altLang="en-US" sz="1500" b="1" spc="12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订单管理</a:t>
                      </a:r>
                      <a:endParaRPr lang="zh-CN" altLang="en-US" sz="1500" b="1" spc="12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6D"/>
                    </a:solidFill>
                  </a:tcPr>
                </a:tc>
                <a:tc>
                  <a:txBody>
                    <a:bodyPr/>
                    <a:p>
                      <a:pPr algn="l" fontAlgn="auto">
                        <a:lnSpc>
                          <a:spcPct val="120000"/>
                        </a:lnSpc>
                      </a:pPr>
                      <a:r>
                        <a:rPr lang="zh-CN" altLang="en-US" sz="1400" b="1" dirty="0">
                          <a:solidFill>
                            <a:srgbClr val="C39B6D"/>
                          </a:solidFill>
                          <a:sym typeface="+mn-ea"/>
                        </a:rPr>
                        <a:t>生产计划频繁变更，</a:t>
                      </a:r>
                      <a:endParaRPr lang="zh-CN" altLang="en-US" sz="1400" b="1" dirty="0">
                        <a:solidFill>
                          <a:srgbClr val="C39B6D"/>
                        </a:solidFill>
                        <a:sym typeface="+mn-ea"/>
                      </a:endParaRPr>
                    </a:p>
                    <a:p>
                      <a:pPr algn="l" fontAlgn="auto">
                        <a:lnSpc>
                          <a:spcPct val="120000"/>
                        </a:lnSpc>
                      </a:pPr>
                      <a:r>
                        <a:rPr lang="zh-CN" altLang="en-US" sz="1400" b="1" dirty="0">
                          <a:solidFill>
                            <a:srgbClr val="C39B6D"/>
                          </a:solidFill>
                          <a:sym typeface="+mn-ea"/>
                        </a:rPr>
                        <a:t>订单按期交付难</a:t>
                      </a:r>
                      <a:endParaRPr lang="zh-CN" altLang="en-US" sz="14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 algn="l" fontAlgn="auto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订单排产使用excel，难以实时掌握生产进度，通过微信、电话询问，交班汇报事后结果</a:t>
                      </a:r>
                      <a:r>
                        <a:rPr lang="zh-CN"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，</a:t>
                      </a: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管理效率低。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285750" indent="-285750" algn="l" fontAlgn="auto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订单生产过程数据不透明，容易造成多产或少产，造成库存积压。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285750" indent="-285750" algn="l" fontAlgn="auto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没有物料供需平衡计算系统，依靠人手核对物料齐套，效率低且容易走漏，增加转产次数，降低产能。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53110"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</a:pPr>
                      <a:r>
                        <a:rPr lang="zh-CN" altLang="en-US" sz="1500" b="1" spc="12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生产工艺</a:t>
                      </a:r>
                      <a:endParaRPr lang="zh-CN" altLang="en-US" sz="1500" b="1" spc="12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6D"/>
                    </a:solidFill>
                  </a:tcPr>
                </a:tc>
                <a:tc>
                  <a:txBody>
                    <a:bodyPr/>
                    <a:p>
                      <a:pPr algn="l" fontAlgn="auto">
                        <a:lnSpc>
                          <a:spcPct val="120000"/>
                        </a:lnSpc>
                        <a:buClrTx/>
                        <a:buSzTx/>
                        <a:buNone/>
                      </a:pPr>
                      <a:r>
                        <a:rPr lang="zh-CN" altLang="en-US" sz="1400" b="1" baseline="0" dirty="0">
                          <a:solidFill>
                            <a:srgbClr val="C39B6D"/>
                          </a:solidFill>
                        </a:rPr>
                        <a:t>产品品类多样，</a:t>
                      </a:r>
                      <a:endParaRPr lang="zh-CN" altLang="en-US" sz="1400" b="1" baseline="0" dirty="0">
                        <a:solidFill>
                          <a:srgbClr val="C39B6D"/>
                        </a:solidFill>
                      </a:endParaRPr>
                    </a:p>
                    <a:p>
                      <a:pPr algn="l" fontAlgn="auto">
                        <a:lnSpc>
                          <a:spcPct val="120000"/>
                        </a:lnSpc>
                        <a:buClrTx/>
                        <a:buSzTx/>
                        <a:buNone/>
                      </a:pPr>
                      <a:r>
                        <a:rPr lang="zh-CN" altLang="en-US" sz="1400" b="1" baseline="0" dirty="0">
                          <a:solidFill>
                            <a:srgbClr val="C39B6D"/>
                          </a:solidFill>
                        </a:rPr>
                        <a:t>工艺变更频繁</a:t>
                      </a:r>
                      <a:endParaRPr lang="zh-CN" altLang="en-US" sz="14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配方单均为线下纸质单据，每次产品上线需重新填写。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生产现场工艺调整均靠经验。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产品多样，增加转产换线次数，工艺不稳定，减低产能。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spc="12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工控系统没有联网，工艺部门不能查询实时生产情况。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</a:pPr>
                      <a:r>
                        <a:rPr lang="zh-CN" altLang="en-US" sz="1500" b="1" spc="12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生产管控</a:t>
                      </a:r>
                      <a:endParaRPr lang="zh-CN" altLang="en-US" sz="1500" b="1" spc="12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6D"/>
                    </a:solidFill>
                  </a:tcPr>
                </a:tc>
                <a:tc>
                  <a:txBody>
                    <a:bodyPr/>
                    <a:p>
                      <a:pPr algn="l" fontAlgn="auto">
                        <a:lnSpc>
                          <a:spcPct val="120000"/>
                        </a:lnSpc>
                      </a:pPr>
                      <a:r>
                        <a:rPr lang="zh-CN" altLang="en-US" sz="1400" b="1" dirty="0">
                          <a:solidFill>
                            <a:srgbClr val="C39B6D"/>
                          </a:solidFill>
                          <a:sym typeface="+mn-ea"/>
                        </a:rPr>
                        <a:t>生产数据不透明，</a:t>
                      </a:r>
                      <a:endParaRPr lang="zh-CN" altLang="en-US" sz="1400" b="1" dirty="0">
                        <a:solidFill>
                          <a:srgbClr val="C39B6D"/>
                        </a:solidFill>
                        <a:sym typeface="+mn-ea"/>
                      </a:endParaRPr>
                    </a:p>
                    <a:p>
                      <a:pPr algn="l" fontAlgn="auto">
                        <a:lnSpc>
                          <a:spcPct val="120000"/>
                        </a:lnSpc>
                      </a:pPr>
                      <a:r>
                        <a:rPr lang="zh-CN" altLang="en-US" sz="1400" b="1" dirty="0">
                          <a:solidFill>
                            <a:srgbClr val="C39B6D"/>
                          </a:solidFill>
                          <a:sym typeface="+mn-ea"/>
                        </a:rPr>
                        <a:t>数据滞后难</a:t>
                      </a:r>
                      <a:r>
                        <a:rPr lang="zh-CN" altLang="en-US" sz="1400" b="1" dirty="0" smtClean="0">
                          <a:solidFill>
                            <a:srgbClr val="C39B6D"/>
                          </a:solidFill>
                          <a:sym typeface="+mn-ea"/>
                        </a:rPr>
                        <a:t>统计</a:t>
                      </a:r>
                      <a:endParaRPr lang="zh-CN" altLang="en-US" sz="14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统计部门每天有大量的数据收集和统计报表，并且根据不同的部门和角色，定制不同的电子报表</a:t>
                      </a:r>
                      <a:r>
                        <a:rPr lang="zh-CN"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。</a:t>
                      </a: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主要问题是搜集数据困难，且数据很难求证准确性。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车间各类数据收集后，由数据统计部门进行统计分析后，再分发给各业务部门，数据共享性差，实时性差，追溯难, 准确性很难判断。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原料车间各报工数据差异很大，很难还原当时真实数据。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</a:pPr>
                      <a:r>
                        <a:rPr lang="zh-CN" altLang="en-US" sz="1500" b="1" spc="12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  <a:sym typeface="+mn-ea"/>
                        </a:rPr>
                        <a:t>生产质量</a:t>
                      </a:r>
                      <a:endParaRPr lang="zh-CN" altLang="en-US" sz="1500" b="1" spc="12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6D"/>
                    </a:solidFill>
                  </a:tcPr>
                </a:tc>
                <a:tc>
                  <a:txBody>
                    <a:bodyPr/>
                    <a:p>
                      <a:pPr algn="l" fontAlgn="auto">
                        <a:lnSpc>
                          <a:spcPct val="120000"/>
                        </a:lnSpc>
                      </a:pPr>
                      <a:r>
                        <a:rPr lang="zh-CN" altLang="en-US" sz="1400" b="1" dirty="0" smtClean="0">
                          <a:solidFill>
                            <a:srgbClr val="C39B6D"/>
                          </a:solidFill>
                          <a:sym typeface="+mn-ea"/>
                        </a:rPr>
                        <a:t>生产质量管控难，</a:t>
                      </a:r>
                      <a:endParaRPr lang="zh-CN" altLang="en-US" sz="1400" b="1" dirty="0" smtClean="0">
                        <a:solidFill>
                          <a:srgbClr val="C39B6D"/>
                        </a:solidFill>
                        <a:sym typeface="+mn-ea"/>
                      </a:endParaRPr>
                    </a:p>
                    <a:p>
                      <a:pPr algn="l" fontAlgn="auto">
                        <a:lnSpc>
                          <a:spcPct val="120000"/>
                        </a:lnSpc>
                      </a:pPr>
                      <a:r>
                        <a:rPr lang="zh-CN" altLang="en-US" sz="1400" b="1" dirty="0" smtClean="0">
                          <a:solidFill>
                            <a:srgbClr val="C39B6D"/>
                          </a:solidFill>
                          <a:sym typeface="+mn-ea"/>
                        </a:rPr>
                        <a:t>生产信息难追溯</a:t>
                      </a:r>
                      <a:endParaRPr lang="zh-CN" altLang="en-US" sz="14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制程质检均纸质填报，再录入excel。重复工作，并没有进行系统性分析和对比。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质检标准存在于纸档SOP，质检数据容易走漏问题，特别是新员工不熟悉标准。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纸档保存离散，没有按订单归档，不好做问总结。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质量问题溯源难，无法快速查找问题批次产品生产工艺参数。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</a:pPr>
                      <a:r>
                        <a:rPr lang="zh-CN" altLang="en-US" sz="1500" b="1" spc="12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库存管理</a:t>
                      </a:r>
                      <a:endParaRPr lang="zh-CN" altLang="en-US" sz="1500" b="1" spc="12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6D"/>
                    </a:solidFill>
                  </a:tcPr>
                </a:tc>
                <a:tc>
                  <a:txBody>
                    <a:bodyPr/>
                    <a:p>
                      <a:pPr algn="l" fontAlgn="auto">
                        <a:lnSpc>
                          <a:spcPct val="120000"/>
                        </a:lnSpc>
                      </a:pPr>
                      <a:r>
                        <a:rPr lang="zh-CN" altLang="en-US" sz="1400" b="1" dirty="0">
                          <a:solidFill>
                            <a:srgbClr val="C39B6D"/>
                          </a:solidFill>
                          <a:sym typeface="+mn-ea"/>
                        </a:rPr>
                        <a:t>库存压力大</a:t>
                      </a:r>
                      <a:r>
                        <a:rPr lang="zh-CN" altLang="en-US" sz="1400" b="1" dirty="0" smtClean="0">
                          <a:solidFill>
                            <a:srgbClr val="C39B6D"/>
                          </a:solidFill>
                          <a:sym typeface="+mn-ea"/>
                        </a:rPr>
                        <a:t>，</a:t>
                      </a:r>
                      <a:endParaRPr lang="zh-CN" altLang="en-US" sz="1400" b="1" dirty="0" smtClean="0">
                        <a:solidFill>
                          <a:srgbClr val="C39B6D"/>
                        </a:solidFill>
                        <a:sym typeface="+mn-ea"/>
                      </a:endParaRPr>
                    </a:p>
                    <a:p>
                      <a:pPr algn="l" fontAlgn="auto">
                        <a:lnSpc>
                          <a:spcPct val="120000"/>
                        </a:lnSpc>
                      </a:pPr>
                      <a:r>
                        <a:rPr lang="zh-CN" altLang="en-US" sz="1400" b="1" dirty="0" smtClean="0">
                          <a:solidFill>
                            <a:srgbClr val="C39B6D"/>
                          </a:solidFill>
                          <a:sym typeface="+mn-ea"/>
                        </a:rPr>
                        <a:t>库存归属不</a:t>
                      </a:r>
                      <a:r>
                        <a:rPr lang="zh-CN" altLang="en-US" sz="1400" b="1" dirty="0">
                          <a:solidFill>
                            <a:srgbClr val="C39B6D"/>
                          </a:solidFill>
                          <a:sym typeface="+mn-ea"/>
                        </a:rPr>
                        <a:t>清晰</a:t>
                      </a:r>
                      <a:endParaRPr lang="en-US" altLang="zh-CN" sz="14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部分订单有多做情况，并且归因不明确，造成积压库存。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产品尾数长期堆积，占用存放位置。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</a:pPr>
                      <a:r>
                        <a:rPr lang="zh-CN" altLang="en-US" sz="1500" b="1" spc="12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能耗管理</a:t>
                      </a:r>
                      <a:endParaRPr lang="zh-CN" altLang="en-US" sz="1500" b="1" spc="12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6D"/>
                    </a:solidFill>
                  </a:tcPr>
                </a:tc>
                <a:tc>
                  <a:txBody>
                    <a:bodyPr/>
                    <a:p>
                      <a:pPr algn="l" fontAlgn="auto">
                        <a:lnSpc>
                          <a:spcPct val="120000"/>
                        </a:lnSpc>
                        <a:buClrTx/>
                        <a:buSzTx/>
                        <a:buNone/>
                      </a:pPr>
                      <a:r>
                        <a:rPr lang="zh-CN" altLang="en-US" sz="1400" b="1" baseline="0" dirty="0">
                          <a:solidFill>
                            <a:srgbClr val="C39B6D"/>
                          </a:solidFill>
                        </a:rPr>
                        <a:t>能耗数据延后</a:t>
                      </a:r>
                      <a:endParaRPr lang="zh-CN" altLang="en-US" sz="1400" b="1" baseline="0" dirty="0">
                        <a:solidFill>
                          <a:srgbClr val="C39B6D"/>
                        </a:solidFill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不能实时监控效率和单位能耗，以致掉产不能及时干预。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所有设备均人手抄表，容易造成填错，漏填。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</a:pPr>
                      <a:r>
                        <a:rPr lang="zh-CN" altLang="en-US" sz="1500" b="1" spc="12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设备管理</a:t>
                      </a:r>
                      <a:endParaRPr lang="zh-CN" altLang="en-US" sz="1500" b="1" spc="12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6D"/>
                    </a:solidFill>
                  </a:tcPr>
                </a:tc>
                <a:tc>
                  <a:txBody>
                    <a:bodyPr/>
                    <a:p>
                      <a:pPr algn="l" fontAlgn="auto">
                        <a:lnSpc>
                          <a:spcPct val="120000"/>
                        </a:lnSpc>
                        <a:buClrTx/>
                        <a:buSzTx/>
                        <a:buNone/>
                      </a:pPr>
                      <a:r>
                        <a:rPr lang="zh-CN" altLang="en-US" sz="1400" b="1" baseline="0" dirty="0">
                          <a:solidFill>
                            <a:srgbClr val="C39B6D"/>
                          </a:solidFill>
                        </a:rPr>
                        <a:t>设备台账管理难，</a:t>
                      </a:r>
                      <a:endParaRPr lang="zh-CN" altLang="en-US" sz="1400" b="1" baseline="0" dirty="0">
                        <a:solidFill>
                          <a:srgbClr val="C39B6D"/>
                        </a:solidFill>
                      </a:endParaRPr>
                    </a:p>
                    <a:p>
                      <a:pPr algn="l" fontAlgn="auto">
                        <a:lnSpc>
                          <a:spcPct val="120000"/>
                        </a:lnSpc>
                        <a:buClrTx/>
                        <a:buSzTx/>
                        <a:buNone/>
                      </a:pPr>
                      <a:r>
                        <a:rPr lang="zh-CN" altLang="en-US" sz="1400" b="1" baseline="0" dirty="0">
                          <a:solidFill>
                            <a:srgbClr val="C39B6D"/>
                          </a:solidFill>
                        </a:rPr>
                        <a:t>设备利用效率低</a:t>
                      </a:r>
                      <a:endParaRPr lang="zh-CN" altLang="en-US" sz="1400" b="1" baseline="0" dirty="0">
                        <a:solidFill>
                          <a:srgbClr val="C39B6D"/>
                        </a:solidFill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没有配件库的数据支持，管理层审核配件计划耗时长，问询多。而且配件流水账没有统计分析，备量没有指导标准。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marL="285750" indent="-285750" algn="l" fontAlgn="auto">
                        <a:lnSpc>
                          <a:spcPct val="120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sz="900" b="0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使用传统的打钩设备维保体系。设备多维护多现场忙，容易忘记维保，没做管理层也不知道。</a:t>
                      </a:r>
                      <a:endParaRPr sz="900" b="0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77435" y="2253460"/>
            <a:ext cx="6186309" cy="89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5195" dirty="0" smtClean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二、项目</a:t>
            </a:r>
            <a:r>
              <a:rPr lang="zh-CN" altLang="en-US" sz="5195" dirty="0" smtClean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目标与范围</a:t>
            </a:r>
            <a:endParaRPr lang="zh-CN" altLang="zh-CN" sz="5195" dirty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reeform 5"/>
          <p:cNvSpPr/>
          <p:nvPr>
            <p:custDataLst>
              <p:tags r:id="rId1"/>
            </p:custDataLst>
          </p:nvPr>
        </p:nvSpPr>
        <p:spPr bwMode="auto">
          <a:xfrm>
            <a:off x="5535379" y="3046023"/>
            <a:ext cx="1458214" cy="1457145"/>
          </a:xfrm>
          <a:custGeom>
            <a:avLst/>
            <a:gdLst>
              <a:gd name="T0" fmla="*/ 328 w 1143"/>
              <a:gd name="T1" fmla="*/ 487 h 1143"/>
              <a:gd name="T2" fmla="*/ 276 w 1143"/>
              <a:gd name="T3" fmla="*/ 363 h 1143"/>
              <a:gd name="T4" fmla="*/ 174 w 1143"/>
              <a:gd name="T5" fmla="*/ 398 h 1143"/>
              <a:gd name="T6" fmla="*/ 0 w 1143"/>
              <a:gd name="T7" fmla="*/ 572 h 1143"/>
              <a:gd name="T8" fmla="*/ 175 w 1143"/>
              <a:gd name="T9" fmla="*/ 746 h 1143"/>
              <a:gd name="T10" fmla="*/ 211 w 1143"/>
              <a:gd name="T11" fmla="*/ 849 h 1143"/>
              <a:gd name="T12" fmla="*/ 86 w 1143"/>
              <a:gd name="T13" fmla="*/ 900 h 1143"/>
              <a:gd name="T14" fmla="*/ 246 w 1143"/>
              <a:gd name="T15" fmla="*/ 1060 h 1143"/>
              <a:gd name="T16" fmla="*/ 298 w 1143"/>
              <a:gd name="T17" fmla="*/ 936 h 1143"/>
              <a:gd name="T18" fmla="*/ 400 w 1143"/>
              <a:gd name="T19" fmla="*/ 972 h 1143"/>
              <a:gd name="T20" fmla="*/ 572 w 1143"/>
              <a:gd name="T21" fmla="*/ 1143 h 1143"/>
              <a:gd name="T22" fmla="*/ 1143 w 1143"/>
              <a:gd name="T23" fmla="*/ 572 h 1143"/>
              <a:gd name="T24" fmla="*/ 959 w 1143"/>
              <a:gd name="T25" fmla="*/ 388 h 1143"/>
              <a:gd name="T26" fmla="*/ 916 w 1143"/>
              <a:gd name="T27" fmla="*/ 345 h 1143"/>
              <a:gd name="T28" fmla="*/ 759 w 1143"/>
              <a:gd name="T29" fmla="*/ 187 h 1143"/>
              <a:gd name="T30" fmla="*/ 746 w 1143"/>
              <a:gd name="T31" fmla="*/ 175 h 1143"/>
              <a:gd name="T32" fmla="*/ 572 w 1143"/>
              <a:gd name="T33" fmla="*/ 0 h 1143"/>
              <a:gd name="T34" fmla="*/ 572 w 1143"/>
              <a:gd name="T35" fmla="*/ 0 h 1143"/>
              <a:gd name="T36" fmla="*/ 398 w 1143"/>
              <a:gd name="T37" fmla="*/ 174 h 1143"/>
              <a:gd name="T38" fmla="*/ 378 w 1143"/>
              <a:gd name="T39" fmla="*/ 194 h 1143"/>
              <a:gd name="T40" fmla="*/ 379 w 1143"/>
              <a:gd name="T41" fmla="*/ 194 h 1143"/>
              <a:gd name="T42" fmla="*/ 363 w 1143"/>
              <a:gd name="T43" fmla="*/ 276 h 1143"/>
              <a:gd name="T44" fmla="*/ 488 w 1143"/>
              <a:gd name="T45" fmla="*/ 328 h 1143"/>
              <a:gd name="T46" fmla="*/ 328 w 1143"/>
              <a:gd name="T47" fmla="*/ 487 h 1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43" h="1143">
                <a:moveTo>
                  <a:pt x="328" y="487"/>
                </a:moveTo>
                <a:cubicBezTo>
                  <a:pt x="272" y="446"/>
                  <a:pt x="296" y="413"/>
                  <a:pt x="276" y="363"/>
                </a:cubicBezTo>
                <a:cubicBezTo>
                  <a:pt x="266" y="336"/>
                  <a:pt x="236" y="336"/>
                  <a:pt x="174" y="398"/>
                </a:cubicBezTo>
                <a:cubicBezTo>
                  <a:pt x="0" y="572"/>
                  <a:pt x="0" y="572"/>
                  <a:pt x="0" y="572"/>
                </a:cubicBezTo>
                <a:cubicBezTo>
                  <a:pt x="175" y="746"/>
                  <a:pt x="175" y="746"/>
                  <a:pt x="175" y="746"/>
                </a:cubicBezTo>
                <a:cubicBezTo>
                  <a:pt x="238" y="809"/>
                  <a:pt x="237" y="839"/>
                  <a:pt x="211" y="849"/>
                </a:cubicBezTo>
                <a:cubicBezTo>
                  <a:pt x="160" y="868"/>
                  <a:pt x="127" y="844"/>
                  <a:pt x="86" y="900"/>
                </a:cubicBezTo>
                <a:cubicBezTo>
                  <a:pt x="16" y="997"/>
                  <a:pt x="150" y="1131"/>
                  <a:pt x="246" y="1060"/>
                </a:cubicBezTo>
                <a:cubicBezTo>
                  <a:pt x="303" y="1019"/>
                  <a:pt x="279" y="986"/>
                  <a:pt x="298" y="936"/>
                </a:cubicBezTo>
                <a:cubicBezTo>
                  <a:pt x="308" y="909"/>
                  <a:pt x="338" y="909"/>
                  <a:pt x="400" y="972"/>
                </a:cubicBezTo>
                <a:cubicBezTo>
                  <a:pt x="572" y="1143"/>
                  <a:pt x="572" y="1143"/>
                  <a:pt x="572" y="1143"/>
                </a:cubicBezTo>
                <a:cubicBezTo>
                  <a:pt x="1143" y="572"/>
                  <a:pt x="1143" y="572"/>
                  <a:pt x="1143" y="572"/>
                </a:cubicBezTo>
                <a:cubicBezTo>
                  <a:pt x="959" y="388"/>
                  <a:pt x="959" y="388"/>
                  <a:pt x="959" y="388"/>
                </a:cubicBezTo>
                <a:cubicBezTo>
                  <a:pt x="916" y="345"/>
                  <a:pt x="916" y="345"/>
                  <a:pt x="916" y="345"/>
                </a:cubicBezTo>
                <a:cubicBezTo>
                  <a:pt x="759" y="187"/>
                  <a:pt x="759" y="187"/>
                  <a:pt x="759" y="187"/>
                </a:cubicBezTo>
                <a:cubicBezTo>
                  <a:pt x="755" y="183"/>
                  <a:pt x="751" y="179"/>
                  <a:pt x="746" y="175"/>
                </a:cubicBezTo>
                <a:cubicBezTo>
                  <a:pt x="572" y="0"/>
                  <a:pt x="572" y="0"/>
                  <a:pt x="572" y="0"/>
                </a:cubicBezTo>
                <a:cubicBezTo>
                  <a:pt x="572" y="0"/>
                  <a:pt x="572" y="0"/>
                  <a:pt x="572" y="0"/>
                </a:cubicBezTo>
                <a:cubicBezTo>
                  <a:pt x="398" y="174"/>
                  <a:pt x="398" y="174"/>
                  <a:pt x="398" y="174"/>
                </a:cubicBezTo>
                <a:cubicBezTo>
                  <a:pt x="378" y="194"/>
                  <a:pt x="378" y="194"/>
                  <a:pt x="378" y="194"/>
                </a:cubicBezTo>
                <a:cubicBezTo>
                  <a:pt x="379" y="194"/>
                  <a:pt x="379" y="194"/>
                  <a:pt x="379" y="194"/>
                </a:cubicBezTo>
                <a:cubicBezTo>
                  <a:pt x="336" y="243"/>
                  <a:pt x="339" y="267"/>
                  <a:pt x="363" y="276"/>
                </a:cubicBezTo>
                <a:cubicBezTo>
                  <a:pt x="413" y="295"/>
                  <a:pt x="446" y="272"/>
                  <a:pt x="488" y="328"/>
                </a:cubicBezTo>
                <a:cubicBezTo>
                  <a:pt x="559" y="425"/>
                  <a:pt x="425" y="558"/>
                  <a:pt x="328" y="487"/>
                </a:cubicBezTo>
                <a:close/>
              </a:path>
            </a:pathLst>
          </a:custGeom>
          <a:solidFill>
            <a:srgbClr val="79B6D3"/>
          </a:solidFill>
          <a:ln>
            <a:noFill/>
          </a:ln>
        </p:spPr>
        <p:txBody>
          <a:bodyPr vert="horz" wrap="square" lIns="78891" tIns="41023" rIns="78891" bIns="41023" numCol="1" anchor="t" anchorCtr="0" compatLnSpc="1">
            <a:normAutofit/>
          </a:bodyPr>
          <a:lstStyle/>
          <a:p>
            <a:pPr>
              <a:lnSpc>
                <a:spcPct val="120000"/>
              </a:lnSpc>
            </a:pPr>
            <a:endParaRPr lang="id-ID" sz="158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Freeform 6"/>
          <p:cNvSpPr/>
          <p:nvPr>
            <p:custDataLst>
              <p:tags r:id="rId2"/>
            </p:custDataLst>
          </p:nvPr>
        </p:nvSpPr>
        <p:spPr bwMode="auto">
          <a:xfrm>
            <a:off x="4742948" y="1957755"/>
            <a:ext cx="1355583" cy="1354514"/>
          </a:xfrm>
          <a:custGeom>
            <a:avLst/>
            <a:gdLst>
              <a:gd name="T0" fmla="*/ 378 w 1062"/>
              <a:gd name="T1" fmla="*/ 908 h 1062"/>
              <a:gd name="T2" fmla="*/ 335 w 1062"/>
              <a:gd name="T3" fmla="*/ 852 h 1062"/>
              <a:gd name="T4" fmla="*/ 372 w 1062"/>
              <a:gd name="T5" fmla="*/ 845 h 1062"/>
              <a:gd name="T6" fmla="*/ 470 w 1062"/>
              <a:gd name="T7" fmla="*/ 791 h 1062"/>
              <a:gd name="T8" fmla="*/ 451 w 1062"/>
              <a:gd name="T9" fmla="*/ 611 h 1062"/>
              <a:gd name="T10" fmla="*/ 271 w 1062"/>
              <a:gd name="T11" fmla="*/ 592 h 1062"/>
              <a:gd name="T12" fmla="*/ 217 w 1062"/>
              <a:gd name="T13" fmla="*/ 690 h 1062"/>
              <a:gd name="T14" fmla="*/ 210 w 1062"/>
              <a:gd name="T15" fmla="*/ 727 h 1062"/>
              <a:gd name="T16" fmla="*/ 173 w 1062"/>
              <a:gd name="T17" fmla="*/ 703 h 1062"/>
              <a:gd name="T18" fmla="*/ 164 w 1062"/>
              <a:gd name="T19" fmla="*/ 694 h 1062"/>
              <a:gd name="T20" fmla="*/ 0 w 1062"/>
              <a:gd name="T21" fmla="*/ 531 h 1062"/>
              <a:gd name="T22" fmla="*/ 155 w 1062"/>
              <a:gd name="T23" fmla="*/ 376 h 1062"/>
              <a:gd name="T24" fmla="*/ 167 w 1062"/>
              <a:gd name="T25" fmla="*/ 365 h 1062"/>
              <a:gd name="T26" fmla="*/ 167 w 1062"/>
              <a:gd name="T27" fmla="*/ 365 h 1062"/>
              <a:gd name="T28" fmla="*/ 532 w 1062"/>
              <a:gd name="T29" fmla="*/ 0 h 1062"/>
              <a:gd name="T30" fmla="*/ 1062 w 1062"/>
              <a:gd name="T31" fmla="*/ 531 h 1062"/>
              <a:gd name="T32" fmla="*/ 911 w 1062"/>
              <a:gd name="T33" fmla="*/ 682 h 1062"/>
              <a:gd name="T34" fmla="*/ 857 w 1062"/>
              <a:gd name="T35" fmla="*/ 753 h 1062"/>
              <a:gd name="T36" fmla="*/ 865 w 1062"/>
              <a:gd name="T37" fmla="*/ 819 h 1062"/>
              <a:gd name="T38" fmla="*/ 886 w 1062"/>
              <a:gd name="T39" fmla="*/ 832 h 1062"/>
              <a:gd name="T40" fmla="*/ 940 w 1062"/>
              <a:gd name="T41" fmla="*/ 843 h 1062"/>
              <a:gd name="T42" fmla="*/ 986 w 1062"/>
              <a:gd name="T43" fmla="*/ 860 h 1062"/>
              <a:gd name="T44" fmla="*/ 997 w 1062"/>
              <a:gd name="T45" fmla="*/ 873 h 1062"/>
              <a:gd name="T46" fmla="*/ 982 w 1062"/>
              <a:gd name="T47" fmla="*/ 979 h 1062"/>
              <a:gd name="T48" fmla="*/ 877 w 1062"/>
              <a:gd name="T49" fmla="*/ 993 h 1062"/>
              <a:gd name="T50" fmla="*/ 864 w 1062"/>
              <a:gd name="T51" fmla="*/ 982 h 1062"/>
              <a:gd name="T52" fmla="*/ 847 w 1062"/>
              <a:gd name="T53" fmla="*/ 936 h 1062"/>
              <a:gd name="T54" fmla="*/ 836 w 1062"/>
              <a:gd name="T55" fmla="*/ 882 h 1062"/>
              <a:gd name="T56" fmla="*/ 822 w 1062"/>
              <a:gd name="T57" fmla="*/ 861 h 1062"/>
              <a:gd name="T58" fmla="*/ 686 w 1062"/>
              <a:gd name="T59" fmla="*/ 907 h 1062"/>
              <a:gd name="T60" fmla="*/ 531 w 1062"/>
              <a:gd name="T61" fmla="*/ 1062 h 1062"/>
              <a:gd name="T62" fmla="*/ 378 w 1062"/>
              <a:gd name="T63" fmla="*/ 908 h 1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62" h="1062">
                <a:moveTo>
                  <a:pt x="378" y="908"/>
                </a:moveTo>
                <a:cubicBezTo>
                  <a:pt x="346" y="876"/>
                  <a:pt x="337" y="859"/>
                  <a:pt x="335" y="852"/>
                </a:cubicBezTo>
                <a:cubicBezTo>
                  <a:pt x="348" y="848"/>
                  <a:pt x="360" y="847"/>
                  <a:pt x="372" y="845"/>
                </a:cubicBezTo>
                <a:cubicBezTo>
                  <a:pt x="402" y="842"/>
                  <a:pt x="436" y="839"/>
                  <a:pt x="470" y="791"/>
                </a:cubicBezTo>
                <a:cubicBezTo>
                  <a:pt x="510" y="737"/>
                  <a:pt x="502" y="663"/>
                  <a:pt x="451" y="611"/>
                </a:cubicBezTo>
                <a:cubicBezTo>
                  <a:pt x="399" y="560"/>
                  <a:pt x="326" y="552"/>
                  <a:pt x="271" y="592"/>
                </a:cubicBezTo>
                <a:cubicBezTo>
                  <a:pt x="223" y="627"/>
                  <a:pt x="220" y="660"/>
                  <a:pt x="217" y="690"/>
                </a:cubicBezTo>
                <a:cubicBezTo>
                  <a:pt x="216" y="703"/>
                  <a:pt x="215" y="715"/>
                  <a:pt x="210" y="727"/>
                </a:cubicBezTo>
                <a:cubicBezTo>
                  <a:pt x="205" y="726"/>
                  <a:pt x="193" y="720"/>
                  <a:pt x="173" y="703"/>
                </a:cubicBezTo>
                <a:cubicBezTo>
                  <a:pt x="164" y="694"/>
                  <a:pt x="164" y="694"/>
                  <a:pt x="164" y="694"/>
                </a:cubicBezTo>
                <a:cubicBezTo>
                  <a:pt x="0" y="531"/>
                  <a:pt x="0" y="531"/>
                  <a:pt x="0" y="531"/>
                </a:cubicBezTo>
                <a:cubicBezTo>
                  <a:pt x="155" y="376"/>
                  <a:pt x="155" y="376"/>
                  <a:pt x="155" y="376"/>
                </a:cubicBezTo>
                <a:cubicBezTo>
                  <a:pt x="159" y="372"/>
                  <a:pt x="163" y="369"/>
                  <a:pt x="167" y="365"/>
                </a:cubicBezTo>
                <a:cubicBezTo>
                  <a:pt x="167" y="365"/>
                  <a:pt x="167" y="365"/>
                  <a:pt x="167" y="365"/>
                </a:cubicBezTo>
                <a:cubicBezTo>
                  <a:pt x="532" y="0"/>
                  <a:pt x="532" y="0"/>
                  <a:pt x="532" y="0"/>
                </a:cubicBezTo>
                <a:cubicBezTo>
                  <a:pt x="1062" y="531"/>
                  <a:pt x="1062" y="531"/>
                  <a:pt x="1062" y="531"/>
                </a:cubicBezTo>
                <a:cubicBezTo>
                  <a:pt x="911" y="682"/>
                  <a:pt x="911" y="682"/>
                  <a:pt x="911" y="682"/>
                </a:cubicBezTo>
                <a:cubicBezTo>
                  <a:pt x="884" y="710"/>
                  <a:pt x="866" y="733"/>
                  <a:pt x="857" y="753"/>
                </a:cubicBezTo>
                <a:cubicBezTo>
                  <a:pt x="842" y="788"/>
                  <a:pt x="855" y="809"/>
                  <a:pt x="865" y="819"/>
                </a:cubicBezTo>
                <a:cubicBezTo>
                  <a:pt x="870" y="824"/>
                  <a:pt x="877" y="829"/>
                  <a:pt x="886" y="832"/>
                </a:cubicBezTo>
                <a:cubicBezTo>
                  <a:pt x="906" y="840"/>
                  <a:pt x="925" y="841"/>
                  <a:pt x="940" y="843"/>
                </a:cubicBezTo>
                <a:cubicBezTo>
                  <a:pt x="960" y="845"/>
                  <a:pt x="972" y="846"/>
                  <a:pt x="986" y="860"/>
                </a:cubicBezTo>
                <a:cubicBezTo>
                  <a:pt x="990" y="864"/>
                  <a:pt x="993" y="868"/>
                  <a:pt x="997" y="873"/>
                </a:cubicBezTo>
                <a:cubicBezTo>
                  <a:pt x="1025" y="912"/>
                  <a:pt x="1007" y="954"/>
                  <a:pt x="982" y="979"/>
                </a:cubicBezTo>
                <a:cubicBezTo>
                  <a:pt x="958" y="1003"/>
                  <a:pt x="916" y="1022"/>
                  <a:pt x="877" y="993"/>
                </a:cubicBezTo>
                <a:cubicBezTo>
                  <a:pt x="872" y="990"/>
                  <a:pt x="867" y="986"/>
                  <a:pt x="864" y="982"/>
                </a:cubicBezTo>
                <a:cubicBezTo>
                  <a:pt x="850" y="968"/>
                  <a:pt x="849" y="957"/>
                  <a:pt x="847" y="936"/>
                </a:cubicBezTo>
                <a:cubicBezTo>
                  <a:pt x="845" y="921"/>
                  <a:pt x="843" y="903"/>
                  <a:pt x="836" y="882"/>
                </a:cubicBezTo>
                <a:cubicBezTo>
                  <a:pt x="832" y="874"/>
                  <a:pt x="828" y="866"/>
                  <a:pt x="822" y="861"/>
                </a:cubicBezTo>
                <a:cubicBezTo>
                  <a:pt x="777" y="816"/>
                  <a:pt x="708" y="885"/>
                  <a:pt x="686" y="907"/>
                </a:cubicBezTo>
                <a:cubicBezTo>
                  <a:pt x="531" y="1062"/>
                  <a:pt x="531" y="1062"/>
                  <a:pt x="531" y="1062"/>
                </a:cubicBezTo>
                <a:lnTo>
                  <a:pt x="378" y="908"/>
                </a:lnTo>
                <a:close/>
              </a:path>
            </a:pathLst>
          </a:custGeom>
          <a:solidFill>
            <a:srgbClr val="8EAADC"/>
          </a:solidFill>
          <a:ln>
            <a:noFill/>
          </a:ln>
        </p:spPr>
        <p:txBody>
          <a:bodyPr vert="horz" wrap="square" lIns="78891" tIns="41023" rIns="78891" bIns="41023" numCol="1" anchor="t" anchorCtr="0" compatLnSpc="1">
            <a:normAutofit/>
          </a:bodyPr>
          <a:lstStyle/>
          <a:p>
            <a:pPr>
              <a:lnSpc>
                <a:spcPct val="120000"/>
              </a:lnSpc>
            </a:pPr>
            <a:endParaRPr lang="id-ID" sz="158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" name="Freeform 7"/>
          <p:cNvSpPr/>
          <p:nvPr>
            <p:custDataLst>
              <p:tags r:id="rId3"/>
            </p:custDataLst>
          </p:nvPr>
        </p:nvSpPr>
        <p:spPr bwMode="auto">
          <a:xfrm>
            <a:off x="3735528" y="3035468"/>
            <a:ext cx="1458214" cy="1458214"/>
          </a:xfrm>
          <a:custGeom>
            <a:avLst/>
            <a:gdLst>
              <a:gd name="T0" fmla="*/ 814 w 1143"/>
              <a:gd name="T1" fmla="*/ 656 h 1143"/>
              <a:gd name="T2" fmla="*/ 866 w 1143"/>
              <a:gd name="T3" fmla="*/ 781 h 1143"/>
              <a:gd name="T4" fmla="*/ 969 w 1143"/>
              <a:gd name="T5" fmla="*/ 745 h 1143"/>
              <a:gd name="T6" fmla="*/ 1143 w 1143"/>
              <a:gd name="T7" fmla="*/ 572 h 1143"/>
              <a:gd name="T8" fmla="*/ 968 w 1143"/>
              <a:gd name="T9" fmla="*/ 397 h 1143"/>
              <a:gd name="T10" fmla="*/ 932 w 1143"/>
              <a:gd name="T11" fmla="*/ 294 h 1143"/>
              <a:gd name="T12" fmla="*/ 1057 w 1143"/>
              <a:gd name="T13" fmla="*/ 243 h 1143"/>
              <a:gd name="T14" fmla="*/ 896 w 1143"/>
              <a:gd name="T15" fmla="*/ 83 h 1143"/>
              <a:gd name="T16" fmla="*/ 845 w 1143"/>
              <a:gd name="T17" fmla="*/ 207 h 1143"/>
              <a:gd name="T18" fmla="*/ 743 w 1143"/>
              <a:gd name="T19" fmla="*/ 172 h 1143"/>
              <a:gd name="T20" fmla="*/ 571 w 1143"/>
              <a:gd name="T21" fmla="*/ 0 h 1143"/>
              <a:gd name="T22" fmla="*/ 0 w 1143"/>
              <a:gd name="T23" fmla="*/ 572 h 1143"/>
              <a:gd name="T24" fmla="*/ 184 w 1143"/>
              <a:gd name="T25" fmla="*/ 755 h 1143"/>
              <a:gd name="T26" fmla="*/ 227 w 1143"/>
              <a:gd name="T27" fmla="*/ 798 h 1143"/>
              <a:gd name="T28" fmla="*/ 384 w 1143"/>
              <a:gd name="T29" fmla="*/ 956 h 1143"/>
              <a:gd name="T30" fmla="*/ 396 w 1143"/>
              <a:gd name="T31" fmla="*/ 969 h 1143"/>
              <a:gd name="T32" fmla="*/ 571 w 1143"/>
              <a:gd name="T33" fmla="*/ 1143 h 1143"/>
              <a:gd name="T34" fmla="*/ 571 w 1143"/>
              <a:gd name="T35" fmla="*/ 1143 h 1143"/>
              <a:gd name="T36" fmla="*/ 745 w 1143"/>
              <a:gd name="T37" fmla="*/ 970 h 1143"/>
              <a:gd name="T38" fmla="*/ 765 w 1143"/>
              <a:gd name="T39" fmla="*/ 949 h 1143"/>
              <a:gd name="T40" fmla="*/ 764 w 1143"/>
              <a:gd name="T41" fmla="*/ 949 h 1143"/>
              <a:gd name="T42" fmla="*/ 780 w 1143"/>
              <a:gd name="T43" fmla="*/ 867 h 1143"/>
              <a:gd name="T44" fmla="*/ 655 w 1143"/>
              <a:gd name="T45" fmla="*/ 815 h 1143"/>
              <a:gd name="T46" fmla="*/ 814 w 1143"/>
              <a:gd name="T47" fmla="*/ 656 h 1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43" h="1143">
                <a:moveTo>
                  <a:pt x="814" y="656"/>
                </a:moveTo>
                <a:cubicBezTo>
                  <a:pt x="871" y="697"/>
                  <a:pt x="847" y="730"/>
                  <a:pt x="866" y="781"/>
                </a:cubicBezTo>
                <a:cubicBezTo>
                  <a:pt x="877" y="807"/>
                  <a:pt x="907" y="808"/>
                  <a:pt x="969" y="745"/>
                </a:cubicBezTo>
                <a:cubicBezTo>
                  <a:pt x="1143" y="572"/>
                  <a:pt x="1143" y="572"/>
                  <a:pt x="1143" y="572"/>
                </a:cubicBezTo>
                <a:cubicBezTo>
                  <a:pt x="968" y="397"/>
                  <a:pt x="968" y="397"/>
                  <a:pt x="968" y="397"/>
                </a:cubicBezTo>
                <a:cubicBezTo>
                  <a:pt x="905" y="334"/>
                  <a:pt x="905" y="304"/>
                  <a:pt x="932" y="294"/>
                </a:cubicBezTo>
                <a:cubicBezTo>
                  <a:pt x="983" y="275"/>
                  <a:pt x="1016" y="300"/>
                  <a:pt x="1057" y="243"/>
                </a:cubicBezTo>
                <a:cubicBezTo>
                  <a:pt x="1127" y="147"/>
                  <a:pt x="993" y="12"/>
                  <a:pt x="896" y="83"/>
                </a:cubicBezTo>
                <a:cubicBezTo>
                  <a:pt x="840" y="124"/>
                  <a:pt x="864" y="157"/>
                  <a:pt x="845" y="207"/>
                </a:cubicBezTo>
                <a:cubicBezTo>
                  <a:pt x="835" y="234"/>
                  <a:pt x="805" y="234"/>
                  <a:pt x="743" y="172"/>
                </a:cubicBezTo>
                <a:cubicBezTo>
                  <a:pt x="571" y="0"/>
                  <a:pt x="571" y="0"/>
                  <a:pt x="571" y="0"/>
                </a:cubicBezTo>
                <a:cubicBezTo>
                  <a:pt x="0" y="572"/>
                  <a:pt x="0" y="572"/>
                  <a:pt x="0" y="572"/>
                </a:cubicBezTo>
                <a:cubicBezTo>
                  <a:pt x="184" y="755"/>
                  <a:pt x="184" y="755"/>
                  <a:pt x="184" y="755"/>
                </a:cubicBezTo>
                <a:cubicBezTo>
                  <a:pt x="227" y="798"/>
                  <a:pt x="227" y="798"/>
                  <a:pt x="227" y="798"/>
                </a:cubicBezTo>
                <a:cubicBezTo>
                  <a:pt x="384" y="956"/>
                  <a:pt x="384" y="956"/>
                  <a:pt x="384" y="956"/>
                </a:cubicBezTo>
                <a:cubicBezTo>
                  <a:pt x="388" y="960"/>
                  <a:pt x="392" y="964"/>
                  <a:pt x="396" y="969"/>
                </a:cubicBezTo>
                <a:cubicBezTo>
                  <a:pt x="571" y="1143"/>
                  <a:pt x="571" y="1143"/>
                  <a:pt x="571" y="1143"/>
                </a:cubicBezTo>
                <a:cubicBezTo>
                  <a:pt x="571" y="1143"/>
                  <a:pt x="571" y="1143"/>
                  <a:pt x="571" y="1143"/>
                </a:cubicBezTo>
                <a:cubicBezTo>
                  <a:pt x="745" y="970"/>
                  <a:pt x="745" y="970"/>
                  <a:pt x="745" y="970"/>
                </a:cubicBezTo>
                <a:cubicBezTo>
                  <a:pt x="765" y="949"/>
                  <a:pt x="765" y="949"/>
                  <a:pt x="765" y="949"/>
                </a:cubicBezTo>
                <a:cubicBezTo>
                  <a:pt x="764" y="949"/>
                  <a:pt x="764" y="949"/>
                  <a:pt x="764" y="949"/>
                </a:cubicBezTo>
                <a:cubicBezTo>
                  <a:pt x="807" y="900"/>
                  <a:pt x="804" y="876"/>
                  <a:pt x="780" y="867"/>
                </a:cubicBezTo>
                <a:cubicBezTo>
                  <a:pt x="729" y="848"/>
                  <a:pt x="697" y="872"/>
                  <a:pt x="655" y="815"/>
                </a:cubicBezTo>
                <a:cubicBezTo>
                  <a:pt x="584" y="718"/>
                  <a:pt x="717" y="585"/>
                  <a:pt x="814" y="656"/>
                </a:cubicBezTo>
                <a:close/>
              </a:path>
            </a:pathLst>
          </a:custGeom>
          <a:solidFill>
            <a:srgbClr val="8590CA"/>
          </a:solidFill>
          <a:ln>
            <a:noFill/>
          </a:ln>
        </p:spPr>
        <p:txBody>
          <a:bodyPr vert="horz" wrap="square" lIns="78891" tIns="41023" rIns="78891" bIns="41023" numCol="1" anchor="t" anchorCtr="0" compatLnSpc="1">
            <a:normAutofit/>
          </a:bodyPr>
          <a:lstStyle/>
          <a:p>
            <a:pPr>
              <a:lnSpc>
                <a:spcPct val="120000"/>
              </a:lnSpc>
            </a:pPr>
            <a:endParaRPr lang="id-ID" sz="158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26" name="Straight Connector 25"/>
          <p:cNvCxnSpPr/>
          <p:nvPr>
            <p:custDataLst>
              <p:tags r:id="rId4"/>
            </p:custDataLst>
          </p:nvPr>
        </p:nvCxnSpPr>
        <p:spPr>
          <a:xfrm flipH="1">
            <a:off x="2667536" y="3764531"/>
            <a:ext cx="1124382" cy="0"/>
          </a:xfrm>
          <a:prstGeom prst="line">
            <a:avLst/>
          </a:prstGeom>
          <a:ln w="25400">
            <a:solidFill>
              <a:srgbClr val="8590CA"/>
            </a:solidFill>
            <a:tailEnd type="oval"/>
          </a:ln>
        </p:spPr>
        <p:style>
          <a:lnRef idx="1">
            <a:srgbClr val="8590CA"/>
          </a:lnRef>
          <a:fillRef idx="0">
            <a:srgbClr val="8590CA"/>
          </a:fillRef>
          <a:effectRef idx="0">
            <a:srgbClr val="8590CA"/>
          </a:effectRef>
          <a:fontRef idx="minor">
            <a:sysClr val="windowText" lastClr="000000"/>
          </a:fontRef>
        </p:style>
      </p:cxnSp>
      <p:cxnSp>
        <p:nvCxnSpPr>
          <p:cNvPr id="28" name="Straight Connector 27"/>
          <p:cNvCxnSpPr>
            <a:stCxn id="4" idx="11"/>
          </p:cNvCxnSpPr>
          <p:nvPr>
            <p:custDataLst>
              <p:tags r:id="rId5"/>
            </p:custDataLst>
          </p:nvPr>
        </p:nvCxnSpPr>
        <p:spPr>
          <a:xfrm>
            <a:off x="6993594" y="3775233"/>
            <a:ext cx="1017538" cy="430"/>
          </a:xfrm>
          <a:prstGeom prst="line">
            <a:avLst/>
          </a:prstGeom>
          <a:ln w="25400">
            <a:solidFill>
              <a:srgbClr val="79B6D3"/>
            </a:solidFill>
            <a:tailEnd type="oval"/>
          </a:ln>
        </p:spPr>
        <p:style>
          <a:lnRef idx="1">
            <a:srgbClr val="8590CA"/>
          </a:lnRef>
          <a:fillRef idx="0">
            <a:srgbClr val="8590CA"/>
          </a:fillRef>
          <a:effectRef idx="0">
            <a:srgbClr val="8590CA"/>
          </a:effectRef>
          <a:fontRef idx="minor">
            <a:sysClr val="windowText" lastClr="000000"/>
          </a:fontRef>
        </p:style>
      </p:cxnSp>
      <p:cxnSp>
        <p:nvCxnSpPr>
          <p:cNvPr id="29" name="Straight Connector 28"/>
          <p:cNvCxnSpPr>
            <a:stCxn id="5" idx="12"/>
          </p:cNvCxnSpPr>
          <p:nvPr>
            <p:custDataLst>
              <p:tags r:id="rId6"/>
            </p:custDataLst>
          </p:nvPr>
        </p:nvCxnSpPr>
        <p:spPr>
          <a:xfrm flipH="1">
            <a:off x="4070231" y="2423290"/>
            <a:ext cx="885883" cy="5342"/>
          </a:xfrm>
          <a:prstGeom prst="line">
            <a:avLst/>
          </a:prstGeom>
          <a:ln w="25400">
            <a:solidFill>
              <a:srgbClr val="8EAADC"/>
            </a:solidFill>
            <a:tailEnd type="oval"/>
          </a:ln>
        </p:spPr>
        <p:style>
          <a:lnRef idx="1">
            <a:srgbClr val="8590CA"/>
          </a:lnRef>
          <a:fillRef idx="0">
            <a:srgbClr val="8590CA"/>
          </a:fillRef>
          <a:effectRef idx="0">
            <a:srgbClr val="8590CA"/>
          </a:effectRef>
          <a:fontRef idx="minor">
            <a:sysClr val="windowText" lastClr="000000"/>
          </a:fontRef>
        </p:style>
      </p:cxn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4016150" y="3316090"/>
            <a:ext cx="816816" cy="816816"/>
          </a:xfrm>
          <a:prstGeom prst="rect">
            <a:avLst/>
          </a:prstGeom>
          <a:noFill/>
        </p:spPr>
        <p:txBody>
          <a:bodyPr wrap="square" lIns="78891" tIns="41023" rIns="78891" bIns="41023" rtlCol="0" anchor="ctr" anchorCtr="0">
            <a:normAutofit/>
          </a:bodyPr>
          <a:lstStyle>
            <a:defPPr>
              <a:defRPr lang="zh-CN"/>
            </a:defPPr>
            <a:lvl1pPr algn="ctr">
              <a:defRPr sz="4800">
                <a:solidFill>
                  <a:sysClr val="window" lastClr="FFFFFF"/>
                </a:solidFill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280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3</a:t>
            </a:r>
            <a:endParaRPr lang="zh-CN" altLang="en-US" sz="2805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5886136" y="3396244"/>
            <a:ext cx="816816" cy="816816"/>
          </a:xfrm>
          <a:prstGeom prst="rect">
            <a:avLst/>
          </a:prstGeom>
          <a:noFill/>
        </p:spPr>
        <p:txBody>
          <a:bodyPr wrap="square" lIns="78891" tIns="41023" rIns="78891" bIns="41023" rtlCol="0" anchor="ctr" anchorCtr="0">
            <a:normAutofit/>
          </a:bodyPr>
          <a:lstStyle>
            <a:defPPr>
              <a:defRPr lang="zh-CN"/>
            </a:defPPr>
            <a:lvl1pPr algn="ctr">
              <a:defRPr sz="4800">
                <a:solidFill>
                  <a:sysClr val="window" lastClr="FFFFFF"/>
                </a:solidFill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2805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</a:t>
            </a:r>
            <a:endParaRPr lang="zh-CN" altLang="en-US" sz="2805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5052408" y="2186526"/>
            <a:ext cx="816816" cy="816816"/>
          </a:xfrm>
          <a:prstGeom prst="rect">
            <a:avLst/>
          </a:prstGeom>
          <a:noFill/>
        </p:spPr>
        <p:txBody>
          <a:bodyPr wrap="square" lIns="78891" tIns="41023" rIns="78891" bIns="41023" rtlCol="0" anchor="ctr" anchorCtr="0">
            <a:normAutofit/>
          </a:bodyPr>
          <a:lstStyle>
            <a:defPPr>
              <a:defRPr lang="zh-CN"/>
            </a:defPPr>
            <a:lvl1pPr algn="ctr">
              <a:defRPr sz="4800">
                <a:solidFill>
                  <a:sysClr val="window" lastClr="FFFFFF"/>
                </a:solidFill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2805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</a:t>
            </a:r>
            <a:endParaRPr lang="zh-CN" altLang="en-US" sz="2805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506847" y="192244"/>
            <a:ext cx="9217702" cy="915647"/>
          </a:xfrm>
          <a:prstGeom prst="rect">
            <a:avLst/>
          </a:prstGeom>
        </p:spPr>
        <p:txBody>
          <a:bodyPr vert="horz" lIns="80153" tIns="40076" rIns="80153" bIns="40076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3155" spc="300" dirty="0">
                <a:solidFill>
                  <a:srgbClr val="C39C5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项目目标</a:t>
            </a:r>
            <a:endParaRPr lang="zh-CN" altLang="en-US" sz="3155" spc="300" dirty="0">
              <a:solidFill>
                <a:srgbClr val="C39C5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1441026" y="2081219"/>
            <a:ext cx="2443582" cy="695224"/>
          </a:xfrm>
          <a:prstGeom prst="rect">
            <a:avLst/>
          </a:prstGeom>
        </p:spPr>
        <p:txBody>
          <a:bodyPr wrap="square" lIns="78891" tIns="41023" rIns="78891" bIns="41023" anchor="ctr" anchorCtr="0">
            <a:normAutofit/>
          </a:bodyPr>
          <a:lstStyle>
            <a:defPPr>
              <a:defRPr lang="zh-CN"/>
            </a:defPPr>
            <a:lvl1pPr algn="r">
              <a:defRPr sz="2000">
                <a:solidFill>
                  <a:sysClr val="window" lastClr="FFFFFF"/>
                </a:solidFill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225" spc="15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管理效率提升</a:t>
            </a:r>
            <a:endParaRPr lang="zh-CN" altLang="en-US" sz="1225" spc="150" dirty="0">
              <a:solidFill>
                <a:sysClr val="windowText" lastClr="000000">
                  <a:lumMod val="75000"/>
                  <a:lumOff val="25000"/>
                </a:sys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225" spc="15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生产成本下降</a:t>
            </a:r>
            <a:endParaRPr lang="zh-CN" altLang="en-US" sz="1225" spc="150" dirty="0">
              <a:solidFill>
                <a:sysClr val="windowText" lastClr="000000">
                  <a:lumMod val="75000"/>
                  <a:lumOff val="25000"/>
                </a:sys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1441026" y="1557435"/>
            <a:ext cx="2443582" cy="482037"/>
          </a:xfrm>
          <a:prstGeom prst="rect">
            <a:avLst/>
          </a:prstGeom>
          <a:noFill/>
        </p:spPr>
        <p:txBody>
          <a:bodyPr wrap="square" lIns="78891" tIns="41023" rIns="78891" bIns="41023" rtlCol="0" anchor="ctr" anchorCtr="0">
            <a:normAutofit/>
          </a:bodyPr>
          <a:lstStyle>
            <a:defPPr>
              <a:defRPr lang="zh-CN"/>
            </a:defPPr>
            <a:lvl1pPr algn="r">
              <a:defRPr sz="2400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755" spc="30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成本控制</a:t>
            </a:r>
            <a:endParaRPr lang="zh-CN" altLang="en-US" sz="1755" spc="3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3"/>
            </p:custDataLst>
          </p:nvPr>
        </p:nvSpPr>
        <p:spPr>
          <a:xfrm>
            <a:off x="506442" y="3749980"/>
            <a:ext cx="2443582" cy="695224"/>
          </a:xfrm>
          <a:prstGeom prst="rect">
            <a:avLst/>
          </a:prstGeom>
        </p:spPr>
        <p:txBody>
          <a:bodyPr wrap="square" lIns="78891" tIns="41023" rIns="78891" bIns="41023" anchor="ctr" anchorCtr="0">
            <a:normAutofit/>
          </a:bodyPr>
          <a:lstStyle>
            <a:defPPr>
              <a:defRPr lang="zh-CN"/>
            </a:defPPr>
            <a:lvl1pPr algn="r">
              <a:defRPr sz="2000">
                <a:solidFill>
                  <a:sysClr val="window" lastClr="FFFFFF"/>
                </a:solidFill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225" spc="15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产品稳定性提高</a:t>
            </a:r>
            <a:endParaRPr lang="zh-CN" altLang="en-US" sz="1225" spc="150">
              <a:solidFill>
                <a:sysClr val="windowText" lastClr="000000">
                  <a:lumMod val="75000"/>
                  <a:lumOff val="25000"/>
                </a:sys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225" spc="15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产品优等率提升</a:t>
            </a:r>
            <a:endParaRPr lang="zh-CN" altLang="en-US" sz="1225" spc="150">
              <a:solidFill>
                <a:sysClr val="windowText" lastClr="000000">
                  <a:lumMod val="75000"/>
                  <a:lumOff val="25000"/>
                </a:sys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4"/>
            </p:custDataLst>
          </p:nvPr>
        </p:nvSpPr>
        <p:spPr>
          <a:xfrm>
            <a:off x="506442" y="3226196"/>
            <a:ext cx="2443582" cy="482037"/>
          </a:xfrm>
          <a:prstGeom prst="rect">
            <a:avLst/>
          </a:prstGeom>
          <a:noFill/>
        </p:spPr>
        <p:txBody>
          <a:bodyPr wrap="square" lIns="78891" tIns="41023" rIns="78891" bIns="41023" rtlCol="0" anchor="ctr" anchorCtr="0">
            <a:normAutofit/>
          </a:bodyPr>
          <a:lstStyle>
            <a:defPPr>
              <a:defRPr lang="zh-CN"/>
            </a:defPPr>
            <a:lvl1pPr algn="r">
              <a:defRPr sz="2400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755" spc="3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质量管理</a:t>
            </a:r>
            <a:endParaRPr lang="zh-CN" altLang="en-US" sz="1755" spc="300" dirty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5"/>
            </p:custDataLst>
          </p:nvPr>
        </p:nvSpPr>
        <p:spPr>
          <a:xfrm>
            <a:off x="7709039" y="3708233"/>
            <a:ext cx="2443582" cy="695224"/>
          </a:xfrm>
          <a:prstGeom prst="rect">
            <a:avLst/>
          </a:prstGeom>
        </p:spPr>
        <p:txBody>
          <a:bodyPr wrap="square" lIns="78891" tIns="41023" rIns="78891" bIns="41023" anchor="ctr" anchorCtr="0">
            <a:normAutofit lnSpcReduction="20000"/>
          </a:bodyPr>
          <a:lstStyle>
            <a:defPPr>
              <a:defRPr lang="zh-CN"/>
            </a:defPPr>
            <a:lvl1pPr algn="r">
              <a:defRPr sz="2000">
                <a:solidFill>
                  <a:sysClr val="window" lastClr="FFFFFF"/>
                </a:solidFill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225" spc="15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订单全程监控</a:t>
            </a:r>
            <a:endParaRPr lang="zh-CN" altLang="en-US" sz="1225" spc="150" dirty="0">
              <a:solidFill>
                <a:sysClr val="windowText" lastClr="000000">
                  <a:lumMod val="75000"/>
                  <a:lumOff val="25000"/>
                </a:sys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225" spc="15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生产周期缩短</a:t>
            </a:r>
            <a:endParaRPr lang="zh-CN" altLang="en-US" sz="1225" spc="150" dirty="0">
              <a:solidFill>
                <a:sysClr val="windowText" lastClr="000000">
                  <a:lumMod val="75000"/>
                  <a:lumOff val="25000"/>
                </a:sys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225" spc="15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订单准交率提升</a:t>
            </a:r>
            <a:endParaRPr lang="zh-CN" altLang="en-US" sz="1225" spc="150" dirty="0">
              <a:solidFill>
                <a:sysClr val="windowText" lastClr="000000">
                  <a:lumMod val="75000"/>
                  <a:lumOff val="25000"/>
                </a:sys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6"/>
            </p:custDataLst>
          </p:nvPr>
        </p:nvSpPr>
        <p:spPr>
          <a:xfrm>
            <a:off x="7709039" y="3184449"/>
            <a:ext cx="2443582" cy="482037"/>
          </a:xfrm>
          <a:prstGeom prst="rect">
            <a:avLst/>
          </a:prstGeom>
          <a:noFill/>
        </p:spPr>
        <p:txBody>
          <a:bodyPr wrap="square" lIns="78891" tIns="41023" rIns="78891" bIns="41023" rtlCol="0" anchor="ctr" anchorCtr="0">
            <a:normAutofit/>
          </a:bodyPr>
          <a:lstStyle>
            <a:defPPr>
              <a:defRPr lang="zh-CN"/>
            </a:defPPr>
            <a:lvl1pPr algn="r">
              <a:defRPr sz="2400" b="1">
                <a:solidFill>
                  <a:sysClr val="window" lastClr="FFFFFF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755" spc="30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交期管理</a:t>
            </a:r>
            <a:endParaRPr lang="zh-CN" altLang="en-US" sz="1755" spc="300" dirty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椭圆 1"/>
          <p:cNvSpPr/>
          <p:nvPr>
            <p:custDataLst>
              <p:tags r:id="rId1"/>
            </p:custDataLst>
          </p:nvPr>
        </p:nvSpPr>
        <p:spPr>
          <a:xfrm>
            <a:off x="6847825" y="2168965"/>
            <a:ext cx="1500912" cy="1500912"/>
          </a:xfrm>
          <a:prstGeom prst="ellipse">
            <a:avLst/>
          </a:prstGeom>
          <a:solidFill>
            <a:srgbClr val="552EEF"/>
          </a:solidFill>
          <a:ln>
            <a:noFill/>
          </a:ln>
        </p:spPr>
        <p:style>
          <a:lnRef idx="2">
            <a:srgbClr val="7578EC">
              <a:shade val="50000"/>
            </a:srgbClr>
          </a:lnRef>
          <a:fillRef idx="1">
            <a:srgbClr val="7578EC"/>
          </a:fillRef>
          <a:effectRef idx="0">
            <a:srgbClr val="7578EC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  <p:sp>
        <p:nvSpPr>
          <p:cNvPr id="12" name="椭圆 11"/>
          <p:cNvSpPr/>
          <p:nvPr>
            <p:custDataLst>
              <p:tags r:id="rId2"/>
            </p:custDataLst>
          </p:nvPr>
        </p:nvSpPr>
        <p:spPr>
          <a:xfrm>
            <a:off x="6989605" y="2310746"/>
            <a:ext cx="1217352" cy="1217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177800" dist="50800" dir="5400000" algn="ctr" rotWithShape="0">
              <a:srgbClr val="000000">
                <a:alpha val="30000"/>
              </a:srgbClr>
            </a:outerShdw>
          </a:effectLst>
        </p:spPr>
        <p:style>
          <a:lnRef idx="2">
            <a:srgbClr val="7578EC">
              <a:shade val="50000"/>
            </a:srgbClr>
          </a:lnRef>
          <a:fillRef idx="1">
            <a:srgbClr val="7578EC"/>
          </a:fillRef>
          <a:effectRef idx="0">
            <a:srgbClr val="7578EC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  <p:sp>
        <p:nvSpPr>
          <p:cNvPr id="13" name="椭圆 12"/>
          <p:cNvSpPr/>
          <p:nvPr>
            <p:custDataLst>
              <p:tags r:id="rId3"/>
            </p:custDataLst>
          </p:nvPr>
        </p:nvSpPr>
        <p:spPr>
          <a:xfrm>
            <a:off x="5632307" y="1395287"/>
            <a:ext cx="594620" cy="594620"/>
          </a:xfrm>
          <a:prstGeom prst="ellipse">
            <a:avLst/>
          </a:prstGeom>
          <a:solidFill>
            <a:srgbClr val="7578EC"/>
          </a:solidFill>
          <a:ln>
            <a:noFill/>
          </a:ln>
          <a:effectLst>
            <a:outerShdw blurRad="88900" dist="50800" dir="5400000" algn="ctr" rotWithShape="0">
              <a:srgbClr val="000000">
                <a:alpha val="22000"/>
              </a:srgbClr>
            </a:outerShdw>
          </a:effectLst>
        </p:spPr>
        <p:style>
          <a:lnRef idx="2">
            <a:srgbClr val="7578EC">
              <a:shade val="50000"/>
            </a:srgbClr>
          </a:lnRef>
          <a:fillRef idx="1">
            <a:srgbClr val="7578EC"/>
          </a:fillRef>
          <a:effectRef idx="0">
            <a:srgbClr val="7578EC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  <p:sp>
        <p:nvSpPr>
          <p:cNvPr id="14" name="椭圆 13"/>
          <p:cNvSpPr/>
          <p:nvPr>
            <p:custDataLst>
              <p:tags r:id="rId4"/>
            </p:custDataLst>
          </p:nvPr>
        </p:nvSpPr>
        <p:spPr>
          <a:xfrm>
            <a:off x="4982686" y="2622416"/>
            <a:ext cx="594620" cy="594620"/>
          </a:xfrm>
          <a:prstGeom prst="ellipse">
            <a:avLst/>
          </a:prstGeom>
          <a:solidFill>
            <a:srgbClr val="F18703"/>
          </a:solidFill>
          <a:ln>
            <a:noFill/>
          </a:ln>
          <a:effectLst>
            <a:outerShdw blurRad="88900" dist="50800" dir="5400000" algn="ctr" rotWithShape="0">
              <a:srgbClr val="000000">
                <a:alpha val="22000"/>
              </a:srgbClr>
            </a:outerShdw>
          </a:effectLst>
        </p:spPr>
        <p:style>
          <a:lnRef idx="2">
            <a:srgbClr val="7578EC">
              <a:shade val="50000"/>
            </a:srgbClr>
          </a:lnRef>
          <a:fillRef idx="1">
            <a:srgbClr val="7578EC"/>
          </a:fillRef>
          <a:effectRef idx="0">
            <a:srgbClr val="7578EC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  <p:sp>
        <p:nvSpPr>
          <p:cNvPr id="15" name="椭圆 14"/>
          <p:cNvSpPr/>
          <p:nvPr>
            <p:custDataLst>
              <p:tags r:id="rId5"/>
            </p:custDataLst>
          </p:nvPr>
        </p:nvSpPr>
        <p:spPr>
          <a:xfrm>
            <a:off x="5632307" y="4111106"/>
            <a:ext cx="594620" cy="594620"/>
          </a:xfrm>
          <a:prstGeom prst="ellipse">
            <a:avLst/>
          </a:prstGeom>
          <a:solidFill>
            <a:srgbClr val="F35B06"/>
          </a:solidFill>
          <a:ln>
            <a:noFill/>
          </a:ln>
          <a:effectLst>
            <a:outerShdw blurRad="88900" dist="50800" dir="5400000" algn="ctr" rotWithShape="0">
              <a:srgbClr val="000000">
                <a:alpha val="22000"/>
              </a:srgbClr>
            </a:outerShdw>
          </a:effectLst>
        </p:spPr>
        <p:style>
          <a:lnRef idx="2">
            <a:srgbClr val="7578EC">
              <a:shade val="50000"/>
            </a:srgbClr>
          </a:lnRef>
          <a:fillRef idx="1">
            <a:srgbClr val="7578EC"/>
          </a:fillRef>
          <a:effectRef idx="0">
            <a:srgbClr val="7578EC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  <p:pic>
        <p:nvPicPr>
          <p:cNvPr id="16" name="图片 15" descr="343435383037343b343533303738313bb1e3c0fbccf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1776" y="2572916"/>
            <a:ext cx="693010" cy="69301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24000"/>
              </a:srgbClr>
            </a:outerShdw>
          </a:effectLst>
        </p:spPr>
      </p:pic>
      <p:sp>
        <p:nvSpPr>
          <p:cNvPr id="17" name="文本框 16"/>
          <p:cNvSpPr txBox="1"/>
          <p:nvPr>
            <p:custDataLst>
              <p:tags r:id="rId9"/>
            </p:custDataLst>
          </p:nvPr>
        </p:nvSpPr>
        <p:spPr>
          <a:xfrm>
            <a:off x="3583831" y="1055504"/>
            <a:ext cx="1816250" cy="339783"/>
          </a:xfrm>
          <a:prstGeom prst="rect">
            <a:avLst/>
          </a:prstGeom>
          <a:noFill/>
        </p:spPr>
        <p:txBody>
          <a:bodyPr wrap="square" bIns="0" rtlCol="0">
            <a:normAutofit/>
          </a:bodyPr>
          <a:p>
            <a:pPr algn="r"/>
            <a:r>
              <a:rPr lang="zh-CN" altLang="en-US" sz="1755" spc="300">
                <a:solidFill>
                  <a:srgbClr val="7578EC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原料控制</a:t>
            </a:r>
            <a:endParaRPr lang="zh-CN" altLang="en-US" sz="1755" spc="300">
              <a:solidFill>
                <a:srgbClr val="7578EC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2306590" y="1459455"/>
            <a:ext cx="3093491" cy="63801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r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25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微软雅黑" panose="020B0503020204020204" charset="-122"/>
              </a:rPr>
              <a:t>通过生产计划，合计计算出采购计划</a:t>
            </a:r>
            <a:endParaRPr lang="zh-CN" altLang="en-US" sz="1225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3031989" y="2627917"/>
            <a:ext cx="1816250" cy="339783"/>
          </a:xfrm>
          <a:prstGeom prst="rect">
            <a:avLst/>
          </a:prstGeom>
          <a:noFill/>
        </p:spPr>
        <p:txBody>
          <a:bodyPr wrap="square" bIns="0" rtlCol="0">
            <a:normAutofit/>
          </a:bodyPr>
          <a:p>
            <a:pPr algn="r"/>
            <a:r>
              <a:rPr lang="zh-CN" altLang="en-US" sz="1755" spc="300">
                <a:solidFill>
                  <a:srgbClr val="F18703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人员费用</a:t>
            </a:r>
            <a:endParaRPr lang="zh-CN" altLang="en-US" sz="1755" spc="300">
              <a:solidFill>
                <a:srgbClr val="F18703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2"/>
            </p:custDataLst>
          </p:nvPr>
        </p:nvSpPr>
        <p:spPr>
          <a:xfrm>
            <a:off x="1562100" y="3032125"/>
            <a:ext cx="3286125" cy="63817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r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25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微软雅黑" panose="020B0503020204020204" charset="-122"/>
              </a:rPr>
              <a:t>减少手工统计生产数据，释放人员压力</a:t>
            </a:r>
            <a:endParaRPr lang="zh-CN" altLang="en-US" sz="1225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3583831" y="4200330"/>
            <a:ext cx="1816250" cy="339783"/>
          </a:xfrm>
          <a:prstGeom prst="rect">
            <a:avLst/>
          </a:prstGeom>
          <a:noFill/>
        </p:spPr>
        <p:txBody>
          <a:bodyPr wrap="square" bIns="0" rtlCol="0">
            <a:normAutofit/>
          </a:bodyPr>
          <a:p>
            <a:pPr algn="r"/>
            <a:r>
              <a:rPr lang="zh-CN" altLang="en-US" sz="1755" spc="300">
                <a:solidFill>
                  <a:srgbClr val="F35B06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管理费用</a:t>
            </a:r>
            <a:endParaRPr lang="zh-CN" altLang="en-US" sz="1755" spc="300">
              <a:solidFill>
                <a:srgbClr val="F35B06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2393585" y="4604915"/>
            <a:ext cx="3093491" cy="638010"/>
          </a:xfrm>
          <a:prstGeom prst="rect">
            <a:avLst/>
          </a:prstGeom>
          <a:noFill/>
        </p:spPr>
        <p:txBody>
          <a:bodyPr wrap="square" rtlCol="0">
            <a:normAutofit fontScale="25000"/>
          </a:bodyPr>
          <a:p>
            <a:pPr algn="r" fontAlgn="auto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41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全面生产管控，提升生产效率</a:t>
            </a:r>
            <a:endParaRPr lang="zh-CN" altLang="en-US" sz="4100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+mn-ea"/>
            </a:endParaRPr>
          </a:p>
          <a:p>
            <a:pPr algn="r" fontAlgn="auto">
              <a:lnSpc>
                <a:spcPct val="13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41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生产周期缩短、毛利率提升</a:t>
            </a:r>
            <a:endParaRPr lang="zh-CN" altLang="en-US" sz="1225" b="1" dirty="0" smtClean="0">
              <a:solidFill>
                <a:srgbClr val="C59E65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algn="r" fontAlgn="auto">
              <a:lnSpc>
                <a:spcPct val="130000"/>
              </a:lnSpc>
              <a:spcAft>
                <a:spcPts val="1000"/>
              </a:spcAft>
            </a:pPr>
            <a:endParaRPr lang="zh-CN" altLang="en-US" sz="1225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5"/>
            </p:custDataLst>
          </p:nvPr>
        </p:nvSpPr>
        <p:spPr>
          <a:xfrm>
            <a:off x="5684864" y="1536456"/>
            <a:ext cx="488897" cy="310449"/>
          </a:xfrm>
          <a:prstGeom prst="rect">
            <a:avLst/>
          </a:prstGeom>
          <a:noFill/>
        </p:spPr>
        <p:txBody>
          <a:bodyPr wrap="square" bIns="0" rtlCol="0">
            <a:normAutofit fontScale="90000"/>
          </a:bodyPr>
          <a:p>
            <a:r>
              <a:rPr lang="en-US" altLang="zh-CN" sz="1755" spc="300">
                <a:solidFill>
                  <a:srgbClr val="FFFFFF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</a:rPr>
              <a:t>01</a:t>
            </a:r>
            <a:endParaRPr lang="en-US" altLang="zh-CN" sz="1755" spc="300">
              <a:solidFill>
                <a:srgbClr val="FFFFFF"/>
              </a:solidFill>
              <a:uFillTx/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6"/>
            </p:custDataLst>
          </p:nvPr>
        </p:nvSpPr>
        <p:spPr>
          <a:xfrm>
            <a:off x="5035243" y="2764808"/>
            <a:ext cx="488897" cy="310449"/>
          </a:xfrm>
          <a:prstGeom prst="rect">
            <a:avLst/>
          </a:prstGeom>
          <a:noFill/>
        </p:spPr>
        <p:txBody>
          <a:bodyPr wrap="square" bIns="0" rtlCol="0">
            <a:normAutofit fontScale="90000"/>
          </a:bodyPr>
          <a:p>
            <a:r>
              <a:rPr lang="en-US" altLang="zh-CN" sz="1755" spc="300">
                <a:solidFill>
                  <a:srgbClr val="FFFFFF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</a:rPr>
              <a:t>02</a:t>
            </a:r>
            <a:endParaRPr lang="en-US" altLang="zh-CN" sz="1755" spc="300">
              <a:solidFill>
                <a:srgbClr val="FFFFFF"/>
              </a:solidFill>
              <a:uFillTx/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7"/>
            </p:custDataLst>
          </p:nvPr>
        </p:nvSpPr>
        <p:spPr>
          <a:xfrm>
            <a:off x="5685474" y="4252275"/>
            <a:ext cx="488897" cy="310449"/>
          </a:xfrm>
          <a:prstGeom prst="rect">
            <a:avLst/>
          </a:prstGeom>
          <a:noFill/>
        </p:spPr>
        <p:txBody>
          <a:bodyPr wrap="square" bIns="0" rtlCol="0">
            <a:normAutofit fontScale="90000"/>
          </a:bodyPr>
          <a:p>
            <a:r>
              <a:rPr lang="en-US" altLang="zh-CN" sz="1755" spc="300">
                <a:solidFill>
                  <a:srgbClr val="FFFFFF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</a:rPr>
              <a:t>03</a:t>
            </a:r>
            <a:endParaRPr lang="en-US" altLang="zh-CN" sz="1755" spc="300">
              <a:solidFill>
                <a:srgbClr val="FFFFFF"/>
              </a:solidFill>
              <a:uFillTx/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95" name="文本框 94"/>
          <p:cNvSpPr txBox="1"/>
          <p:nvPr>
            <p:custDataLst>
              <p:tags r:id="rId18"/>
            </p:custDataLst>
          </p:nvPr>
        </p:nvSpPr>
        <p:spPr>
          <a:xfrm>
            <a:off x="3301822" y="296124"/>
            <a:ext cx="4161882" cy="403553"/>
          </a:xfrm>
          <a:prstGeom prst="rect">
            <a:avLst/>
          </a:prstGeom>
          <a:noFill/>
        </p:spPr>
        <p:txBody>
          <a:bodyPr wrap="square" bIns="0" rtlCol="0">
            <a:normAutofit/>
          </a:bodyPr>
          <a:p>
            <a:pPr algn="ctr"/>
            <a:r>
              <a:rPr lang="zh-CN" altLang="en-US" sz="2105" b="1" spc="300">
                <a:solidFill>
                  <a:srgbClr val="000000">
                    <a:lumMod val="85000"/>
                    <a:lumOff val="15000"/>
                  </a:srgb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成本控制</a:t>
            </a:r>
            <a:endParaRPr lang="zh-CN" altLang="en-US" sz="2105" b="1" spc="300">
              <a:solidFill>
                <a:srgbClr val="000000">
                  <a:lumMod val="85000"/>
                  <a:lumOff val="15000"/>
                </a:srgbClr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19"/>
            </p:custDataLst>
          </p:nvPr>
        </p:nvSpPr>
        <p:spPr>
          <a:xfrm>
            <a:off x="3307388" y="652921"/>
            <a:ext cx="4150749" cy="258274"/>
          </a:xfrm>
          <a:prstGeom prst="rect">
            <a:avLst/>
          </a:prstGeom>
          <a:noFill/>
        </p:spPr>
        <p:txBody>
          <a:bodyPr wrap="square" bIns="0" rtlCol="0">
            <a:noAutofit/>
          </a:bodyPr>
          <a:p>
            <a:pPr algn="ctr"/>
            <a:r>
              <a:rPr lang="zh-CN" altLang="en-US" sz="1050" spc="300">
                <a:solidFill>
                  <a:srgbClr val="000000">
                    <a:lumMod val="50000"/>
                    <a:lumOff val="50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</a:rPr>
              <a:t>生产运营</a:t>
            </a:r>
            <a:endParaRPr lang="zh-CN" altLang="en-US" sz="1050" spc="300">
              <a:solidFill>
                <a:srgbClr val="000000">
                  <a:lumMod val="50000"/>
                  <a:lumOff val="50000"/>
                </a:srgbClr>
              </a:solidFill>
              <a:uFillTx/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97" name="矩形 96"/>
          <p:cNvSpPr/>
          <p:nvPr>
            <p:custDataLst>
              <p:tags r:id="rId20"/>
            </p:custDataLst>
          </p:nvPr>
        </p:nvSpPr>
        <p:spPr>
          <a:xfrm>
            <a:off x="3300152" y="908411"/>
            <a:ext cx="4165221" cy="12802"/>
          </a:xfrm>
          <a:prstGeom prst="rect">
            <a:avLst/>
          </a:prstGeom>
          <a:solidFill>
            <a:srgbClr val="7578EC"/>
          </a:solidFill>
          <a:ln>
            <a:noFill/>
          </a:ln>
        </p:spPr>
        <p:style>
          <a:lnRef idx="2">
            <a:srgbClr val="7578EC">
              <a:shade val="50000"/>
            </a:srgbClr>
          </a:lnRef>
          <a:fillRef idx="1">
            <a:srgbClr val="7578EC"/>
          </a:fillRef>
          <a:effectRef idx="0">
            <a:srgbClr val="7578EC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</p:spTree>
    <p:custDataLst>
      <p:tags r:id="rId2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" name="文本框 94"/>
          <p:cNvSpPr txBox="1"/>
          <p:nvPr>
            <p:custDataLst>
              <p:tags r:id="rId1"/>
            </p:custDataLst>
          </p:nvPr>
        </p:nvSpPr>
        <p:spPr>
          <a:xfrm>
            <a:off x="3301822" y="296124"/>
            <a:ext cx="4161882" cy="403553"/>
          </a:xfrm>
          <a:prstGeom prst="rect">
            <a:avLst/>
          </a:prstGeom>
          <a:noFill/>
        </p:spPr>
        <p:txBody>
          <a:bodyPr wrap="square" bIns="0" rtlCol="0">
            <a:normAutofit/>
          </a:bodyPr>
          <a:p>
            <a:pPr algn="ctr"/>
            <a:r>
              <a:rPr lang="zh-CN" altLang="en-US" sz="2105" b="1" spc="300">
                <a:solidFill>
                  <a:srgbClr val="000000">
                    <a:lumMod val="85000"/>
                    <a:lumOff val="15000"/>
                  </a:srgb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质量管理</a:t>
            </a:r>
            <a:endParaRPr lang="zh-CN" altLang="en-US" sz="2105" b="1" spc="300">
              <a:solidFill>
                <a:srgbClr val="000000">
                  <a:lumMod val="85000"/>
                  <a:lumOff val="15000"/>
                </a:srgbClr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2"/>
            </p:custDataLst>
          </p:nvPr>
        </p:nvSpPr>
        <p:spPr>
          <a:xfrm>
            <a:off x="3307388" y="652921"/>
            <a:ext cx="4150749" cy="258274"/>
          </a:xfrm>
          <a:prstGeom prst="rect">
            <a:avLst/>
          </a:prstGeom>
          <a:noFill/>
        </p:spPr>
        <p:txBody>
          <a:bodyPr wrap="square" bIns="0" rtlCol="0">
            <a:noAutofit/>
          </a:bodyPr>
          <a:p>
            <a:pPr algn="ctr"/>
            <a:r>
              <a:rPr lang="zh-CN" altLang="en-US" sz="1050" spc="300">
                <a:solidFill>
                  <a:srgbClr val="000000">
                    <a:lumMod val="50000"/>
                    <a:lumOff val="50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</a:rPr>
              <a:t>生产运营</a:t>
            </a:r>
            <a:endParaRPr lang="zh-CN" altLang="en-US" sz="1050" spc="300">
              <a:solidFill>
                <a:srgbClr val="000000">
                  <a:lumMod val="50000"/>
                  <a:lumOff val="50000"/>
                </a:srgbClr>
              </a:solidFill>
              <a:uFillTx/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97" name="矩形 96"/>
          <p:cNvSpPr/>
          <p:nvPr>
            <p:custDataLst>
              <p:tags r:id="rId3"/>
            </p:custDataLst>
          </p:nvPr>
        </p:nvSpPr>
        <p:spPr>
          <a:xfrm>
            <a:off x="3300152" y="908411"/>
            <a:ext cx="4165221" cy="12802"/>
          </a:xfrm>
          <a:prstGeom prst="rect">
            <a:avLst/>
          </a:prstGeom>
          <a:solidFill>
            <a:srgbClr val="7578EC"/>
          </a:solidFill>
          <a:ln>
            <a:noFill/>
          </a:ln>
        </p:spPr>
        <p:style>
          <a:lnRef idx="2">
            <a:srgbClr val="7578EC">
              <a:shade val="50000"/>
            </a:srgbClr>
          </a:lnRef>
          <a:fillRef idx="1">
            <a:srgbClr val="7578EC"/>
          </a:fillRef>
          <a:effectRef idx="0">
            <a:srgbClr val="7578EC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  <p:sp>
        <p:nvSpPr>
          <p:cNvPr id="5" name="燕尾形 1"/>
          <p:cNvSpPr/>
          <p:nvPr>
            <p:custDataLst>
              <p:tags r:id="rId4"/>
            </p:custDataLst>
          </p:nvPr>
        </p:nvSpPr>
        <p:spPr>
          <a:xfrm rot="16200000">
            <a:off x="1055710" y="1231938"/>
            <a:ext cx="1283902" cy="117587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  <p:sp>
        <p:nvSpPr>
          <p:cNvPr id="6" name="矩形 7"/>
          <p:cNvSpPr/>
          <p:nvPr>
            <p:custDataLst>
              <p:tags r:id="rId5"/>
            </p:custDataLst>
          </p:nvPr>
        </p:nvSpPr>
        <p:spPr>
          <a:xfrm>
            <a:off x="3122930" y="1233805"/>
            <a:ext cx="6452870" cy="158178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  <p:cxnSp>
        <p:nvCxnSpPr>
          <p:cNvPr id="7" name="直接连接符 13"/>
          <p:cNvCxnSpPr/>
          <p:nvPr>
            <p:custDataLst>
              <p:tags r:id="rId6"/>
            </p:custDataLst>
          </p:nvPr>
        </p:nvCxnSpPr>
        <p:spPr>
          <a:xfrm>
            <a:off x="2383363" y="2076710"/>
            <a:ext cx="641681" cy="0"/>
          </a:xfrm>
          <a:prstGeom prst="line">
            <a:avLst/>
          </a:prstGeom>
          <a:ln w="158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32" descr="343435383038363b343532323430393bcdcbb3f6bbfad6c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3280528" y="1871998"/>
            <a:ext cx="306257" cy="306257"/>
          </a:xfrm>
          <a:prstGeom prst="rect">
            <a:avLst/>
          </a:prstGeom>
        </p:spPr>
      </p:pic>
      <p:sp>
        <p:nvSpPr>
          <p:cNvPr id="11" name="文本框 55"/>
          <p:cNvSpPr txBox="1"/>
          <p:nvPr>
            <p:custDataLst>
              <p:tags r:id="rId10"/>
            </p:custDataLst>
          </p:nvPr>
        </p:nvSpPr>
        <p:spPr>
          <a:xfrm flipH="1">
            <a:off x="4095750" y="1695450"/>
            <a:ext cx="1539875" cy="762000"/>
          </a:xfrm>
          <a:prstGeom prst="rect">
            <a:avLst/>
          </a:prstGeom>
          <a:noFill/>
        </p:spPr>
        <p:txBody>
          <a:bodyPr wrap="square" bIns="0" rtlCol="0">
            <a:normAutofit lnSpcReduction="10000"/>
            <a:scene3d>
              <a:camera prst="orthographicFront"/>
              <a:lightRig rig="threePt" dir="t"/>
            </a:scene3d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600" spc="300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思源黑体 CN Heavy" panose="020B0A00000000000000" charset="-122"/>
                <a:ea typeface="思源黑体 CN Heavy" panose="020B0A00000000000000" charset="-122"/>
              </a:rPr>
              <a:t>建立工艺管理标准化、数字化</a:t>
            </a:r>
            <a:endParaRPr lang="zh-CN" altLang="en-US" sz="1600" spc="300">
              <a:solidFill>
                <a:schemeClr val="accent1">
                  <a:lumMod val="75000"/>
                </a:schemeClr>
              </a:solidFill>
              <a:effectLst/>
              <a:uFillTx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2" name="文本框 56"/>
          <p:cNvSpPr txBox="1"/>
          <p:nvPr>
            <p:custDataLst>
              <p:tags r:id="rId11"/>
            </p:custDataLst>
          </p:nvPr>
        </p:nvSpPr>
        <p:spPr>
          <a:xfrm flipH="1">
            <a:off x="5977890" y="1467485"/>
            <a:ext cx="3402965" cy="146558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kumimoji="1" lang="en-US" altLang="zh-CN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1.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工艺的标准化、数字化，可传承和优化</a:t>
            </a:r>
            <a:endParaRPr kumimoji="1" lang="zh-CN" altLang="en-US" sz="1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kumimoji="1" lang="en-US" altLang="zh-CN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建立警戒和监测基准，监控执行情况</a:t>
            </a:r>
            <a:endParaRPr kumimoji="1" lang="zh-CN" altLang="en-US" sz="1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kumimoji="1" lang="en-US" altLang="zh-CN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3.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工艺及参数标准时，实现一键换产的基础</a:t>
            </a:r>
            <a:endParaRPr kumimoji="1" lang="zh-CN" altLang="en-US" sz="1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kumimoji="1" lang="en-US" altLang="zh-CN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4.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一键生产产品工艺的数字档案</a:t>
            </a:r>
            <a:endParaRPr lang="zh-CN" altLang="en-US"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  <p:sp>
        <p:nvSpPr>
          <p:cNvPr id="16" name="燕尾形 2"/>
          <p:cNvSpPr/>
          <p:nvPr>
            <p:custDataLst>
              <p:tags r:id="rId12"/>
            </p:custDataLst>
          </p:nvPr>
        </p:nvSpPr>
        <p:spPr>
          <a:xfrm rot="16200000">
            <a:off x="1055710" y="3604213"/>
            <a:ext cx="1283902" cy="1175875"/>
          </a:xfrm>
          <a:prstGeom prst="chevron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  <p:sp>
        <p:nvSpPr>
          <p:cNvPr id="17" name="矩形 12"/>
          <p:cNvSpPr/>
          <p:nvPr>
            <p:custDataLst>
              <p:tags r:id="rId13"/>
            </p:custDataLst>
          </p:nvPr>
        </p:nvSpPr>
        <p:spPr>
          <a:xfrm>
            <a:off x="3121660" y="3489325"/>
            <a:ext cx="6452870" cy="1582420"/>
          </a:xfrm>
          <a:prstGeom prst="rect">
            <a:avLst/>
          </a:prstGeom>
          <a:solidFill>
            <a:schemeClr val="accent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  <p:cxnSp>
        <p:nvCxnSpPr>
          <p:cNvPr id="18" name="直接连接符 18"/>
          <p:cNvCxnSpPr/>
          <p:nvPr>
            <p:custDataLst>
              <p:tags r:id="rId14"/>
            </p:custDataLst>
          </p:nvPr>
        </p:nvCxnSpPr>
        <p:spPr>
          <a:xfrm>
            <a:off x="2382823" y="4448985"/>
            <a:ext cx="641681" cy="0"/>
          </a:xfrm>
          <a:prstGeom prst="line">
            <a:avLst/>
          </a:prstGeom>
          <a:ln w="15875">
            <a:solidFill>
              <a:schemeClr val="accent2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30" descr="343435383038363b343532323430313bd6b4d0d0bcc6bbae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3279988" y="4244273"/>
            <a:ext cx="306257" cy="306257"/>
          </a:xfrm>
          <a:prstGeom prst="rect">
            <a:avLst/>
          </a:prstGeom>
        </p:spPr>
      </p:pic>
      <p:sp>
        <p:nvSpPr>
          <p:cNvPr id="21" name="文本框 33"/>
          <p:cNvSpPr txBox="1"/>
          <p:nvPr>
            <p:custDataLst>
              <p:tags r:id="rId18"/>
            </p:custDataLst>
          </p:nvPr>
        </p:nvSpPr>
        <p:spPr>
          <a:xfrm flipH="1">
            <a:off x="4095750" y="3874135"/>
            <a:ext cx="1539875" cy="812800"/>
          </a:xfrm>
          <a:prstGeom prst="rect">
            <a:avLst/>
          </a:prstGeom>
          <a:noFill/>
        </p:spPr>
        <p:txBody>
          <a:bodyPr wrap="square" bIns="0" rtlCol="0">
            <a:norm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1600" spc="300">
                <a:solidFill>
                  <a:schemeClr val="accent2"/>
                </a:solidFill>
                <a:effectLst/>
                <a:uFillTx/>
                <a:latin typeface="思源黑体 CN Heavy" panose="020B0A00000000000000" charset="-122"/>
                <a:ea typeface="思源黑体 CN Heavy" panose="020B0A00000000000000" charset="-122"/>
              </a:rPr>
              <a:t>全面质量管理的数字化运营</a:t>
            </a:r>
            <a:endParaRPr lang="zh-CN" altLang="en-US" sz="1600" spc="300">
              <a:solidFill>
                <a:schemeClr val="accent2"/>
              </a:solidFill>
              <a:effectLst/>
              <a:uFillTx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22" name="文本框 34"/>
          <p:cNvSpPr txBox="1"/>
          <p:nvPr>
            <p:custDataLst>
              <p:tags r:id="rId19"/>
            </p:custDataLst>
          </p:nvPr>
        </p:nvSpPr>
        <p:spPr>
          <a:xfrm flipH="1">
            <a:off x="5977890" y="3700780"/>
            <a:ext cx="3168015" cy="107632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>
              <a:lnSpc>
                <a:spcPts val="2000"/>
              </a:lnSpc>
            </a:pPr>
            <a:r>
              <a:rPr kumimoji="1" lang="en-US" altLang="zh-CN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1.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建立全面的各检验项的检验标准数字化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ts val="2000"/>
              </a:lnSpc>
            </a:pPr>
            <a:r>
              <a:rPr kumimoji="1" lang="en-US" altLang="zh-CN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进检</a:t>
            </a:r>
            <a:r>
              <a:rPr kumimoji="1" lang="en-US" altLang="zh-CN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制成检</a:t>
            </a:r>
            <a:r>
              <a:rPr kumimoji="1" lang="en-US" altLang="zh-CN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产品检的流程标准化和管理数字化，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ts val="2000"/>
              </a:lnSpc>
            </a:pPr>
            <a:r>
              <a:rPr kumimoji="1" lang="zh-CN" altLang="en-US" sz="1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实时在线搜集检测数据，在线统计分析、异常反馈</a:t>
            </a:r>
            <a:endParaRPr lang="zh-CN" altLang="en-US" sz="10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思源黑体 CN Light" panose="020B0300000000000000" charset="-122"/>
              <a:ea typeface="思源黑体 CN Light" panose="020B0300000000000000" charset="-122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" name="文本框 94"/>
          <p:cNvSpPr txBox="1"/>
          <p:nvPr>
            <p:custDataLst>
              <p:tags r:id="rId1"/>
            </p:custDataLst>
          </p:nvPr>
        </p:nvSpPr>
        <p:spPr>
          <a:xfrm>
            <a:off x="3301822" y="296124"/>
            <a:ext cx="4161882" cy="403553"/>
          </a:xfrm>
          <a:prstGeom prst="rect">
            <a:avLst/>
          </a:prstGeom>
          <a:noFill/>
        </p:spPr>
        <p:txBody>
          <a:bodyPr wrap="square" bIns="0" rtlCol="0">
            <a:normAutofit/>
          </a:bodyPr>
          <a:p>
            <a:pPr algn="ctr"/>
            <a:r>
              <a:rPr lang="zh-CN" altLang="en-US" sz="2105" b="1" spc="300">
                <a:solidFill>
                  <a:srgbClr val="000000">
                    <a:lumMod val="85000"/>
                    <a:lumOff val="15000"/>
                  </a:srgbClr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交期管理</a:t>
            </a:r>
            <a:endParaRPr lang="zh-CN" altLang="en-US" sz="2105" b="1" spc="300">
              <a:solidFill>
                <a:srgbClr val="000000">
                  <a:lumMod val="85000"/>
                  <a:lumOff val="15000"/>
                </a:srgbClr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96" name="文本框 95"/>
          <p:cNvSpPr txBox="1"/>
          <p:nvPr>
            <p:custDataLst>
              <p:tags r:id="rId2"/>
            </p:custDataLst>
          </p:nvPr>
        </p:nvSpPr>
        <p:spPr>
          <a:xfrm>
            <a:off x="3307388" y="652921"/>
            <a:ext cx="4150749" cy="258274"/>
          </a:xfrm>
          <a:prstGeom prst="rect">
            <a:avLst/>
          </a:prstGeom>
          <a:noFill/>
        </p:spPr>
        <p:txBody>
          <a:bodyPr wrap="square" bIns="0" rtlCol="0">
            <a:noAutofit/>
          </a:bodyPr>
          <a:p>
            <a:pPr algn="ctr"/>
            <a:r>
              <a:rPr lang="zh-CN" altLang="en-US" sz="1050" spc="300">
                <a:solidFill>
                  <a:srgbClr val="000000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</a:rPr>
              <a:t>生产运营</a:t>
            </a:r>
            <a:endParaRPr lang="zh-CN" altLang="en-US" sz="1050" spc="300">
              <a:solidFill>
                <a:srgbClr val="000000"/>
              </a:solidFill>
              <a:uFillTx/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"/>
            </p:custDataLst>
          </p:nvPr>
        </p:nvCxnSpPr>
        <p:spPr>
          <a:xfrm>
            <a:off x="3520576" y="671289"/>
            <a:ext cx="3650344" cy="0"/>
          </a:xfrm>
          <a:prstGeom prst="line">
            <a:avLst/>
          </a:prstGeom>
          <a:ln>
            <a:solidFill>
              <a:srgbClr val="7578EC"/>
            </a:solidFill>
            <a:headEnd type="oval"/>
            <a:tailEnd type="oval"/>
          </a:ln>
        </p:spPr>
        <p:style>
          <a:lnRef idx="1">
            <a:srgbClr val="7578EC"/>
          </a:lnRef>
          <a:fillRef idx="0">
            <a:srgbClr val="7578EC"/>
          </a:fillRef>
          <a:effectRef idx="0">
            <a:srgbClr val="7578EC"/>
          </a:effectRef>
          <a:fontRef idx="minor">
            <a:srgbClr val="000000"/>
          </a:fontRef>
        </p:style>
      </p:cxnSp>
      <p:sp>
        <p:nvSpPr>
          <p:cNvPr id="2" name="平行四边形 10"/>
          <p:cNvSpPr/>
          <p:nvPr>
            <p:custDataLst>
              <p:tags r:id="rId4"/>
            </p:custDataLst>
          </p:nvPr>
        </p:nvSpPr>
        <p:spPr>
          <a:xfrm>
            <a:off x="3152753" y="1609894"/>
            <a:ext cx="4657290" cy="1297359"/>
          </a:xfrm>
          <a:prstGeom prst="parallelogram">
            <a:avLst>
              <a:gd name="adj" fmla="val 14222"/>
            </a:avLst>
          </a:prstGeom>
          <a:gradFill>
            <a:gsLst>
              <a:gs pos="0">
                <a:schemeClr val="accent2">
                  <a:lumMod val="20000"/>
                  <a:lumOff val="80000"/>
                  <a:alpha val="2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580">
              <a:cs typeface="MiSans" panose="00000500000000000000" charset="-122"/>
            </a:endParaRPr>
          </a:p>
        </p:txBody>
      </p:sp>
      <p:cxnSp>
        <p:nvCxnSpPr>
          <p:cNvPr id="3" name="直接箭头连接符 37"/>
          <p:cNvCxnSpPr/>
          <p:nvPr>
            <p:custDataLst>
              <p:tags r:id="rId5"/>
            </p:custDataLst>
          </p:nvPr>
        </p:nvCxnSpPr>
        <p:spPr>
          <a:xfrm>
            <a:off x="5564053" y="1457435"/>
            <a:ext cx="573618" cy="0"/>
          </a:xfrm>
          <a:prstGeom prst="straightConnector1">
            <a:avLst/>
          </a:prstGeom>
          <a:ln>
            <a:solidFill>
              <a:schemeClr val="accent1">
                <a:alpha val="4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燕尾形 121"/>
          <p:cNvSpPr/>
          <p:nvPr>
            <p:custDataLst>
              <p:tags r:id="rId6"/>
            </p:custDataLst>
          </p:nvPr>
        </p:nvSpPr>
        <p:spPr>
          <a:xfrm>
            <a:off x="3310469" y="1418882"/>
            <a:ext cx="2314334" cy="488920"/>
          </a:xfrm>
          <a:prstGeom prst="chevron">
            <a:avLst/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08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  <p:sp>
        <p:nvSpPr>
          <p:cNvPr id="5" name="燕尾形 122"/>
          <p:cNvSpPr/>
          <p:nvPr>
            <p:custDataLst>
              <p:tags r:id="rId7"/>
            </p:custDataLst>
          </p:nvPr>
        </p:nvSpPr>
        <p:spPr>
          <a:xfrm>
            <a:off x="2975761" y="1320164"/>
            <a:ext cx="2484901" cy="52513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  <p:sp>
        <p:nvSpPr>
          <p:cNvPr id="6" name="文本框 132"/>
          <p:cNvSpPr txBox="1"/>
          <p:nvPr>
            <p:custDataLst>
              <p:tags r:id="rId8"/>
            </p:custDataLst>
          </p:nvPr>
        </p:nvSpPr>
        <p:spPr>
          <a:xfrm>
            <a:off x="6316999" y="1309065"/>
            <a:ext cx="467306" cy="296740"/>
          </a:xfrm>
          <a:prstGeom prst="rect">
            <a:avLst/>
          </a:prstGeom>
          <a:noFill/>
        </p:spPr>
        <p:txBody>
          <a:bodyPr wrap="square" bIns="0" rtlCol="0">
            <a:normAutofit fontScale="90000"/>
          </a:bodyPr>
          <a:p>
            <a:r>
              <a:rPr lang="en-US" altLang="zh-CN" sz="1755" spc="30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16200000" scaled="0"/>
                </a:gra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01</a:t>
            </a:r>
            <a:endParaRPr lang="en-US" altLang="zh-CN" sz="1755" spc="300"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16200000" scaled="0"/>
              </a:gra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7" name="文本框 145"/>
          <p:cNvSpPr txBox="1"/>
          <p:nvPr>
            <p:custDataLst>
              <p:tags r:id="rId9"/>
            </p:custDataLst>
          </p:nvPr>
        </p:nvSpPr>
        <p:spPr>
          <a:xfrm>
            <a:off x="3461759" y="1420051"/>
            <a:ext cx="1513488" cy="324778"/>
          </a:xfrm>
          <a:prstGeom prst="rect">
            <a:avLst/>
          </a:prstGeom>
          <a:noFill/>
        </p:spPr>
        <p:txBody>
          <a:bodyPr wrap="square" bIns="0" rtlCol="0">
            <a:normAutofit fontScale="90000"/>
          </a:bodyPr>
          <a:p>
            <a:pPr algn="ctr"/>
            <a:r>
              <a:rPr lang="zh-CN" altLang="en-US" sz="158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订单数字化运营</a:t>
            </a:r>
            <a:endParaRPr lang="en-US" altLang="zh-CN" sz="1580" b="1" spc="300" dirty="0" smtClean="0">
              <a:solidFill>
                <a:schemeClr val="bg1"/>
              </a:solidFill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" name="文本框 146"/>
          <p:cNvSpPr txBox="1"/>
          <p:nvPr>
            <p:custDataLst>
              <p:tags r:id="rId10"/>
            </p:custDataLst>
          </p:nvPr>
        </p:nvSpPr>
        <p:spPr>
          <a:xfrm>
            <a:off x="3539448" y="1962442"/>
            <a:ext cx="3699897" cy="814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ts val="2000"/>
              </a:lnSpc>
            </a:pPr>
            <a:r>
              <a:rPr kumimoji="1" lang="zh-CN" altLang="en-US" sz="9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实现订单评价数字模型，实现快速订单分配和评审，量化和简化订单处理流程。</a:t>
            </a:r>
            <a:endParaRPr kumimoji="1" lang="zh-CN" altLang="en-US" sz="9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ts val="2000"/>
              </a:lnSpc>
            </a:pPr>
            <a:r>
              <a:rPr kumimoji="1" lang="zh-CN" altLang="en-US" sz="9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实现一键订单全面跟踪：订单</a:t>
            </a:r>
            <a:r>
              <a:rPr kumimoji="1" lang="en-US" altLang="zh-CN" sz="9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kumimoji="1" lang="zh-CN" altLang="en-US" sz="9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计划</a:t>
            </a:r>
            <a:r>
              <a:rPr kumimoji="1" lang="en-US" altLang="zh-CN" sz="9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kumimoji="1" lang="zh-CN" altLang="en-US" sz="9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生产</a:t>
            </a:r>
            <a:r>
              <a:rPr kumimoji="1" lang="en-US" altLang="zh-CN" sz="9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kumimoji="1" lang="zh-CN" altLang="en-US" sz="9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仓储</a:t>
            </a:r>
            <a:r>
              <a:rPr kumimoji="1" lang="en-US" altLang="zh-CN" sz="9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kumimoji="1" lang="zh-CN" altLang="en-US" sz="9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交付。</a:t>
            </a:r>
            <a:endParaRPr kumimoji="1" lang="en-US" altLang="zh-CN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ts val="2000"/>
              </a:lnSpc>
            </a:pPr>
            <a:endParaRPr lang="zh-CN" altLang="en-US" sz="900" spc="150" dirty="0">
              <a:solidFill>
                <a:srgbClr val="C59E65"/>
              </a:solidFill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9" name="平行四边形 27"/>
          <p:cNvSpPr/>
          <p:nvPr>
            <p:custDataLst>
              <p:tags r:id="rId11"/>
            </p:custDataLst>
          </p:nvPr>
        </p:nvSpPr>
        <p:spPr>
          <a:xfrm>
            <a:off x="3152753" y="3691743"/>
            <a:ext cx="4657290" cy="1297359"/>
          </a:xfrm>
          <a:prstGeom prst="parallelogram">
            <a:avLst>
              <a:gd name="adj" fmla="val 14222"/>
            </a:avLst>
          </a:prstGeom>
          <a:gradFill>
            <a:gsLst>
              <a:gs pos="0">
                <a:schemeClr val="accent2">
                  <a:lumMod val="20000"/>
                  <a:lumOff val="80000"/>
                  <a:alpha val="2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580">
              <a:cs typeface="MiSans" panose="00000500000000000000" charset="-122"/>
            </a:endParaRPr>
          </a:p>
        </p:txBody>
      </p:sp>
      <p:cxnSp>
        <p:nvCxnSpPr>
          <p:cNvPr id="12" name="直接箭头连接符 32"/>
          <p:cNvCxnSpPr/>
          <p:nvPr>
            <p:custDataLst>
              <p:tags r:id="rId12"/>
            </p:custDataLst>
          </p:nvPr>
        </p:nvCxnSpPr>
        <p:spPr>
          <a:xfrm flipV="1">
            <a:off x="5564053" y="3534204"/>
            <a:ext cx="1361440" cy="5080"/>
          </a:xfrm>
          <a:prstGeom prst="straightConnector1">
            <a:avLst/>
          </a:prstGeom>
          <a:ln>
            <a:solidFill>
              <a:schemeClr val="accent2">
                <a:alpha val="4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燕尾形 106"/>
          <p:cNvSpPr/>
          <p:nvPr>
            <p:custDataLst>
              <p:tags r:id="rId13"/>
            </p:custDataLst>
          </p:nvPr>
        </p:nvSpPr>
        <p:spPr>
          <a:xfrm>
            <a:off x="3310890" y="3539490"/>
            <a:ext cx="3177540" cy="488950"/>
          </a:xfrm>
          <a:prstGeom prst="chevron">
            <a:avLst/>
          </a:prstGeom>
          <a:noFill/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  <p:sp>
        <p:nvSpPr>
          <p:cNvPr id="14" name="燕尾形 103"/>
          <p:cNvSpPr/>
          <p:nvPr>
            <p:custDataLst>
              <p:tags r:id="rId14"/>
            </p:custDataLst>
          </p:nvPr>
        </p:nvSpPr>
        <p:spPr>
          <a:xfrm>
            <a:off x="2975610" y="3440430"/>
            <a:ext cx="3340735" cy="525145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580"/>
          </a:p>
        </p:txBody>
      </p:sp>
      <p:sp>
        <p:nvSpPr>
          <p:cNvPr id="15" name="文本框 133"/>
          <p:cNvSpPr txBox="1"/>
          <p:nvPr>
            <p:custDataLst>
              <p:tags r:id="rId15"/>
            </p:custDataLst>
          </p:nvPr>
        </p:nvSpPr>
        <p:spPr>
          <a:xfrm>
            <a:off x="6990734" y="3440444"/>
            <a:ext cx="467306" cy="296740"/>
          </a:xfrm>
          <a:prstGeom prst="rect">
            <a:avLst/>
          </a:prstGeom>
          <a:noFill/>
        </p:spPr>
        <p:txBody>
          <a:bodyPr wrap="square" bIns="0" rtlCol="0">
            <a:normAutofit fontScale="90000"/>
          </a:bodyPr>
          <a:p>
            <a:r>
              <a:rPr lang="en-US" altLang="zh-CN" sz="1755" spc="300"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02</a:t>
            </a:r>
            <a:endParaRPr lang="en-US" altLang="zh-CN" sz="1755" spc="300">
              <a:gradFill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6200000" scaled="0"/>
              </a:gra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16" name="文本框 138"/>
          <p:cNvSpPr txBox="1"/>
          <p:nvPr>
            <p:custDataLst>
              <p:tags r:id="rId16"/>
            </p:custDataLst>
          </p:nvPr>
        </p:nvSpPr>
        <p:spPr>
          <a:xfrm>
            <a:off x="3462020" y="3540125"/>
            <a:ext cx="2508885" cy="324485"/>
          </a:xfrm>
          <a:prstGeom prst="rect">
            <a:avLst/>
          </a:prstGeom>
          <a:noFill/>
        </p:spPr>
        <p:txBody>
          <a:bodyPr wrap="square" bIns="0" rtlCol="0">
            <a:normAutofit fontScale="80000"/>
          </a:bodyPr>
          <a:p>
            <a:pPr algn="ctr"/>
            <a:r>
              <a:rPr lang="zh-CN" altLang="en-US" sz="1580" spc="300">
                <a:solidFill>
                  <a:schemeClr val="bg1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</a:rPr>
              <a:t>建立智能柔性的智能排产</a:t>
            </a:r>
            <a:endParaRPr lang="zh-CN" altLang="en-US" sz="1580" spc="300">
              <a:solidFill>
                <a:schemeClr val="bg1"/>
              </a:solidFill>
              <a:uFillTx/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17" name="文本框 143"/>
          <p:cNvSpPr txBox="1"/>
          <p:nvPr>
            <p:custDataLst>
              <p:tags r:id="rId17"/>
            </p:custDataLst>
          </p:nvPr>
        </p:nvSpPr>
        <p:spPr>
          <a:xfrm>
            <a:off x="3539328" y="4074001"/>
            <a:ext cx="4201230" cy="1002165"/>
          </a:xfrm>
          <a:prstGeom prst="rect">
            <a:avLst/>
          </a:prstGeom>
          <a:noFill/>
        </p:spPr>
        <p:txBody>
          <a:bodyPr wrap="square" rtlCol="0">
            <a:normAutofit fontScale="80000"/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kumimoji="1" lang="zh-CN" altLang="en-US" sz="105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</a:t>
            </a:r>
            <a:r>
              <a:rPr kumimoji="1" lang="en-US" altLang="zh-CN" sz="105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&lt;-&gt;</a:t>
            </a:r>
            <a:r>
              <a:rPr kumimoji="1" lang="zh-CN" altLang="en-US" sz="105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计划</a:t>
            </a:r>
            <a:r>
              <a:rPr kumimoji="1" lang="en-US" altLang="zh-CN" sz="105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&lt;-&gt;</a:t>
            </a:r>
            <a:r>
              <a:rPr kumimoji="1" lang="zh-CN" altLang="en-US" sz="105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生产的在线数字协同。</a:t>
            </a:r>
            <a:endParaRPr kumimoji="1" lang="zh-CN" altLang="en-US" sz="105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kumimoji="1" lang="zh-CN" altLang="en-US" sz="105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总部</a:t>
            </a:r>
            <a:r>
              <a:rPr kumimoji="1" lang="en-US" altLang="zh-CN" sz="105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kumimoji="1" lang="zh-CN" altLang="en-US" sz="105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基地</a:t>
            </a:r>
            <a:r>
              <a:rPr kumimoji="1" lang="en-US" altLang="zh-CN" sz="105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kumimoji="1" lang="zh-CN" altLang="en-US" sz="105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机台的三级联动计划体系。</a:t>
            </a:r>
            <a:endParaRPr kumimoji="1" lang="zh-CN" altLang="en-US" sz="105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kumimoji="1" lang="zh-CN" altLang="en-US" sz="105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实现智能柔性排产</a:t>
            </a:r>
            <a:r>
              <a:rPr kumimoji="1" lang="en-US" altLang="zh-CN" sz="105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kumimoji="1" lang="zh-CN" altLang="en-US" sz="105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快速插单和换产</a:t>
            </a:r>
            <a:r>
              <a:rPr kumimoji="1" lang="en-US" altLang="zh-CN" sz="105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kumimoji="1" lang="zh-CN" altLang="en-US" sz="105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 fontAlgn="auto">
              <a:lnSpc>
                <a:spcPct val="130000"/>
              </a:lnSpc>
              <a:spcAft>
                <a:spcPts val="1000"/>
              </a:spcAft>
            </a:pPr>
            <a:endParaRPr lang="en-US" altLang="zh-CN" sz="105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" name="矩形 55"/>
          <p:cNvSpPr/>
          <p:nvPr/>
        </p:nvSpPr>
        <p:spPr>
          <a:xfrm>
            <a:off x="-168275" y="4253230"/>
            <a:ext cx="11178540" cy="25634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375920" y="151130"/>
            <a:ext cx="4353560" cy="4399280"/>
          </a:xfrm>
          <a:prstGeom prst="rect">
            <a:avLst/>
          </a:prstGeom>
          <a:solidFill>
            <a:srgbClr val="C49B6D">
              <a:alpha val="10000"/>
            </a:srgbClr>
          </a:solidFill>
          <a:ln w="12700">
            <a:solidFill>
              <a:srgbClr val="A98A68"/>
            </a:solidFill>
            <a:miter lim="800000"/>
          </a:ln>
        </p:spPr>
        <p:txBody>
          <a:bodyPr anchor="t" anchorCtr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22" name="形状 49"/>
          <p:cNvCxnSpPr>
            <a:stCxn id="30" idx="0"/>
            <a:endCxn id="35" idx="2"/>
          </p:cNvCxnSpPr>
          <p:nvPr/>
        </p:nvCxnSpPr>
        <p:spPr>
          <a:xfrm rot="5400000" flipH="1" flipV="1">
            <a:off x="1666083" y="1777082"/>
            <a:ext cx="211273" cy="1525270"/>
          </a:xfrm>
          <a:prstGeom prst="bentConnector3">
            <a:avLst>
              <a:gd name="adj1" fmla="val 52004"/>
            </a:avLst>
          </a:prstGeom>
          <a:ln w="12700">
            <a:solidFill>
              <a:srgbClr val="A98A68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AutoShape 7"/>
          <p:cNvCxnSpPr>
            <a:stCxn id="33" idx="0"/>
            <a:endCxn id="32" idx="2"/>
          </p:cNvCxnSpPr>
          <p:nvPr/>
        </p:nvCxnSpPr>
        <p:spPr>
          <a:xfrm flipV="1">
            <a:off x="2534354" y="3802802"/>
            <a:ext cx="0" cy="164622"/>
          </a:xfrm>
          <a:prstGeom prst="straightConnector1">
            <a:avLst/>
          </a:prstGeom>
          <a:ln w="12700" cap="flat" cmpd="sng">
            <a:solidFill>
              <a:srgbClr val="A98A6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AutoShape 6"/>
          <p:cNvSpPr>
            <a:spLocks noChangeArrowheads="1"/>
          </p:cNvSpPr>
          <p:nvPr/>
        </p:nvSpPr>
        <p:spPr>
          <a:xfrm>
            <a:off x="523084" y="2645353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模具标准</a:t>
            </a:r>
            <a:endParaRPr lang="en-US" altLang="zh-CN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>
          <a:xfrm>
            <a:off x="2048354" y="2635193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压制标准</a:t>
            </a:r>
            <a:endParaRPr lang="en-US" altLang="zh-CN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>
          <a:xfrm>
            <a:off x="2048354" y="3295202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粉料标准</a:t>
            </a:r>
            <a:endParaRPr lang="en-US" altLang="zh-CN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>
          <a:xfrm>
            <a:off x="2048354" y="3967424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坭</a:t>
            </a: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砂原材料标准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>
          <a:xfrm>
            <a:off x="523084" y="1896144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施釉路线</a:t>
            </a:r>
            <a:endParaRPr lang="en-US" altLang="zh-CN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>
          <a:xfrm>
            <a:off x="2048354" y="1228215"/>
            <a:ext cx="972000" cy="1205865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 u="sng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成型标准</a:t>
            </a:r>
            <a:endParaRPr lang="zh-CN" altLang="en-US" sz="900" b="1" u="sng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烧成工艺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施釉工艺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干燥标准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压制工艺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模具信息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>
          <a:xfrm>
            <a:off x="3513843" y="2635193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釉料标准</a:t>
            </a:r>
            <a:endParaRPr lang="en-US" altLang="zh-CN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>
          <a:xfrm>
            <a:off x="3513843" y="3295837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化工</a:t>
            </a: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原材料标准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>
          <a:xfrm>
            <a:off x="523084" y="405703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加工</a:t>
            </a: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路线</a:t>
            </a:r>
            <a:endParaRPr lang="en-US" altLang="zh-CN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>
          <a:xfrm>
            <a:off x="3547110" y="279400"/>
            <a:ext cx="905510" cy="634365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版本管理继承管理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>
          <a:xfrm>
            <a:off x="523084" y="1245360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烧成标准</a:t>
            </a:r>
            <a:endParaRPr lang="en-US" altLang="zh-CN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>
          <a:xfrm>
            <a:off x="2048354" y="279338"/>
            <a:ext cx="972000" cy="763815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 u="sng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产品标准</a:t>
            </a:r>
            <a:endParaRPr lang="zh-CN" altLang="en-US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endParaRPr lang="en-US" altLang="zh-CN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产品编码</a:t>
            </a:r>
            <a:endParaRPr lang="zh-CN" altLang="en-US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加工工艺</a:t>
            </a:r>
            <a:endParaRPr lang="en-US" altLang="zh-CN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44" name="AutoShape 7"/>
          <p:cNvCxnSpPr>
            <a:stCxn id="32" idx="0"/>
            <a:endCxn id="31" idx="2"/>
          </p:cNvCxnSpPr>
          <p:nvPr/>
        </p:nvCxnSpPr>
        <p:spPr>
          <a:xfrm flipV="1">
            <a:off x="2534354" y="3142793"/>
            <a:ext cx="0" cy="152409"/>
          </a:xfrm>
          <a:prstGeom prst="straightConnector1">
            <a:avLst/>
          </a:prstGeom>
          <a:ln w="12700" cap="flat" cmpd="sng">
            <a:solidFill>
              <a:srgbClr val="A98A6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" name="AutoShape 7"/>
          <p:cNvCxnSpPr>
            <a:stCxn id="31" idx="0"/>
            <a:endCxn id="35" idx="2"/>
          </p:cNvCxnSpPr>
          <p:nvPr/>
        </p:nvCxnSpPr>
        <p:spPr>
          <a:xfrm flipV="1">
            <a:off x="2534354" y="2434080"/>
            <a:ext cx="0" cy="201113"/>
          </a:xfrm>
          <a:prstGeom prst="straightConnector1">
            <a:avLst/>
          </a:prstGeom>
          <a:ln w="12700" cap="flat" cmpd="sng">
            <a:solidFill>
              <a:srgbClr val="A98A6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" name="形状 49"/>
          <p:cNvCxnSpPr>
            <a:stCxn id="34" idx="3"/>
            <a:endCxn id="35" idx="1"/>
          </p:cNvCxnSpPr>
          <p:nvPr/>
        </p:nvCxnSpPr>
        <p:spPr>
          <a:xfrm flipV="1">
            <a:off x="1495084" y="1831148"/>
            <a:ext cx="553270" cy="318796"/>
          </a:xfrm>
          <a:prstGeom prst="bentConnector3">
            <a:avLst>
              <a:gd name="adj1" fmla="val 50000"/>
            </a:avLst>
          </a:prstGeom>
          <a:ln w="12700">
            <a:solidFill>
              <a:srgbClr val="A98A68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形状 49"/>
          <p:cNvCxnSpPr>
            <a:stCxn id="42" idx="3"/>
            <a:endCxn id="35" idx="1"/>
          </p:cNvCxnSpPr>
          <p:nvPr/>
        </p:nvCxnSpPr>
        <p:spPr>
          <a:xfrm>
            <a:off x="1495084" y="1499160"/>
            <a:ext cx="553270" cy="331988"/>
          </a:xfrm>
          <a:prstGeom prst="bentConnector3">
            <a:avLst>
              <a:gd name="adj1" fmla="val 50000"/>
            </a:avLst>
          </a:prstGeom>
          <a:ln w="12700">
            <a:solidFill>
              <a:srgbClr val="A98A68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形状 49"/>
          <p:cNvCxnSpPr>
            <a:stCxn id="36" idx="0"/>
            <a:endCxn id="35" idx="2"/>
          </p:cNvCxnSpPr>
          <p:nvPr/>
        </p:nvCxnSpPr>
        <p:spPr>
          <a:xfrm rot="16200000" flipV="1">
            <a:off x="3166543" y="1801892"/>
            <a:ext cx="201113" cy="1465489"/>
          </a:xfrm>
          <a:prstGeom prst="bentConnector3">
            <a:avLst>
              <a:gd name="adj1" fmla="val 50000"/>
            </a:avLst>
          </a:prstGeom>
          <a:ln w="12700">
            <a:solidFill>
              <a:srgbClr val="A98A68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AutoShape 7"/>
          <p:cNvCxnSpPr>
            <a:stCxn id="38" idx="3"/>
            <a:endCxn id="43" idx="1"/>
          </p:cNvCxnSpPr>
          <p:nvPr/>
        </p:nvCxnSpPr>
        <p:spPr>
          <a:xfrm>
            <a:off x="1495084" y="659503"/>
            <a:ext cx="553270" cy="1743"/>
          </a:xfrm>
          <a:prstGeom prst="straightConnector1">
            <a:avLst/>
          </a:prstGeom>
          <a:ln w="12700" cap="flat" cmpd="sng">
            <a:solidFill>
              <a:srgbClr val="A98A6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" name="AutoShape 6"/>
          <p:cNvSpPr>
            <a:spLocks noChangeArrowheads="1"/>
          </p:cNvSpPr>
          <p:nvPr/>
        </p:nvSpPr>
        <p:spPr>
          <a:xfrm>
            <a:off x="3513843" y="1581547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图案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信息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2" name="AutoShape 7"/>
          <p:cNvCxnSpPr>
            <a:stCxn id="37" idx="0"/>
            <a:endCxn id="36" idx="2"/>
          </p:cNvCxnSpPr>
          <p:nvPr/>
        </p:nvCxnSpPr>
        <p:spPr>
          <a:xfrm flipV="1">
            <a:off x="3999843" y="3142793"/>
            <a:ext cx="0" cy="153044"/>
          </a:xfrm>
          <a:prstGeom prst="straightConnector1">
            <a:avLst/>
          </a:prstGeom>
          <a:ln w="12700" cap="flat" cmpd="sng">
            <a:solidFill>
              <a:srgbClr val="A98A6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AutoShape 7"/>
          <p:cNvCxnSpPr>
            <a:stCxn id="51" idx="1"/>
            <a:endCxn id="35" idx="3"/>
          </p:cNvCxnSpPr>
          <p:nvPr/>
        </p:nvCxnSpPr>
        <p:spPr>
          <a:xfrm flipH="1" flipV="1">
            <a:off x="3020354" y="1831148"/>
            <a:ext cx="493489" cy="4199"/>
          </a:xfrm>
          <a:prstGeom prst="straightConnector1">
            <a:avLst/>
          </a:prstGeom>
          <a:ln w="12700" cap="flat" cmpd="sng">
            <a:solidFill>
              <a:srgbClr val="A98A6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" name="AutoShape 7"/>
          <p:cNvCxnSpPr>
            <a:stCxn id="35" idx="0"/>
            <a:endCxn id="43" idx="2"/>
          </p:cNvCxnSpPr>
          <p:nvPr/>
        </p:nvCxnSpPr>
        <p:spPr>
          <a:xfrm flipV="1">
            <a:off x="2534354" y="1043153"/>
            <a:ext cx="0" cy="185062"/>
          </a:xfrm>
          <a:prstGeom prst="straightConnector1">
            <a:avLst/>
          </a:prstGeom>
          <a:ln w="12700" cap="flat" cmpd="sng">
            <a:solidFill>
              <a:srgbClr val="A98A6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文本框 1"/>
          <p:cNvSpPr txBox="1"/>
          <p:nvPr/>
        </p:nvSpPr>
        <p:spPr>
          <a:xfrm>
            <a:off x="375920" y="4182110"/>
            <a:ext cx="706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PLM</a:t>
            </a:r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5888355" y="653415"/>
            <a:ext cx="4345940" cy="4639310"/>
          </a:xfrm>
          <a:prstGeom prst="rect">
            <a:avLst/>
          </a:prstGeom>
          <a:solidFill>
            <a:srgbClr val="C49B6D">
              <a:alpha val="10000"/>
            </a:srgbClr>
          </a:solidFill>
          <a:ln w="12700">
            <a:solidFill>
              <a:srgbClr val="A98A68"/>
            </a:solidFill>
            <a:miter lim="800000"/>
          </a:ln>
        </p:spPr>
        <p:txBody>
          <a:bodyPr anchor="t" anchorCtr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AutoShape 6"/>
          <p:cNvSpPr>
            <a:spLocks noChangeArrowheads="1"/>
          </p:cNvSpPr>
          <p:nvPr/>
        </p:nvSpPr>
        <p:spPr>
          <a:xfrm>
            <a:off x="6035519" y="3960021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生产计划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>
          <a:xfrm>
            <a:off x="7560789" y="3412037"/>
            <a:ext cx="972000" cy="12060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00"/>
              </a:lnSpc>
            </a:pPr>
            <a:r>
              <a:rPr lang="zh-CN" altLang="en-US" sz="900" b="1" u="sng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设备管理</a:t>
            </a:r>
            <a:endParaRPr lang="en-US" altLang="zh-CN" sz="900" b="1" u="sng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300"/>
              </a:lnSpc>
            </a:pP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档案管理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预防管理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故障管理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停机管理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>
          <a:xfrm>
            <a:off x="6035519" y="2848836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工艺标准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>
          <a:xfrm>
            <a:off x="7560789" y="2005059"/>
            <a:ext cx="972000" cy="1205865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 u="sng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生产管理</a:t>
            </a:r>
            <a:endParaRPr lang="zh-CN" altLang="en-US" sz="900" b="1" u="sng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粉釉</a:t>
            </a: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管理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压制管理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釉线管理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烧成管理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加工管理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>
          <a:xfrm>
            <a:off x="9026278" y="3412037"/>
            <a:ext cx="972000" cy="12060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300"/>
              </a:lnSpc>
            </a:pPr>
            <a:r>
              <a:rPr lang="zh-CN" altLang="en-US" sz="900" b="1" u="sng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看板管理</a:t>
            </a:r>
            <a:endParaRPr lang="en-US" altLang="zh-CN" sz="900" b="1" u="sng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300"/>
              </a:lnSpc>
            </a:pPr>
            <a:endParaRPr lang="en-US" altLang="zh-CN" sz="900" b="1" u="sng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生产看板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质量看板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设备看板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能耗看板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>
          <a:xfrm>
            <a:off x="6035519" y="1005626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检验标准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>
          <a:xfrm>
            <a:off x="6035519" y="1702752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基础信息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>
          <a:xfrm>
            <a:off x="7560789" y="732728"/>
            <a:ext cx="972000" cy="1058027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 u="sng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质量管理</a:t>
            </a:r>
            <a:endParaRPr lang="en-US" altLang="zh-CN" sz="900" b="1" u="sng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入库检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过程检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产品检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+mn-cs"/>
              </a:rPr>
              <a:t>质量分析</a:t>
            </a: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形状 49"/>
          <p:cNvCxnSpPr>
            <a:stCxn id="6" idx="3"/>
            <a:endCxn id="7" idx="1"/>
          </p:cNvCxnSpPr>
          <p:nvPr/>
        </p:nvCxnSpPr>
        <p:spPr>
          <a:xfrm flipV="1">
            <a:off x="7007860" y="2608580"/>
            <a:ext cx="553085" cy="494030"/>
          </a:xfrm>
          <a:prstGeom prst="bentConnector3">
            <a:avLst>
              <a:gd name="adj1" fmla="val 50057"/>
            </a:avLst>
          </a:prstGeom>
          <a:ln w="12700">
            <a:solidFill>
              <a:srgbClr val="A98A68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形状 49"/>
          <p:cNvCxnSpPr>
            <a:stCxn id="12" idx="3"/>
            <a:endCxn id="7" idx="1"/>
          </p:cNvCxnSpPr>
          <p:nvPr/>
        </p:nvCxnSpPr>
        <p:spPr>
          <a:xfrm>
            <a:off x="7007519" y="1956552"/>
            <a:ext cx="553270" cy="651440"/>
          </a:xfrm>
          <a:prstGeom prst="bentConnector3">
            <a:avLst>
              <a:gd name="adj1" fmla="val 50000"/>
            </a:avLst>
          </a:prstGeom>
          <a:ln w="12700">
            <a:solidFill>
              <a:srgbClr val="A98A68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AutoShape 7"/>
          <p:cNvCxnSpPr>
            <a:stCxn id="9" idx="3"/>
            <a:endCxn id="13" idx="1"/>
          </p:cNvCxnSpPr>
          <p:nvPr/>
        </p:nvCxnSpPr>
        <p:spPr>
          <a:xfrm>
            <a:off x="7007519" y="1259426"/>
            <a:ext cx="553270" cy="2316"/>
          </a:xfrm>
          <a:prstGeom prst="straightConnector1">
            <a:avLst/>
          </a:prstGeom>
          <a:ln w="12700" cap="flat" cmpd="sng">
            <a:solidFill>
              <a:srgbClr val="A98A6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AutoShape 6"/>
          <p:cNvSpPr>
            <a:spLocks noChangeArrowheads="1"/>
          </p:cNvSpPr>
          <p:nvPr/>
        </p:nvSpPr>
        <p:spPr>
          <a:xfrm>
            <a:off x="9026278" y="2005059"/>
            <a:ext cx="972000" cy="12060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 u="sng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能源管理</a:t>
            </a:r>
            <a:endParaRPr lang="en-US" altLang="zh-CN" sz="900" b="1" u="sng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300"/>
              </a:lnSpc>
            </a:pPr>
            <a:endParaRPr lang="en-US" altLang="zh-CN" sz="9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300"/>
              </a:lnSpc>
            </a:pP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</a:rPr>
              <a:t>水电煤气管理</a:t>
            </a:r>
            <a:endParaRPr lang="zh-CN" altLang="en-US" sz="7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300"/>
              </a:lnSpc>
            </a:pP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</a:rPr>
              <a:t>能耗监控</a:t>
            </a:r>
            <a:endParaRPr lang="zh-CN" altLang="en-US" sz="7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300"/>
              </a:lnSpc>
            </a:pPr>
            <a:r>
              <a:rPr lang="zh-CN" altLang="en-US" sz="700" b="1" dirty="0">
                <a:latin typeface="微软雅黑" panose="020B0503020204020204" charset="-122"/>
                <a:ea typeface="微软雅黑" panose="020B0503020204020204" charset="-122"/>
              </a:rPr>
              <a:t>能耗分析</a:t>
            </a:r>
            <a:endParaRPr lang="zh-CN" altLang="en-US" sz="7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" name="AutoShape 7"/>
          <p:cNvCxnSpPr>
            <a:stCxn id="7" idx="0"/>
            <a:endCxn id="13" idx="2"/>
          </p:cNvCxnSpPr>
          <p:nvPr/>
        </p:nvCxnSpPr>
        <p:spPr>
          <a:xfrm flipV="1">
            <a:off x="8046789" y="1790755"/>
            <a:ext cx="0" cy="214304"/>
          </a:xfrm>
          <a:prstGeom prst="straightConnector1">
            <a:avLst/>
          </a:prstGeom>
          <a:ln w="12700" cap="flat" cmpd="sng">
            <a:solidFill>
              <a:srgbClr val="A98A6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AutoShape 7"/>
          <p:cNvCxnSpPr>
            <a:stCxn id="5" idx="3"/>
            <a:endCxn id="8" idx="1"/>
          </p:cNvCxnSpPr>
          <p:nvPr/>
        </p:nvCxnSpPr>
        <p:spPr>
          <a:xfrm>
            <a:off x="8532789" y="4015037"/>
            <a:ext cx="493489" cy="0"/>
          </a:xfrm>
          <a:prstGeom prst="straightConnector1">
            <a:avLst/>
          </a:prstGeom>
          <a:ln w="12700" cap="flat" cmpd="sng">
            <a:solidFill>
              <a:srgbClr val="A98A6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形状 49"/>
          <p:cNvCxnSpPr>
            <a:stCxn id="4" idx="3"/>
            <a:endCxn id="7" idx="1"/>
          </p:cNvCxnSpPr>
          <p:nvPr/>
        </p:nvCxnSpPr>
        <p:spPr>
          <a:xfrm flipV="1">
            <a:off x="7007860" y="2608580"/>
            <a:ext cx="553085" cy="1605280"/>
          </a:xfrm>
          <a:prstGeom prst="bentConnector3">
            <a:avLst>
              <a:gd name="adj1" fmla="val 50057"/>
            </a:avLst>
          </a:prstGeom>
          <a:ln w="12700">
            <a:solidFill>
              <a:srgbClr val="A98A68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形状 49"/>
          <p:cNvCxnSpPr>
            <a:stCxn id="7" idx="3"/>
            <a:endCxn id="8" idx="1"/>
          </p:cNvCxnSpPr>
          <p:nvPr/>
        </p:nvCxnSpPr>
        <p:spPr>
          <a:xfrm>
            <a:off x="8532789" y="2607992"/>
            <a:ext cx="493489" cy="1407045"/>
          </a:xfrm>
          <a:prstGeom prst="bentConnector3">
            <a:avLst>
              <a:gd name="adj1" fmla="val 50000"/>
            </a:avLst>
          </a:prstGeom>
          <a:ln w="12700">
            <a:solidFill>
              <a:srgbClr val="A98A68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形状 49"/>
          <p:cNvCxnSpPr>
            <a:stCxn id="13" idx="3"/>
            <a:endCxn id="8" idx="1"/>
          </p:cNvCxnSpPr>
          <p:nvPr/>
        </p:nvCxnSpPr>
        <p:spPr>
          <a:xfrm>
            <a:off x="8532789" y="1261742"/>
            <a:ext cx="493489" cy="2753295"/>
          </a:xfrm>
          <a:prstGeom prst="bentConnector3">
            <a:avLst>
              <a:gd name="adj1" fmla="val 50000"/>
            </a:avLst>
          </a:prstGeom>
          <a:ln w="12700">
            <a:solidFill>
              <a:srgbClr val="A98A68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AutoShape 7"/>
          <p:cNvCxnSpPr>
            <a:stCxn id="17" idx="2"/>
            <a:endCxn id="8" idx="0"/>
          </p:cNvCxnSpPr>
          <p:nvPr/>
        </p:nvCxnSpPr>
        <p:spPr>
          <a:xfrm>
            <a:off x="9512278" y="3211059"/>
            <a:ext cx="0" cy="200978"/>
          </a:xfrm>
          <a:prstGeom prst="straightConnector1">
            <a:avLst/>
          </a:prstGeom>
          <a:ln w="12700" cap="flat" cmpd="sng">
            <a:solidFill>
              <a:srgbClr val="A98A6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" name="AutoShape 7"/>
          <p:cNvCxnSpPr>
            <a:stCxn id="7" idx="2"/>
            <a:endCxn id="5" idx="0"/>
          </p:cNvCxnSpPr>
          <p:nvPr/>
        </p:nvCxnSpPr>
        <p:spPr>
          <a:xfrm>
            <a:off x="8046789" y="3210924"/>
            <a:ext cx="0" cy="201113"/>
          </a:xfrm>
          <a:prstGeom prst="straightConnector1">
            <a:avLst/>
          </a:prstGeom>
          <a:ln w="12700" cap="flat" cmpd="sng">
            <a:solidFill>
              <a:srgbClr val="A98A6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AutoShape 7"/>
          <p:cNvCxnSpPr>
            <a:stCxn id="7" idx="3"/>
            <a:endCxn id="17" idx="1"/>
          </p:cNvCxnSpPr>
          <p:nvPr/>
        </p:nvCxnSpPr>
        <p:spPr>
          <a:xfrm>
            <a:off x="8532789" y="2607992"/>
            <a:ext cx="493489" cy="67"/>
          </a:xfrm>
          <a:prstGeom prst="straightConnector1">
            <a:avLst/>
          </a:prstGeom>
          <a:ln w="12700" cap="flat" cmpd="sng">
            <a:solidFill>
              <a:srgbClr val="A98A6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文本框 18"/>
          <p:cNvSpPr txBox="1"/>
          <p:nvPr/>
        </p:nvSpPr>
        <p:spPr>
          <a:xfrm>
            <a:off x="7708265" y="4923790"/>
            <a:ext cx="706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MES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375920" y="4740275"/>
            <a:ext cx="4352925" cy="1163955"/>
          </a:xfrm>
          <a:prstGeom prst="rect">
            <a:avLst/>
          </a:prstGeom>
          <a:solidFill>
            <a:srgbClr val="C49B6D">
              <a:alpha val="10000"/>
            </a:srgbClr>
          </a:solidFill>
          <a:ln w="12700">
            <a:solidFill>
              <a:srgbClr val="A98A68"/>
            </a:solidFill>
            <a:miter lim="800000"/>
          </a:ln>
        </p:spPr>
        <p:txBody>
          <a:bodyPr anchor="t" anchorCtr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>
          <a:xfrm>
            <a:off x="951865" y="4872990"/>
            <a:ext cx="972185" cy="332105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销售订单</a:t>
            </a:r>
            <a:endParaRPr lang="en-US" altLang="zh-CN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>
          <a:xfrm>
            <a:off x="952500" y="5368925"/>
            <a:ext cx="972185" cy="332105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销售预测</a:t>
            </a:r>
            <a:endParaRPr lang="en-US" altLang="zh-CN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>
          <a:xfrm>
            <a:off x="2281399" y="5068508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排产</a:t>
            </a:r>
            <a:endParaRPr lang="zh-CN" altLang="en-US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主计划</a:t>
            </a:r>
            <a:endParaRPr lang="en-US" altLang="zh-CN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>
          <a:xfrm>
            <a:off x="3585054" y="5068508"/>
            <a:ext cx="972000" cy="507600"/>
          </a:xfrm>
          <a:prstGeom prst="flowChartPredefinedProcess">
            <a:avLst/>
          </a:prstGeom>
          <a:solidFill>
            <a:srgbClr val="FFFFFF"/>
          </a:solidFill>
          <a:ln w="12700">
            <a:solidFill>
              <a:srgbClr val="A98A68"/>
            </a:solidFill>
            <a:miter lim="800000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基地</a:t>
            </a:r>
            <a:endParaRPr lang="zh-CN" altLang="en-US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ctr" rtl="0">
              <a:lnSpc>
                <a:spcPts val="1300"/>
              </a:lnSpc>
            </a:pPr>
            <a:r>
              <a:rPr lang="zh-CN" altLang="en-US" sz="900" b="1">
                <a:latin typeface="微软雅黑" panose="020B0503020204020204" charset="-122"/>
                <a:ea typeface="微软雅黑" panose="020B0503020204020204" charset="-122"/>
                <a:cs typeface="+mn-cs"/>
              </a:rPr>
              <a:t>计划排程</a:t>
            </a:r>
            <a:endParaRPr lang="zh-CN" altLang="en-US" sz="900" b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75920" y="4740275"/>
            <a:ext cx="706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APS</a:t>
            </a:r>
            <a:endParaRPr lang="en-US" altLang="zh-CN"/>
          </a:p>
        </p:txBody>
      </p:sp>
      <p:cxnSp>
        <p:nvCxnSpPr>
          <p:cNvPr id="28" name="形状 49"/>
          <p:cNvCxnSpPr/>
          <p:nvPr/>
        </p:nvCxnSpPr>
        <p:spPr>
          <a:xfrm>
            <a:off x="1906905" y="5036820"/>
            <a:ext cx="382905" cy="285115"/>
          </a:xfrm>
          <a:prstGeom prst="bentConnector3">
            <a:avLst>
              <a:gd name="adj1" fmla="val 50083"/>
            </a:avLst>
          </a:prstGeom>
          <a:ln w="12700">
            <a:solidFill>
              <a:srgbClr val="A98A68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形状 49"/>
          <p:cNvCxnSpPr/>
          <p:nvPr/>
        </p:nvCxnSpPr>
        <p:spPr>
          <a:xfrm flipV="1">
            <a:off x="1924050" y="5337175"/>
            <a:ext cx="354330" cy="186690"/>
          </a:xfrm>
          <a:prstGeom prst="bentConnector3">
            <a:avLst>
              <a:gd name="adj1" fmla="val 50179"/>
            </a:avLst>
          </a:prstGeom>
          <a:ln w="12700">
            <a:solidFill>
              <a:srgbClr val="A98A68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AutoShape 7"/>
          <p:cNvCxnSpPr/>
          <p:nvPr/>
        </p:nvCxnSpPr>
        <p:spPr>
          <a:xfrm>
            <a:off x="3253399" y="5319616"/>
            <a:ext cx="319405" cy="1270"/>
          </a:xfrm>
          <a:prstGeom prst="straightConnector1">
            <a:avLst/>
          </a:prstGeom>
          <a:ln w="12700" cap="flat" cmpd="sng">
            <a:solidFill>
              <a:srgbClr val="A98A6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" name="形状 49"/>
          <p:cNvCxnSpPr>
            <a:endCxn id="6" idx="1"/>
          </p:cNvCxnSpPr>
          <p:nvPr/>
        </p:nvCxnSpPr>
        <p:spPr>
          <a:xfrm>
            <a:off x="4728845" y="2059305"/>
            <a:ext cx="1306830" cy="1043305"/>
          </a:xfrm>
          <a:prstGeom prst="bentConnector3">
            <a:avLst>
              <a:gd name="adj1" fmla="val 50049"/>
            </a:avLst>
          </a:prstGeom>
          <a:ln w="12700">
            <a:solidFill>
              <a:srgbClr val="A98A68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形状 49"/>
          <p:cNvCxnSpPr>
            <a:endCxn id="4" idx="1"/>
          </p:cNvCxnSpPr>
          <p:nvPr/>
        </p:nvCxnSpPr>
        <p:spPr>
          <a:xfrm flipV="1">
            <a:off x="4728845" y="4213860"/>
            <a:ext cx="1306830" cy="1108075"/>
          </a:xfrm>
          <a:prstGeom prst="bentConnector3">
            <a:avLst>
              <a:gd name="adj1" fmla="val 50049"/>
            </a:avLst>
          </a:prstGeom>
          <a:ln w="12700">
            <a:solidFill>
              <a:srgbClr val="A98A68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6924758" y="5523686"/>
            <a:ext cx="210164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 dirty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业务关系图</a:t>
            </a:r>
            <a:endParaRPr lang="zh-CN" altLang="en-US" sz="2000" b="1" dirty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91217" y="2152592"/>
            <a:ext cx="4145280" cy="891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195" dirty="0" smtClean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三、</a:t>
            </a:r>
            <a:r>
              <a:rPr lang="zh-CN" altLang="en-US" sz="5195" dirty="0" smtClean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调研过程</a:t>
            </a:r>
            <a:endParaRPr lang="zh-CN" altLang="en-US" sz="5400" dirty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890238" y="220470"/>
          <a:ext cx="8911525" cy="5571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矩形 2"/>
          <p:cNvSpPr/>
          <p:nvPr/>
        </p:nvSpPr>
        <p:spPr>
          <a:xfrm rot="18618957">
            <a:off x="293115" y="254763"/>
            <a:ext cx="183000" cy="183000"/>
          </a:xfrm>
          <a:prstGeom prst="rect">
            <a:avLst/>
          </a:prstGeom>
          <a:solidFill>
            <a:srgbClr val="C39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0943" y="176986"/>
            <a:ext cx="210164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调研过程</a:t>
            </a:r>
            <a:endParaRPr lang="zh-CN" altLang="en-US" sz="1600" dirty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874501" y="1864283"/>
          <a:ext cx="4031853" cy="311086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4153"/>
                <a:gridCol w="834238"/>
                <a:gridCol w="2093462"/>
              </a:tblGrid>
              <a:tr h="35623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服务商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案例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调研情况</a:t>
                      </a:r>
                      <a:endParaRPr lang="zh-CN" altLang="en-US" dirty="0"/>
                    </a:p>
                  </a:txBody>
                  <a:tcPr/>
                </a:tc>
              </a:tr>
              <a:tr h="426205">
                <a:tc>
                  <a:txBody>
                    <a:bodyPr/>
                    <a:lstStyle/>
                    <a:p>
                      <a:pPr marL="0" marR="0" lvl="0" indent="0" algn="l" defTabSz="801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 smtClean="0"/>
                        <a:t>奇秦、</a:t>
                      </a:r>
                      <a:endParaRPr lang="en-US" altLang="zh-CN" sz="1200" dirty="0" smtClean="0"/>
                    </a:p>
                    <a:p>
                      <a:pPr marL="0" marR="0" lvl="0" indent="0" algn="l" defTabSz="801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 smtClean="0"/>
                        <a:t>摩尔元数</a:t>
                      </a:r>
                      <a:endParaRPr lang="zh-CN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无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 smtClean="0"/>
                        <a:t>没有陶瓷客户案例，方案对需求理解不深，没有邀约进行方案阐述。</a:t>
                      </a:r>
                      <a:endParaRPr lang="zh-CN" altLang="en-US" sz="1000" dirty="0"/>
                    </a:p>
                  </a:txBody>
                  <a:tcPr/>
                </a:tc>
              </a:tr>
              <a:tr h="340964">
                <a:tc>
                  <a:txBody>
                    <a:bodyPr/>
                    <a:lstStyle/>
                    <a:p>
                      <a:pPr marL="0" marR="0" lvl="0" indent="0" algn="l" defTabSz="801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 smtClean="0"/>
                        <a:t>博依特</a:t>
                      </a:r>
                      <a:endParaRPr lang="zh-CN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简一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 smtClean="0"/>
                        <a:t>邀约进行方案阐述，但是对需求理解定位有误</a:t>
                      </a:r>
                      <a:endParaRPr lang="zh-CN" altLang="en-US" sz="1000" dirty="0"/>
                    </a:p>
                  </a:txBody>
                  <a:tcPr/>
                </a:tc>
              </a:tr>
              <a:tr h="356461">
                <a:tc>
                  <a:txBody>
                    <a:bodyPr/>
                    <a:lstStyle/>
                    <a:p>
                      <a:pPr marL="0" marR="0" lvl="0" indent="0" algn="l" defTabSz="801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 smtClean="0"/>
                        <a:t>美云智数</a:t>
                      </a:r>
                      <a:endParaRPr lang="zh-CN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蒙娜丽莎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 smtClean="0"/>
                        <a:t>邀约进行方案阐述，但是主动放弃详细调研阶段</a:t>
                      </a:r>
                      <a:endParaRPr lang="zh-CN" altLang="en-US" sz="1000" dirty="0"/>
                    </a:p>
                  </a:txBody>
                  <a:tcPr/>
                </a:tc>
              </a:tr>
              <a:tr h="356461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航天云网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新明珠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 smtClean="0"/>
                        <a:t>邀约进行方案阐述，安排现场</a:t>
                      </a:r>
                      <a:r>
                        <a:rPr lang="en-US" altLang="zh-CN" sz="1000" dirty="0" smtClean="0"/>
                        <a:t>/</a:t>
                      </a:r>
                      <a:r>
                        <a:rPr lang="zh-CN" altLang="en-US" sz="1000" dirty="0" smtClean="0"/>
                        <a:t>远程厂部调研</a:t>
                      </a:r>
                      <a:endParaRPr lang="zh-CN" altLang="en-US" sz="1000" dirty="0"/>
                    </a:p>
                  </a:txBody>
                  <a:tcPr/>
                </a:tc>
              </a:tr>
              <a:tr h="356461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数联魔方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金意陶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 smtClean="0"/>
                        <a:t>邀约进行方案阐述</a:t>
                      </a:r>
                      <a:endParaRPr lang="zh-CN" altLang="en-US" sz="1000" dirty="0"/>
                    </a:p>
                  </a:txBody>
                  <a:tcPr/>
                </a:tc>
              </a:tr>
              <a:tr h="356461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海通安恒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01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 smtClean="0"/>
                        <a:t>东鹏</a:t>
                      </a:r>
                      <a:endParaRPr lang="zh-CN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 smtClean="0"/>
                        <a:t>邀约进行方案阐述，安排现场</a:t>
                      </a:r>
                      <a:r>
                        <a:rPr lang="en-US" altLang="zh-CN" sz="1000" dirty="0" smtClean="0"/>
                        <a:t>/</a:t>
                      </a:r>
                      <a:r>
                        <a:rPr lang="zh-CN" altLang="en-US" sz="1000" dirty="0" smtClean="0"/>
                        <a:t>远程厂部调研</a:t>
                      </a:r>
                      <a:endParaRPr lang="zh-CN" altLang="en-US" sz="1000" dirty="0"/>
                    </a:p>
                  </a:txBody>
                  <a:tcPr/>
                </a:tc>
              </a:tr>
              <a:tr h="356461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科达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801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 smtClean="0"/>
                        <a:t>科达</a:t>
                      </a:r>
                      <a:endParaRPr lang="zh-CN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 smtClean="0"/>
                        <a:t>邀约进行方案阐述</a:t>
                      </a:r>
                      <a:endParaRPr lang="zh-CN" altLang="en-US" sz="1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9390" y="682625"/>
            <a:ext cx="4822190" cy="481520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18618957">
            <a:off x="293115" y="254763"/>
            <a:ext cx="183000" cy="183000"/>
          </a:xfrm>
          <a:prstGeom prst="rect">
            <a:avLst/>
          </a:prstGeom>
          <a:solidFill>
            <a:srgbClr val="C39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30943" y="176986"/>
            <a:ext cx="210164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海通安恒</a:t>
            </a:r>
            <a:endParaRPr lang="zh-CN" altLang="en-US" sz="1600" dirty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平行四边形 28"/>
          <p:cNvSpPr/>
          <p:nvPr>
            <p:custDataLst>
              <p:tags r:id="rId2"/>
            </p:custDataLst>
          </p:nvPr>
        </p:nvSpPr>
        <p:spPr>
          <a:xfrm>
            <a:off x="675682" y="1255054"/>
            <a:ext cx="2567152" cy="317833"/>
          </a:xfrm>
          <a:prstGeom prst="parallelogram">
            <a:avLst/>
          </a:prstGeom>
          <a:solidFill>
            <a:srgbClr val="7D01AA">
              <a:lumMod val="20000"/>
              <a:lumOff val="80000"/>
            </a:srgbClr>
          </a:soli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33" name="平行四边形 32"/>
          <p:cNvSpPr/>
          <p:nvPr>
            <p:custDataLst>
              <p:tags r:id="rId3"/>
            </p:custDataLst>
          </p:nvPr>
        </p:nvSpPr>
        <p:spPr>
          <a:xfrm>
            <a:off x="547658" y="1437070"/>
            <a:ext cx="4504762" cy="1393231"/>
          </a:xfrm>
          <a:prstGeom prst="parallelogram">
            <a:avLst>
              <a:gd name="adj" fmla="val 14222"/>
            </a:avLst>
          </a:prstGeom>
          <a:gradFill>
            <a:gsLst>
              <a:gs pos="0">
                <a:srgbClr val="7D01AA">
                  <a:lumMod val="20000"/>
                  <a:lumOff val="80000"/>
                  <a:alpha val="2000"/>
                </a:srgbClr>
              </a:gs>
              <a:gs pos="100000">
                <a:srgbClr val="7D01AA">
                  <a:lumMod val="20000"/>
                  <a:lumOff val="8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42" name="平行四边形 41"/>
          <p:cNvSpPr/>
          <p:nvPr>
            <p:custDataLst>
              <p:tags r:id="rId4"/>
            </p:custDataLst>
          </p:nvPr>
        </p:nvSpPr>
        <p:spPr>
          <a:xfrm>
            <a:off x="434664" y="1079717"/>
            <a:ext cx="2682374" cy="539369"/>
          </a:xfrm>
          <a:prstGeom prst="parallelogram">
            <a:avLst/>
          </a:prstGeom>
          <a:solidFill>
            <a:srgbClr val="C39C5F"/>
          </a:soli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5"/>
            </p:custDataLst>
          </p:nvPr>
        </p:nvSpPr>
        <p:spPr>
          <a:xfrm>
            <a:off x="755836" y="1165437"/>
            <a:ext cx="1858013" cy="360136"/>
          </a:xfrm>
          <a:prstGeom prst="rect">
            <a:avLst/>
          </a:prstGeom>
          <a:noFill/>
        </p:spPr>
        <p:txBody>
          <a:bodyPr wrap="square" bIns="0" rtlCol="0" anchor="ctr" anchorCtr="0">
            <a:normAutofit/>
          </a:bodyPr>
          <a:p>
            <a:pPr algn="l"/>
            <a:r>
              <a:rPr lang="zh-CN" altLang="en-US" sz="1755" spc="300">
                <a:solidFill>
                  <a:srgbClr val="FFFFFF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Regular" panose="020B0500000000000000" charset="-122"/>
              </a:rPr>
              <a:t>优点</a:t>
            </a:r>
            <a:endParaRPr lang="zh-CN" altLang="en-US" sz="1755" spc="300">
              <a:solidFill>
                <a:srgbClr val="FFFFFF"/>
              </a:solidFill>
              <a:uFillTx/>
              <a:latin typeface="思源黑体 CN Bold" panose="020B0800000000000000" charset="-122"/>
              <a:ea typeface="思源黑体 CN Bold" panose="020B0800000000000000" charset="-122"/>
              <a:cs typeface="思源黑体 CN Regular" panose="020B0500000000000000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1054187" y="1813348"/>
            <a:ext cx="3323048" cy="920657"/>
          </a:xfrm>
          <a:prstGeom prst="rect">
            <a:avLst/>
          </a:prstGeom>
          <a:noFill/>
        </p:spPr>
        <p:txBody>
          <a:bodyPr wrap="square" rtlCol="0" anchor="t">
            <a:normAutofit lnSpcReduction="10000"/>
          </a:bodyPr>
          <a:p>
            <a:pPr marL="171450" indent="-171450" algn="l" fontAlgn="auto">
              <a:lnSpc>
                <a:spcPct val="130000"/>
              </a:lnSpc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zh-CN" altLang="en-US" sz="105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东鹏无纸化项目实施方，东鹏的几个基地均成功上线。</a:t>
            </a:r>
            <a:endParaRPr lang="en-US" altLang="zh-CN" sz="105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  <a:p>
            <a:pPr marL="171450" indent="-171450" algn="l" fontAlgn="auto">
              <a:lnSpc>
                <a:spcPct val="130000"/>
              </a:lnSpc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en-US" altLang="zh-CN" sz="105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SAP</a:t>
            </a:r>
            <a:r>
              <a:rPr lang="zh-CN" altLang="en-US" sz="105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实施服务商，熟悉公司业务。</a:t>
            </a:r>
            <a:endParaRPr lang="zh-CN" altLang="en-US" sz="105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  <a:p>
            <a:pPr algn="l" fontAlgn="auto">
              <a:lnSpc>
                <a:spcPct val="130000"/>
              </a:lnSpc>
              <a:spcAft>
                <a:spcPts val="1000"/>
              </a:spcAft>
            </a:pPr>
            <a:endParaRPr lang="zh-CN" altLang="en-US" sz="105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</p:txBody>
      </p:sp>
      <p:sp>
        <p:nvSpPr>
          <p:cNvPr id="60" name="平行四边形 59"/>
          <p:cNvSpPr/>
          <p:nvPr>
            <p:custDataLst>
              <p:tags r:id="rId7"/>
            </p:custDataLst>
          </p:nvPr>
        </p:nvSpPr>
        <p:spPr>
          <a:xfrm>
            <a:off x="675682" y="3383586"/>
            <a:ext cx="2567152" cy="317833"/>
          </a:xfrm>
          <a:prstGeom prst="parallelogram">
            <a:avLst/>
          </a:prstGeom>
          <a:solidFill>
            <a:srgbClr val="892BC0">
              <a:lumMod val="20000"/>
              <a:lumOff val="80000"/>
            </a:srgbClr>
          </a:soli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62" name="平行四边形 61"/>
          <p:cNvSpPr/>
          <p:nvPr>
            <p:custDataLst>
              <p:tags r:id="rId8"/>
            </p:custDataLst>
          </p:nvPr>
        </p:nvSpPr>
        <p:spPr>
          <a:xfrm>
            <a:off x="547658" y="3565602"/>
            <a:ext cx="4504762" cy="1393231"/>
          </a:xfrm>
          <a:prstGeom prst="parallelogram">
            <a:avLst>
              <a:gd name="adj" fmla="val 14222"/>
            </a:avLst>
          </a:prstGeom>
          <a:gradFill>
            <a:gsLst>
              <a:gs pos="0">
                <a:srgbClr val="892BC0">
                  <a:lumMod val="20000"/>
                  <a:lumOff val="80000"/>
                  <a:alpha val="2000"/>
                </a:srgbClr>
              </a:gs>
              <a:gs pos="100000">
                <a:srgbClr val="8D41CB">
                  <a:lumMod val="20000"/>
                  <a:lumOff val="8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63" name="平行四边形 62"/>
          <p:cNvSpPr/>
          <p:nvPr>
            <p:custDataLst>
              <p:tags r:id="rId9"/>
            </p:custDataLst>
          </p:nvPr>
        </p:nvSpPr>
        <p:spPr>
          <a:xfrm>
            <a:off x="434664" y="3208249"/>
            <a:ext cx="2682374" cy="539369"/>
          </a:xfrm>
          <a:prstGeom prst="parallelogram">
            <a:avLst/>
          </a:prstGeom>
          <a:solidFill>
            <a:srgbClr val="C39C5F"/>
          </a:soli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10"/>
            </p:custDataLst>
          </p:nvPr>
        </p:nvSpPr>
        <p:spPr>
          <a:xfrm>
            <a:off x="755836" y="3293970"/>
            <a:ext cx="1858013" cy="360136"/>
          </a:xfrm>
          <a:prstGeom prst="rect">
            <a:avLst/>
          </a:prstGeom>
          <a:noFill/>
        </p:spPr>
        <p:txBody>
          <a:bodyPr wrap="square" bIns="0" rtlCol="0" anchor="ctr" anchorCtr="0">
            <a:normAutofit/>
          </a:bodyPr>
          <a:p>
            <a:pPr algn="l"/>
            <a:r>
              <a:rPr lang="zh-CN" altLang="en-US" sz="1755" spc="300">
                <a:solidFill>
                  <a:srgbClr val="FFFFFF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Regular" panose="020B0500000000000000" charset="-122"/>
              </a:rPr>
              <a:t>缺点</a:t>
            </a:r>
            <a:endParaRPr lang="zh-CN" altLang="en-US" sz="1755" spc="300">
              <a:solidFill>
                <a:srgbClr val="FFFFFF"/>
              </a:solidFill>
              <a:uFillTx/>
              <a:latin typeface="思源黑体 CN Bold" panose="020B0800000000000000" charset="-122"/>
              <a:ea typeface="思源黑体 CN Bold" panose="020B0800000000000000" charset="-122"/>
              <a:cs typeface="思源黑体 CN Regular" panose="020B0500000000000000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11"/>
            </p:custDataLst>
          </p:nvPr>
        </p:nvSpPr>
        <p:spPr>
          <a:xfrm>
            <a:off x="1054187" y="3941881"/>
            <a:ext cx="3323048" cy="920657"/>
          </a:xfrm>
          <a:prstGeom prst="rect">
            <a:avLst/>
          </a:prstGeom>
          <a:noFill/>
        </p:spPr>
        <p:txBody>
          <a:bodyPr wrap="square" rtlCol="0" anchor="t">
            <a:normAutofit fontScale="90000"/>
          </a:bodyPr>
          <a:p>
            <a:pPr marL="171450" indent="-171450" algn="l" fontAlgn="auto">
              <a:lnSpc>
                <a:spcPct val="130000"/>
              </a:lnSpc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zh-CN" altLang="en-US" sz="105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整体方案着重在车间数据填报上，没有从自上而下的</a:t>
            </a:r>
            <a:r>
              <a:rPr lang="zh-CN" altLang="en-US" sz="105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整体</a:t>
            </a:r>
            <a:r>
              <a:rPr lang="zh-CN" altLang="en-US" sz="105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解决方案。</a:t>
            </a:r>
            <a:endParaRPr lang="zh-CN" altLang="en-US" sz="105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  <a:p>
            <a:pPr marL="171450" indent="-171450" algn="l" fontAlgn="auto">
              <a:lnSpc>
                <a:spcPct val="130000"/>
              </a:lnSpc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zh-CN" altLang="en-US" sz="105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项目上线后，东鹏并没有获得政府数字化相关奖项。</a:t>
            </a:r>
            <a:endParaRPr lang="zh-CN" altLang="en-US" sz="105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47870" y="302895"/>
            <a:ext cx="5692775" cy="31832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998085" y="2694305"/>
            <a:ext cx="5693410" cy="27336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18618957">
            <a:off x="293115" y="254763"/>
            <a:ext cx="183000" cy="183000"/>
          </a:xfrm>
          <a:prstGeom prst="rect">
            <a:avLst/>
          </a:prstGeom>
          <a:solidFill>
            <a:srgbClr val="C39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30943" y="176986"/>
            <a:ext cx="210164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数联魔方</a:t>
            </a:r>
            <a:endParaRPr lang="zh-CN" altLang="en-US" sz="1600" dirty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1" name="直接箭头连接符 40"/>
          <p:cNvCxnSpPr/>
          <p:nvPr>
            <p:custDataLst>
              <p:tags r:id="rId5"/>
            </p:custDataLst>
          </p:nvPr>
        </p:nvCxnSpPr>
        <p:spPr>
          <a:xfrm>
            <a:off x="8058686" y="2402110"/>
            <a:ext cx="546605" cy="0"/>
          </a:xfrm>
          <a:prstGeom prst="straightConnector1">
            <a:avLst/>
          </a:prstGeom>
          <a:ln>
            <a:solidFill>
              <a:srgbClr val="8D41CB">
                <a:alpha val="20000"/>
              </a:srgbClr>
            </a:solidFill>
            <a:tailEnd type="stealth"/>
          </a:ln>
        </p:spPr>
        <p:style>
          <a:lnRef idx="1">
            <a:srgbClr val="7D01AA"/>
          </a:lnRef>
          <a:fillRef idx="0">
            <a:srgbClr val="7D01AA"/>
          </a:fillRef>
          <a:effectRef idx="0">
            <a:srgbClr val="7D01AA"/>
          </a:effectRef>
          <a:fontRef idx="minor">
            <a:srgbClr val="000000"/>
          </a:fontRef>
        </p:style>
      </p:cxnSp>
      <p:sp>
        <p:nvSpPr>
          <p:cNvPr id="29" name="平行四边形 28"/>
          <p:cNvSpPr/>
          <p:nvPr>
            <p:custDataLst>
              <p:tags r:id="rId6"/>
            </p:custDataLst>
          </p:nvPr>
        </p:nvSpPr>
        <p:spPr>
          <a:xfrm>
            <a:off x="490262" y="1204254"/>
            <a:ext cx="2567152" cy="317833"/>
          </a:xfrm>
          <a:prstGeom prst="parallelogram">
            <a:avLst/>
          </a:prstGeom>
          <a:solidFill>
            <a:srgbClr val="7D01AA">
              <a:lumMod val="20000"/>
              <a:lumOff val="80000"/>
            </a:srgbClr>
          </a:soli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33" name="平行四边形 32"/>
          <p:cNvSpPr/>
          <p:nvPr>
            <p:custDataLst>
              <p:tags r:id="rId7"/>
            </p:custDataLst>
          </p:nvPr>
        </p:nvSpPr>
        <p:spPr>
          <a:xfrm>
            <a:off x="362238" y="1386270"/>
            <a:ext cx="4504762" cy="1393231"/>
          </a:xfrm>
          <a:prstGeom prst="parallelogram">
            <a:avLst>
              <a:gd name="adj" fmla="val 14222"/>
            </a:avLst>
          </a:prstGeom>
          <a:gradFill>
            <a:gsLst>
              <a:gs pos="0">
                <a:srgbClr val="7D01AA">
                  <a:lumMod val="20000"/>
                  <a:lumOff val="80000"/>
                  <a:alpha val="2000"/>
                </a:srgbClr>
              </a:gs>
              <a:gs pos="100000">
                <a:srgbClr val="7D01AA">
                  <a:lumMod val="20000"/>
                  <a:lumOff val="8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42" name="平行四边形 41"/>
          <p:cNvSpPr/>
          <p:nvPr>
            <p:custDataLst>
              <p:tags r:id="rId8"/>
            </p:custDataLst>
          </p:nvPr>
        </p:nvSpPr>
        <p:spPr>
          <a:xfrm>
            <a:off x="249244" y="1028917"/>
            <a:ext cx="2682374" cy="539369"/>
          </a:xfrm>
          <a:prstGeom prst="parallelogram">
            <a:avLst/>
          </a:prstGeom>
          <a:solidFill>
            <a:srgbClr val="C39C5F"/>
          </a:soli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9"/>
            </p:custDataLst>
          </p:nvPr>
        </p:nvSpPr>
        <p:spPr>
          <a:xfrm>
            <a:off x="570416" y="1114637"/>
            <a:ext cx="1858013" cy="360136"/>
          </a:xfrm>
          <a:prstGeom prst="rect">
            <a:avLst/>
          </a:prstGeom>
          <a:noFill/>
        </p:spPr>
        <p:txBody>
          <a:bodyPr wrap="square" bIns="0" rtlCol="0" anchor="ctr" anchorCtr="0">
            <a:normAutofit/>
          </a:bodyPr>
          <a:p>
            <a:pPr algn="l"/>
            <a:r>
              <a:rPr lang="zh-CN" altLang="en-US" sz="1755" spc="300">
                <a:solidFill>
                  <a:srgbClr val="FFFFFF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Regular" panose="020B0500000000000000" charset="-122"/>
              </a:rPr>
              <a:t>优点</a:t>
            </a:r>
            <a:endParaRPr lang="zh-CN" altLang="en-US" sz="1755" spc="300">
              <a:solidFill>
                <a:srgbClr val="FFFFFF"/>
              </a:solidFill>
              <a:uFillTx/>
              <a:latin typeface="思源黑体 CN Bold" panose="020B0800000000000000" charset="-122"/>
              <a:ea typeface="思源黑体 CN Bold" panose="020B0800000000000000" charset="-122"/>
              <a:cs typeface="思源黑体 CN Regular" panose="020B0500000000000000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0"/>
            </p:custDataLst>
          </p:nvPr>
        </p:nvSpPr>
        <p:spPr>
          <a:xfrm>
            <a:off x="868767" y="1762548"/>
            <a:ext cx="3323048" cy="92065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71450" indent="-171450" algn="l" fontAlgn="auto">
              <a:lnSpc>
                <a:spcPct val="130000"/>
              </a:lnSpc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zh-CN" altLang="en-US" sz="80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与金意陶深度合作多年，熟悉陶企数字化方案。</a:t>
            </a:r>
            <a:endParaRPr lang="zh-CN" altLang="en-US" sz="80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  <a:p>
            <a:pPr marL="171450" indent="-171450" algn="l" fontAlgn="auto">
              <a:lnSpc>
                <a:spcPct val="130000"/>
              </a:lnSpc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zh-CN" altLang="en-US" sz="80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整体方案较为完善，从</a:t>
            </a:r>
            <a:r>
              <a:rPr lang="zh-CN" sz="80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交期管理、成本管控、质量管理都有</a:t>
            </a:r>
            <a:r>
              <a:rPr lang="zh-CN" altLang="en-US" sz="80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整套解决方案齐全。</a:t>
            </a:r>
            <a:endParaRPr lang="zh-CN" altLang="en-US" sz="80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  <a:p>
            <a:pPr marL="171450" indent="-171450" algn="l" fontAlgn="auto">
              <a:lnSpc>
                <a:spcPct val="130000"/>
              </a:lnSpc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zh-CN" altLang="en-US" sz="80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提供完整代码进行二开扩展。</a:t>
            </a:r>
            <a:endParaRPr lang="zh-CN" altLang="en-US" sz="80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</p:txBody>
      </p:sp>
      <p:sp>
        <p:nvSpPr>
          <p:cNvPr id="60" name="平行四边形 59"/>
          <p:cNvSpPr/>
          <p:nvPr>
            <p:custDataLst>
              <p:tags r:id="rId11"/>
            </p:custDataLst>
          </p:nvPr>
        </p:nvSpPr>
        <p:spPr>
          <a:xfrm>
            <a:off x="490262" y="3332786"/>
            <a:ext cx="2567152" cy="317833"/>
          </a:xfrm>
          <a:prstGeom prst="parallelogram">
            <a:avLst/>
          </a:prstGeom>
          <a:solidFill>
            <a:srgbClr val="892BC0">
              <a:lumMod val="20000"/>
              <a:lumOff val="80000"/>
            </a:srgbClr>
          </a:soli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62" name="平行四边形 61"/>
          <p:cNvSpPr/>
          <p:nvPr>
            <p:custDataLst>
              <p:tags r:id="rId12"/>
            </p:custDataLst>
          </p:nvPr>
        </p:nvSpPr>
        <p:spPr>
          <a:xfrm>
            <a:off x="362238" y="3514802"/>
            <a:ext cx="4504762" cy="1393231"/>
          </a:xfrm>
          <a:prstGeom prst="parallelogram">
            <a:avLst>
              <a:gd name="adj" fmla="val 14222"/>
            </a:avLst>
          </a:prstGeom>
          <a:gradFill>
            <a:gsLst>
              <a:gs pos="0">
                <a:srgbClr val="892BC0">
                  <a:lumMod val="20000"/>
                  <a:lumOff val="80000"/>
                  <a:alpha val="2000"/>
                </a:srgbClr>
              </a:gs>
              <a:gs pos="100000">
                <a:srgbClr val="8D41CB">
                  <a:lumMod val="20000"/>
                  <a:lumOff val="8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63" name="平行四边形 62"/>
          <p:cNvSpPr/>
          <p:nvPr>
            <p:custDataLst>
              <p:tags r:id="rId13"/>
            </p:custDataLst>
          </p:nvPr>
        </p:nvSpPr>
        <p:spPr>
          <a:xfrm>
            <a:off x="249244" y="3157449"/>
            <a:ext cx="2682374" cy="539369"/>
          </a:xfrm>
          <a:prstGeom prst="parallelogram">
            <a:avLst/>
          </a:prstGeom>
          <a:solidFill>
            <a:srgbClr val="C39C5F"/>
          </a:soli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14"/>
            </p:custDataLst>
          </p:nvPr>
        </p:nvSpPr>
        <p:spPr>
          <a:xfrm>
            <a:off x="570416" y="3243170"/>
            <a:ext cx="1858013" cy="360136"/>
          </a:xfrm>
          <a:prstGeom prst="rect">
            <a:avLst/>
          </a:prstGeom>
          <a:noFill/>
        </p:spPr>
        <p:txBody>
          <a:bodyPr wrap="square" bIns="0" rtlCol="0" anchor="ctr" anchorCtr="0">
            <a:normAutofit/>
          </a:bodyPr>
          <a:p>
            <a:pPr algn="l"/>
            <a:r>
              <a:rPr lang="zh-CN" altLang="en-US" sz="1755" spc="300">
                <a:solidFill>
                  <a:srgbClr val="FFFFFF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Regular" panose="020B0500000000000000" charset="-122"/>
              </a:rPr>
              <a:t>缺点</a:t>
            </a:r>
            <a:endParaRPr lang="zh-CN" altLang="en-US" sz="1755" spc="300">
              <a:solidFill>
                <a:srgbClr val="FFFFFF"/>
              </a:solidFill>
              <a:uFillTx/>
              <a:latin typeface="思源黑体 CN Bold" panose="020B0800000000000000" charset="-122"/>
              <a:ea typeface="思源黑体 CN Bold" panose="020B0800000000000000" charset="-122"/>
              <a:cs typeface="思源黑体 CN Regular" panose="020B0500000000000000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15"/>
            </p:custDataLst>
          </p:nvPr>
        </p:nvSpPr>
        <p:spPr>
          <a:xfrm>
            <a:off x="868767" y="3891081"/>
            <a:ext cx="3323048" cy="920657"/>
          </a:xfrm>
          <a:prstGeom prst="rect">
            <a:avLst/>
          </a:prstGeom>
          <a:noFill/>
        </p:spPr>
        <p:txBody>
          <a:bodyPr wrap="square" rtlCol="0" anchor="t">
            <a:normAutofit lnSpcReduction="10000"/>
          </a:bodyPr>
          <a:p>
            <a:pPr marL="171450" indent="-171450" algn="l" fontAlgn="auto">
              <a:lnSpc>
                <a:spcPct val="130000"/>
              </a:lnSpc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zh-CN" altLang="en-US" sz="105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项目实施周期长。</a:t>
            </a:r>
            <a:endParaRPr lang="zh-CN" altLang="en-US" sz="105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  <a:p>
            <a:pPr marL="171450" indent="-171450" algn="l" fontAlgn="auto">
              <a:lnSpc>
                <a:spcPct val="130000"/>
              </a:lnSpc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zh-CN" altLang="en-US" sz="105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需要较多开发才能满足业务需求。</a:t>
            </a:r>
            <a:endParaRPr lang="zh-CN" altLang="en-US" sz="105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1400" y="986790"/>
            <a:ext cx="5730875" cy="361124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 rot="18618957">
            <a:off x="293115" y="254763"/>
            <a:ext cx="183000" cy="183000"/>
          </a:xfrm>
          <a:prstGeom prst="rect">
            <a:avLst/>
          </a:prstGeom>
          <a:solidFill>
            <a:srgbClr val="C39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30943" y="176986"/>
            <a:ext cx="210164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航天云网</a:t>
            </a:r>
            <a:endParaRPr lang="zh-CN" altLang="en-US" sz="1600" dirty="0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平行四边形 28"/>
          <p:cNvSpPr/>
          <p:nvPr>
            <p:custDataLst>
              <p:tags r:id="rId2"/>
            </p:custDataLst>
          </p:nvPr>
        </p:nvSpPr>
        <p:spPr>
          <a:xfrm>
            <a:off x="734737" y="1162344"/>
            <a:ext cx="2567152" cy="317833"/>
          </a:xfrm>
          <a:prstGeom prst="parallelogram">
            <a:avLst/>
          </a:prstGeom>
          <a:solidFill>
            <a:srgbClr val="7D01AA">
              <a:lumMod val="20000"/>
              <a:lumOff val="80000"/>
            </a:srgbClr>
          </a:soli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33" name="平行四边形 32"/>
          <p:cNvSpPr/>
          <p:nvPr>
            <p:custDataLst>
              <p:tags r:id="rId3"/>
            </p:custDataLst>
          </p:nvPr>
        </p:nvSpPr>
        <p:spPr>
          <a:xfrm>
            <a:off x="606713" y="1344360"/>
            <a:ext cx="4504762" cy="1393231"/>
          </a:xfrm>
          <a:prstGeom prst="parallelogram">
            <a:avLst>
              <a:gd name="adj" fmla="val 14222"/>
            </a:avLst>
          </a:prstGeom>
          <a:gradFill>
            <a:gsLst>
              <a:gs pos="0">
                <a:srgbClr val="7D01AA">
                  <a:lumMod val="20000"/>
                  <a:lumOff val="80000"/>
                  <a:alpha val="2000"/>
                </a:srgbClr>
              </a:gs>
              <a:gs pos="100000">
                <a:srgbClr val="7D01AA">
                  <a:lumMod val="20000"/>
                  <a:lumOff val="8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42" name="平行四边形 41"/>
          <p:cNvSpPr/>
          <p:nvPr>
            <p:custDataLst>
              <p:tags r:id="rId4"/>
            </p:custDataLst>
          </p:nvPr>
        </p:nvSpPr>
        <p:spPr>
          <a:xfrm>
            <a:off x="493719" y="987007"/>
            <a:ext cx="2682374" cy="539369"/>
          </a:xfrm>
          <a:prstGeom prst="parallelogram">
            <a:avLst/>
          </a:prstGeom>
          <a:solidFill>
            <a:srgbClr val="C39C5F"/>
          </a:soli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5"/>
            </p:custDataLst>
          </p:nvPr>
        </p:nvSpPr>
        <p:spPr>
          <a:xfrm>
            <a:off x="814891" y="1072727"/>
            <a:ext cx="1858013" cy="360136"/>
          </a:xfrm>
          <a:prstGeom prst="rect">
            <a:avLst/>
          </a:prstGeom>
          <a:noFill/>
        </p:spPr>
        <p:txBody>
          <a:bodyPr wrap="square" bIns="0" rtlCol="0" anchor="ctr" anchorCtr="0">
            <a:normAutofit/>
          </a:bodyPr>
          <a:p>
            <a:pPr algn="l"/>
            <a:r>
              <a:rPr lang="zh-CN" altLang="en-US" sz="1755" spc="300">
                <a:solidFill>
                  <a:srgbClr val="FFFFFF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Regular" panose="020B0500000000000000" charset="-122"/>
              </a:rPr>
              <a:t>优点</a:t>
            </a:r>
            <a:endParaRPr lang="zh-CN" altLang="en-US" sz="1755" spc="300">
              <a:solidFill>
                <a:srgbClr val="FFFFFF"/>
              </a:solidFill>
              <a:uFillTx/>
              <a:latin typeface="思源黑体 CN Bold" panose="020B0800000000000000" charset="-122"/>
              <a:ea typeface="思源黑体 CN Bold" panose="020B0800000000000000" charset="-122"/>
              <a:cs typeface="思源黑体 CN Regular" panose="020B0500000000000000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1113242" y="1720638"/>
            <a:ext cx="3323048" cy="920657"/>
          </a:xfrm>
          <a:prstGeom prst="rect">
            <a:avLst/>
          </a:prstGeom>
          <a:noFill/>
        </p:spPr>
        <p:txBody>
          <a:bodyPr wrap="square" rtlCol="0" anchor="t">
            <a:normAutofit lnSpcReduction="10000"/>
          </a:bodyPr>
          <a:p>
            <a:pPr marL="171450" indent="-171450" algn="l" fontAlgn="auto">
              <a:lnSpc>
                <a:spcPct val="130000"/>
              </a:lnSpc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zh-CN" altLang="en-US" sz="105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已在新明珠新工厂实施数字化整体方案，并入选“佛山市三级数字化智能化示范工厂”。</a:t>
            </a:r>
            <a:endParaRPr lang="zh-CN" altLang="en-US" sz="105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  <a:p>
            <a:pPr marL="171450" indent="-171450" algn="l" fontAlgn="auto">
              <a:lnSpc>
                <a:spcPct val="130000"/>
              </a:lnSpc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zh-CN" altLang="en-US" sz="105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方案问题分析透彻提供完善的解决方案。</a:t>
            </a:r>
            <a:endParaRPr lang="zh-CN" altLang="en-US" sz="105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</p:txBody>
      </p:sp>
      <p:sp>
        <p:nvSpPr>
          <p:cNvPr id="60" name="平行四边形 59"/>
          <p:cNvSpPr/>
          <p:nvPr>
            <p:custDataLst>
              <p:tags r:id="rId7"/>
            </p:custDataLst>
          </p:nvPr>
        </p:nvSpPr>
        <p:spPr>
          <a:xfrm>
            <a:off x="734737" y="3290876"/>
            <a:ext cx="2567152" cy="317833"/>
          </a:xfrm>
          <a:prstGeom prst="parallelogram">
            <a:avLst/>
          </a:prstGeom>
          <a:solidFill>
            <a:srgbClr val="892BC0">
              <a:lumMod val="20000"/>
              <a:lumOff val="80000"/>
            </a:srgbClr>
          </a:soli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62" name="平行四边形 61"/>
          <p:cNvSpPr/>
          <p:nvPr>
            <p:custDataLst>
              <p:tags r:id="rId8"/>
            </p:custDataLst>
          </p:nvPr>
        </p:nvSpPr>
        <p:spPr>
          <a:xfrm>
            <a:off x="606713" y="3472892"/>
            <a:ext cx="4504762" cy="1393231"/>
          </a:xfrm>
          <a:prstGeom prst="parallelogram">
            <a:avLst>
              <a:gd name="adj" fmla="val 14222"/>
            </a:avLst>
          </a:prstGeom>
          <a:gradFill>
            <a:gsLst>
              <a:gs pos="0">
                <a:srgbClr val="892BC0">
                  <a:lumMod val="20000"/>
                  <a:lumOff val="80000"/>
                  <a:alpha val="2000"/>
                </a:srgbClr>
              </a:gs>
              <a:gs pos="100000">
                <a:srgbClr val="8D41CB">
                  <a:lumMod val="20000"/>
                  <a:lumOff val="8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63" name="平行四边形 62"/>
          <p:cNvSpPr/>
          <p:nvPr>
            <p:custDataLst>
              <p:tags r:id="rId9"/>
            </p:custDataLst>
          </p:nvPr>
        </p:nvSpPr>
        <p:spPr>
          <a:xfrm>
            <a:off x="493719" y="3115539"/>
            <a:ext cx="2682374" cy="539369"/>
          </a:xfrm>
          <a:prstGeom prst="parallelogram">
            <a:avLst/>
          </a:prstGeom>
          <a:solidFill>
            <a:srgbClr val="C39C5F"/>
          </a:solidFill>
          <a:ln>
            <a:noFill/>
          </a:ln>
        </p:spPr>
        <p:style>
          <a:lnRef idx="2">
            <a:srgbClr val="7D01AA">
              <a:shade val="50000"/>
            </a:srgbClr>
          </a:lnRef>
          <a:fillRef idx="1">
            <a:srgbClr val="7D01AA"/>
          </a:fillRef>
          <a:effectRef idx="0">
            <a:srgbClr val="7D01AA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 sz="1580">
              <a:cs typeface="思源黑体 CN Regular" panose="020B0500000000000000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10"/>
            </p:custDataLst>
          </p:nvPr>
        </p:nvSpPr>
        <p:spPr>
          <a:xfrm>
            <a:off x="814891" y="3201260"/>
            <a:ext cx="1858013" cy="360136"/>
          </a:xfrm>
          <a:prstGeom prst="rect">
            <a:avLst/>
          </a:prstGeom>
          <a:noFill/>
        </p:spPr>
        <p:txBody>
          <a:bodyPr wrap="square" bIns="0" rtlCol="0" anchor="ctr" anchorCtr="0">
            <a:normAutofit/>
          </a:bodyPr>
          <a:p>
            <a:pPr algn="l"/>
            <a:r>
              <a:rPr lang="zh-CN" altLang="en-US" sz="1755" spc="300">
                <a:solidFill>
                  <a:srgbClr val="FFFFFF"/>
                </a:solidFill>
                <a:uFillTx/>
                <a:latin typeface="思源黑体 CN Bold" panose="020B0800000000000000" charset="-122"/>
                <a:ea typeface="思源黑体 CN Bold" panose="020B0800000000000000" charset="-122"/>
                <a:cs typeface="思源黑体 CN Regular" panose="020B0500000000000000" charset="-122"/>
              </a:rPr>
              <a:t>缺点</a:t>
            </a:r>
            <a:endParaRPr lang="zh-CN" altLang="en-US" sz="1755" spc="300">
              <a:solidFill>
                <a:srgbClr val="FFFFFF"/>
              </a:solidFill>
              <a:uFillTx/>
              <a:latin typeface="思源黑体 CN Bold" panose="020B0800000000000000" charset="-122"/>
              <a:ea typeface="思源黑体 CN Bold" panose="020B0800000000000000" charset="-122"/>
              <a:cs typeface="思源黑体 CN Regular" panose="020B0500000000000000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11"/>
            </p:custDataLst>
          </p:nvPr>
        </p:nvSpPr>
        <p:spPr>
          <a:xfrm>
            <a:off x="1113242" y="3849171"/>
            <a:ext cx="3323048" cy="920657"/>
          </a:xfrm>
          <a:prstGeom prst="rect">
            <a:avLst/>
          </a:prstGeom>
          <a:noFill/>
        </p:spPr>
        <p:txBody>
          <a:bodyPr wrap="square" rtlCol="0" anchor="t">
            <a:normAutofit lnSpcReduction="10000"/>
          </a:bodyPr>
          <a:p>
            <a:pPr marL="171450" indent="-171450" algn="l" fontAlgn="auto">
              <a:lnSpc>
                <a:spcPct val="130000"/>
              </a:lnSpc>
              <a:spcAft>
                <a:spcPts val="1000"/>
              </a:spcAft>
              <a:buFont typeface="Wingdings" panose="05000000000000000000" charset="0"/>
              <a:buChar char="Ø"/>
            </a:pPr>
            <a:r>
              <a:rPr lang="zh-CN" altLang="en-US" sz="1050" spc="150">
                <a:solidFill>
                  <a:srgbClr val="000000">
                    <a:lumMod val="75000"/>
                    <a:lumOff val="25000"/>
                  </a:srgbClr>
                </a:solidFill>
                <a:effectLst/>
                <a:uFillTx/>
                <a:latin typeface="思源黑体 CN Regular" panose="020B0500000000000000" charset="-122"/>
                <a:ea typeface="思源黑体 CN Regular" panose="020B0500000000000000" charset="-122"/>
                <a:cs typeface="思源黑体 CN Regular" panose="020B0500000000000000" charset="-122"/>
                <a:sym typeface="微软雅黑" panose="020B0503020204020204" charset="-122"/>
              </a:rPr>
              <a:t>源码不公开，后续功能迭代只能由厂家提供。</a:t>
            </a:r>
            <a:endParaRPr lang="zh-CN" altLang="en-US" sz="105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  <a:p>
            <a:pPr marL="171450" indent="-171450" algn="l" fontAlgn="auto">
              <a:lnSpc>
                <a:spcPct val="130000"/>
              </a:lnSpc>
              <a:spcAft>
                <a:spcPts val="1000"/>
              </a:spcAft>
              <a:buFont typeface="Wingdings" panose="05000000000000000000" charset="0"/>
              <a:buChar char="Ø"/>
            </a:pPr>
            <a:endParaRPr lang="zh-CN" altLang="en-US" sz="105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  <a:p>
            <a:pPr algn="l" fontAlgn="auto">
              <a:lnSpc>
                <a:spcPct val="130000"/>
              </a:lnSpc>
              <a:spcAft>
                <a:spcPts val="1000"/>
              </a:spcAft>
            </a:pPr>
            <a:endParaRPr lang="zh-CN" altLang="en-US" sz="1050" spc="150">
              <a:solidFill>
                <a:srgbClr val="000000">
                  <a:lumMod val="75000"/>
                  <a:lumOff val="25000"/>
                </a:srgbClr>
              </a:solidFill>
              <a:effectLst/>
              <a:uFillTx/>
              <a:latin typeface="思源黑体 CN Regular" panose="020B0500000000000000" charset="-122"/>
              <a:ea typeface="思源黑体 CN Regular" panose="020B0500000000000000" charset="-122"/>
              <a:cs typeface="思源黑体 CN Regular" panose="020B0500000000000000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Users\zhh2\Desktop\文件\CorelSDK_0004.JPGCorelSDK_000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74" y="1290"/>
            <a:ext cx="10687738" cy="60102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908917" y="2432311"/>
            <a:ext cx="2874010" cy="891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195">
                <a:solidFill>
                  <a:srgbClr val="C39C5F"/>
                </a:solidFill>
                <a:latin typeface="微软雅黑" panose="020B0503020204020204" charset="-122"/>
                <a:ea typeface="微软雅黑" panose="020B0503020204020204" charset="-122"/>
              </a:rPr>
              <a:t>THANKS</a:t>
            </a:r>
            <a:endParaRPr lang="en-US" sz="5195">
              <a:solidFill>
                <a:srgbClr val="C39C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_OLD_SHAPE_ID" val="5"/>
  <p:tag name="REFSHAPE" val="1848309112"/>
</p:tagLst>
</file>

<file path=ppt/tags/tag2.xml><?xml version="1.0" encoding="utf-8"?>
<p:tagLst xmlns:p="http://schemas.openxmlformats.org/presentationml/2006/main">
  <p:tag name="MH_OLD_SHAPE_ID" val="6"/>
  <p:tag name="REFSHAPE" val="1848308032"/>
</p:tagLst>
</file>

<file path=ppt/tags/tag3.xml><?xml version="1.0" encoding="utf-8"?>
<p:tagLst xmlns:p="http://schemas.openxmlformats.org/presentationml/2006/main">
  <p:tag name="MH_OLD_SHAPE_ID" val="5"/>
  <p:tag name="REFSHAPE" val="1848309112"/>
</p:tagLst>
</file>

<file path=ppt/tags/tag4.xml><?xml version="1.0" encoding="utf-8"?>
<p:tagLst xmlns:p="http://schemas.openxmlformats.org/presentationml/2006/main">
  <p:tag name="MH_OLD_SHAPE_ID" val="6"/>
  <p:tag name="REFSHAPE" val="1848308032"/>
</p:tagLst>
</file>

<file path=ppt/tags/tag5.xml><?xml version="1.0" encoding="utf-8"?>
<p:tagLst xmlns:p="http://schemas.openxmlformats.org/presentationml/2006/main">
  <p:tag name="MH_OLD_SHAPE_ID" val="5"/>
  <p:tag name="REFSHAPE" val="1848309112"/>
</p:tagLst>
</file>

<file path=ppt/tags/tag6.xml><?xml version="1.0" encoding="utf-8"?>
<p:tagLst xmlns:p="http://schemas.openxmlformats.org/presentationml/2006/main">
  <p:tag name="MH_OLD_SHAPE_ID" val="6"/>
  <p:tag name="REFSHAPE" val="1848308032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4"/>
  <p:tag name="KSO_WM_UNIT_ID" val="diagram20200112_2*q_h_i*1_3_4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13"/>
  <p:tag name="KSO_WM_UNIT_TEXT_FILL_TYPE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DIAGRAM_GROUP_CODE" val="q1-1"/>
  <p:tag name="KSO_WM_UNIT_TYPE" val="q_h_i"/>
  <p:tag name="KSO_WM_UNIT_INDEX" val="1_2_1"/>
  <p:tag name="KSO_WM_UNIT_ID" val="diagram20200112_2*q_h_i*1_2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4"/>
  <p:tag name="KSO_WM_UNIT_ID" val="diagram20200112_2*q_h_i*1_1_4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3"/>
  <p:tag name="KSO_WM_UNIT_ID" val="diagram20200112_2*q_h_i*1_3_3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3"/>
  <p:tag name="KSO_WM_UNIT_ID" val="diagram20200112_2*q_h_i*1_1_3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FILL_FORE_SCHEMECOLOR_INDEX" val="5"/>
  <p:tag name="KSO_WM_UNIT_FILL_TYPE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2"/>
  <p:tag name="KSO_WM_UNIT_ID" val="diagram20200112_2*q_h_i*1_1_2"/>
  <p:tag name="KSO_WM_TEMPLATE_CATEGORY" val="diagram"/>
  <p:tag name="KSO_WM_TEMPLATE_INDEX" val="20200112"/>
  <p:tag name="KSO_WM_UNIT_LAYERLEVEL" val="1_1_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2"/>
  <p:tag name="KSO_WM_UNIT_ID" val="diagram20200112_2*q_h_i*1_3_2"/>
  <p:tag name="KSO_WM_TEMPLATE_CATEGORY" val="diagram"/>
  <p:tag name="KSO_WM_TEMPLATE_INDEX" val="20200112"/>
  <p:tag name="KSO_WM_UNIT_LAYERLEVEL" val="1_1_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00112_2*q_h_i*1_1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200112_2*q_h_i*1_3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2"/>
  <p:tag name="KSO_WM_UNIT_ID" val="diagram20200112_2*q_h_i*1_2_2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17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15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a"/>
  <p:tag name="KSO_WM_UNIT_INDEX" val="1"/>
  <p:tag name="KSO_WM_UNIT_ID" val="diagram20200112_2*a*1"/>
  <p:tag name="KSO_WM_TEMPLATE_CATEGORY" val="diagram"/>
  <p:tag name="KSO_WM_TEMPLATE_INDEX" val="20200112"/>
  <p:tag name="KSO_WM_UNIT_LAYERLEVEL" val="1"/>
  <p:tag name="KSO_WM_TAG_VERSION" val="1.0"/>
  <p:tag name="KSO_WM_BEAUTIFY_FLAG" val="#wm#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00112_2*q_h_a*1_1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f"/>
  <p:tag name="KSO_WM_UNIT_INDEX" val="1_1_1"/>
  <p:tag name="KSO_WM_UNIT_ID" val="diagram20200112_2*q_h_f*1_1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20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3_1"/>
  <p:tag name="KSO_WM_UNIT_ID" val="diagram20200112_2*q_h_a*1_3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</p:tagLst>
</file>

<file path=ppt/tags/tag2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f"/>
  <p:tag name="KSO_WM_UNIT_INDEX" val="1_3_1"/>
  <p:tag name="KSO_WM_UNIT_ID" val="diagram20200112_2*q_h_f*1_3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2_1"/>
  <p:tag name="KSO_WM_UNIT_ID" val="diagram20200112_2*q_h_a*1_2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f"/>
  <p:tag name="KSO_WM_UNIT_INDEX" val="1_2_1"/>
  <p:tag name="KSO_WM_UNIT_ID" val="diagram20200112_2*q_h_f*1_2_1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5"/>
  <p:tag name="KSO_WM_UNIT_ID" val="diagram20200112_2*q_h_i*1_2_5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FILL_FORE_SCHEMECOLOR_INDEX" val="6"/>
  <p:tag name="KSO_WM_UNIT_FILL_TYPE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4"/>
  <p:tag name="KSO_WM_UNIT_ID" val="diagram20200112_2*q_h_i*1_2_4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FILL_FORE_SCHEMECOLOR_INDEX" val="6"/>
  <p:tag name="KSO_WM_UNIT_FILL_TYPE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3"/>
  <p:tag name="KSO_WM_UNIT_ID" val="diagram20200112_2*q_h_i*1_2_3"/>
  <p:tag name="KSO_WM_TEMPLATE_CATEGORY" val="diagram"/>
  <p:tag name="KSO_WM_TEMPLATE_INDEX" val="20200112"/>
  <p:tag name="KSO_WM_UNIT_LAYERLEVEL" val="1_1_1"/>
  <p:tag name="KSO_WM_TAG_VERSION" val="1.0"/>
  <p:tag name="KSO_WM_BEAUTIFY_FLAG" val="#wm#"/>
  <p:tag name="KSO_WM_UNIT_FILL_FORE_SCHEMECOLOR_INDEX" val="6"/>
  <p:tag name="KSO_WM_UNIT_FILL_TYPE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6"/>
  <p:tag name="KSO_WM_UNIT_ID" val="diagram20200112_2*q_h_i*1_2_6"/>
  <p:tag name="KSO_WM_TEMPLATE_CATEGORY" val="diagram"/>
  <p:tag name="KSO_WM_TEMPLATE_INDEX" val="20200112"/>
  <p:tag name="KSO_WM_UNIT_LAYERLEVEL" val="1_1_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TABLE_BEAUTIFY" val="smartTable{f25cff43-4e7e-45d8-886b-b0d3946ffd98}"/>
  <p:tag name="KSO_WM_UNIT_VALUE" val="1284*2694"/>
  <p:tag name="KSO_WM_UNIT_HIGHLIGHT" val="0"/>
  <p:tag name="KSO_WM_UNIT_COMPATIBLE" val="0"/>
  <p:tag name="KSO_WM_UNIT_DIAGRAM_ISNUMVISUAL" val="0"/>
  <p:tag name="KSO_WM_UNIT_DIAGRAM_ISREFERUNIT" val="0"/>
  <p:tag name="KSO_WM_UNIT_TYPE" val="β"/>
  <p:tag name="KSO_WM_UNIT_INDEX" val="1"/>
  <p:tag name="KSO_WM_UNIT_ID" val="mixed20203806_1*β*1"/>
  <p:tag name="KSO_WM_TEMPLATE_CATEGORY" val="mixed"/>
  <p:tag name="KSO_WM_TEMPLATE_INDEX" val="20203806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i"/>
  <p:tag name="KSO_WM_UNIT_INDEX" val="1_2_1"/>
  <p:tag name="KSO_WM_UNIT_ID" val="diagram20170390_2*l_h_i*1_2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7"/>
  <p:tag name="KSO_WM_UNIT_FILL_TYPE" val="1"/>
  <p:tag name="KSO_WM_UNIT_TEXT_FILL_FORE_SCHEMECOLOR_INDEX" val="13"/>
  <p:tag name="KSO_WM_UNIT_TEXT_FILL_TYPE" val="1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i"/>
  <p:tag name="KSO_WM_UNIT_INDEX" val="1_1_1"/>
  <p:tag name="KSO_WM_UNIT_ID" val="diagram20170390_2*l_h_i*1_1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i"/>
  <p:tag name="KSO_WM_UNIT_INDEX" val="1_3_1"/>
  <p:tag name="KSO_WM_UNIT_ID" val="diagram20170390_2*l_h_i*1_3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i"/>
  <p:tag name="KSO_WM_UNIT_INDEX" val="1_3_2"/>
  <p:tag name="KSO_WM_UNIT_ID" val="diagram20170390_2*l_h_i*1_3_2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5"/>
  <p:tag name="KSO_WM_UNIT_LINE_FILL_TYPE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i"/>
  <p:tag name="KSO_WM_UNIT_INDEX" val="1_2_2"/>
  <p:tag name="KSO_WM_UNIT_ID" val="diagram20170390_2*l_h_i*1_2_2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7"/>
  <p:tag name="KSO_WM_UNIT_LINE_FILL_TYPE" val="2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i"/>
  <p:tag name="KSO_WM_UNIT_INDEX" val="1_1_2"/>
  <p:tag name="KSO_WM_UNIT_ID" val="diagram20170390_2*l_h_i*1_1_2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LINE_FORE_SCHEMECOLOR_INDEX" val="6"/>
  <p:tag name="KSO_WM_UNIT_LINE_FILL_TYPE" val="2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i"/>
  <p:tag name="KSO_WM_UNIT_INDEX" val="1_3_1"/>
  <p:tag name="KSO_WM_UNIT_ID" val="diagram20170390_2*l_h_i*1_3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EXT_FILL_FORE_SCHEMECOLOR_INDEX" val="14"/>
  <p:tag name="KSO_WM_UNIT_TEXT_FILL_TYPE" val="1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i"/>
  <p:tag name="KSO_WM_UNIT_INDEX" val="1_2_1"/>
  <p:tag name="KSO_WM_UNIT_ID" val="diagram20170390_2*l_h_i*1_2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EXT_FILL_FORE_SCHEMECOLOR_INDEX" val="14"/>
  <p:tag name="KSO_WM_UNIT_TEXT_FILL_TYPE" val="1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i"/>
  <p:tag name="KSO_WM_UNIT_INDEX" val="1_1_1"/>
  <p:tag name="KSO_WM_UNIT_ID" val="diagram20170390_2*l_h_i*1_1_1"/>
  <p:tag name="KSO_WM_UNIT_LAYERLEVEL" val="1_1_1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EXT_FILL_FORE_SCHEMECOLOR_INDEX" val="14"/>
  <p:tag name="KSO_WM_UNIT_TEXT_FILL_TYPE" val="1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a"/>
  <p:tag name="KSO_WM_UNIT_INDEX" val="1"/>
  <p:tag name="KSO_WM_UNIT_LAYERLEVEL" val="1"/>
  <p:tag name="KSO_WM_UNIT_VALUE" val="20"/>
  <p:tag name="KSO_WM_UNIT_ISCONTENTSTITLE" val="0"/>
  <p:tag name="KSO_WM_UNIT_HIGHLIGHT" val="0"/>
  <p:tag name="KSO_WM_UNIT_COMPATIBLE" val="0"/>
  <p:tag name="KSO_WM_DIAGRAM_GROUP_CODE" val="l1-1"/>
  <p:tag name="KSO_WM_UNIT_ID" val="diagram20170390_2*a*1"/>
  <p:tag name="KSO_WM_UNIT_NOCLEAR" val="0"/>
  <p:tag name="KSO_WM_UNIT_DIAGRAM_ISNUMVISUAL" val="0"/>
  <p:tag name="KSO_WM_UNIT_DIAGRAM_ISREFERUNIT" val="0"/>
  <p:tag name="KSO_WM_UNIT_PRESET_TEXT" val="单击此处添加大标题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f"/>
  <p:tag name="KSO_WM_UNIT_INDEX" val="1_1_1"/>
  <p:tag name="KSO_WM_UNIT_LAYERLEVEL" val="1_1_1"/>
  <p:tag name="KSO_WM_UNIT_VALUE" val="30"/>
  <p:tag name="KSO_WM_UNIT_HIGHLIGHT" val="0"/>
  <p:tag name="KSO_WM_UNIT_COMPATIBLE" val="0"/>
  <p:tag name="KSO_WM_DIAGRAM_GROUP_CODE" val="l1-1"/>
  <p:tag name="KSO_WM_UNIT_ID" val="diagram20170390_2*l_h_f*1_1_1"/>
  <p:tag name="KSO_WM_UNIT_NOCLEAR" val="0"/>
  <p:tag name="KSO_WM_UNIT_DIAGRAM_ISNUMVISUAL" val="0"/>
  <p:tag name="KSO_WM_UNIT_DIAGRAM_ISREFERUNIT" val="0"/>
  <p:tag name="KSO_WM_UNIT_PRESET_TEXT" val="单击此处添加文本具体内容，简明扼要地阐述你的观点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a"/>
  <p:tag name="KSO_WM_UNIT_INDEX" val="1_1_1"/>
  <p:tag name="KSO_WM_UNIT_LAYERLEVEL" val="1_1_1"/>
  <p:tag name="KSO_WM_UNIT_VALUE" val="10"/>
  <p:tag name="KSO_WM_UNIT_HIGHLIGHT" val="0"/>
  <p:tag name="KSO_WM_UNIT_COMPATIBLE" val="0"/>
  <p:tag name="KSO_WM_DIAGRAM_GROUP_CODE" val="l1-1"/>
  <p:tag name="KSO_WM_UNIT_ID" val="diagram20170390_2*l_h_a*1_1_1"/>
  <p:tag name="KSO_WM_UNIT_ISCONTENTSTITLE" val="0"/>
  <p:tag name="KSO_WM_UNIT_NOCLEAR" val="0"/>
  <p:tag name="KSO_WM_UNIT_DIAGRAM_ISNUMVISUAL" val="0"/>
  <p:tag name="KSO_WM_UNIT_DIAGRAM_ISREFERUNIT" val="0"/>
  <p:tag name="KSO_WM_UNIT_PRESET_TEXT" val="单击此处添加标题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f"/>
  <p:tag name="KSO_WM_UNIT_INDEX" val="1_3_1"/>
  <p:tag name="KSO_WM_UNIT_LAYERLEVEL" val="1_1_1"/>
  <p:tag name="KSO_WM_UNIT_VALUE" val="30"/>
  <p:tag name="KSO_WM_UNIT_HIGHLIGHT" val="0"/>
  <p:tag name="KSO_WM_UNIT_COMPATIBLE" val="0"/>
  <p:tag name="KSO_WM_DIAGRAM_GROUP_CODE" val="l1-1"/>
  <p:tag name="KSO_WM_UNIT_ID" val="diagram20170390_2*l_h_f*1_3_1"/>
  <p:tag name="KSO_WM_UNIT_NOCLEAR" val="0"/>
  <p:tag name="KSO_WM_UNIT_DIAGRAM_ISNUMVISUAL" val="0"/>
  <p:tag name="KSO_WM_UNIT_DIAGRAM_ISREFERUNIT" val="0"/>
  <p:tag name="KSO_WM_UNIT_PRESET_TEXT" val="单击此处添加文本具体内容，简明扼要地阐述你的观点"/>
  <p:tag name="KSO_WM_UNIT_TEXT_FILL_FORE_SCHEMECOLOR_INDEX" val="13"/>
  <p:tag name="KSO_WM_UNIT_TEXT_FILL_TYPE" val="1"/>
</p:tagLst>
</file>

<file path=ppt/tags/tag4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a"/>
  <p:tag name="KSO_WM_UNIT_INDEX" val="1_3_1"/>
  <p:tag name="KSO_WM_UNIT_LAYERLEVEL" val="1_1_1"/>
  <p:tag name="KSO_WM_UNIT_VALUE" val="10"/>
  <p:tag name="KSO_WM_UNIT_HIGHLIGHT" val="0"/>
  <p:tag name="KSO_WM_UNIT_COMPATIBLE" val="0"/>
  <p:tag name="KSO_WM_DIAGRAM_GROUP_CODE" val="l1-1"/>
  <p:tag name="KSO_WM_UNIT_ID" val="diagram20170390_2*l_h_a*1_3_1"/>
  <p:tag name="KSO_WM_UNIT_ISCONTENTSTITLE" val="0"/>
  <p:tag name="KSO_WM_UNIT_NOCLEAR" val="0"/>
  <p:tag name="KSO_WM_UNIT_DIAGRAM_ISNUMVISUAL" val="0"/>
  <p:tag name="KSO_WM_UNIT_DIAGRAM_ISREFERUNIT" val="0"/>
  <p:tag name="KSO_WM_UNIT_PRESET_TEXT" val="单击此处添加标题"/>
  <p:tag name="KSO_WM_UNIT_TEXT_FILL_FORE_SCHEMECOLOR_INDEX" val="13"/>
  <p:tag name="KSO_WM_UNIT_TEXT_FILL_TYPE" val="1"/>
</p:tagLst>
</file>

<file path=ppt/tags/tag4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f"/>
  <p:tag name="KSO_WM_UNIT_INDEX" val="1_2_1"/>
  <p:tag name="KSO_WM_UNIT_LAYERLEVEL" val="1_1_1"/>
  <p:tag name="KSO_WM_UNIT_VALUE" val="30"/>
  <p:tag name="KSO_WM_UNIT_HIGHLIGHT" val="0"/>
  <p:tag name="KSO_WM_UNIT_COMPATIBLE" val="0"/>
  <p:tag name="KSO_WM_DIAGRAM_GROUP_CODE" val="l1-1"/>
  <p:tag name="KSO_WM_UNIT_ID" val="diagram20170390_2*l_h_f*1_2_1"/>
  <p:tag name="KSO_WM_UNIT_NOCLEAR" val="0"/>
  <p:tag name="KSO_WM_UNIT_DIAGRAM_ISNUMVISUAL" val="0"/>
  <p:tag name="KSO_WM_UNIT_DIAGRAM_ISREFERUNIT" val="0"/>
  <p:tag name="KSO_WM_UNIT_PRESET_TEXT" val="单击此处添加文本具体内容，简明扼要地阐述你的观点"/>
  <p:tag name="KSO_WM_UNIT_TEXT_FILL_FORE_SCHEMECOLOR_INDEX" val="13"/>
  <p:tag name="KSO_WM_UNIT_TEXT_FILL_TYPE" val="1"/>
</p:tagLst>
</file>

<file path=ppt/tags/tag4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390"/>
  <p:tag name="KSO_WM_UNIT_TYPE" val="l_h_a"/>
  <p:tag name="KSO_WM_UNIT_INDEX" val="1_2_1"/>
  <p:tag name="KSO_WM_UNIT_LAYERLEVEL" val="1_1_1"/>
  <p:tag name="KSO_WM_UNIT_VALUE" val="10"/>
  <p:tag name="KSO_WM_UNIT_HIGHLIGHT" val="0"/>
  <p:tag name="KSO_WM_UNIT_COMPATIBLE" val="0"/>
  <p:tag name="KSO_WM_DIAGRAM_GROUP_CODE" val="l1-1"/>
  <p:tag name="KSO_WM_UNIT_ID" val="diagram20170390_2*l_h_a*1_2_1"/>
  <p:tag name="KSO_WM_UNIT_ISCONTENTSTITLE" val="0"/>
  <p:tag name="KSO_WM_UNIT_NOCLEAR" val="0"/>
  <p:tag name="KSO_WM_UNIT_DIAGRAM_ISNUMVISUAL" val="0"/>
  <p:tag name="KSO_WM_UNIT_DIAGRAM_ISREFERUNIT" val="0"/>
  <p:tag name="KSO_WM_UNIT_PRESET_TEXT" val="单击此处添加标题"/>
  <p:tag name="KSO_WM_UNIT_TEXT_FILL_FORE_SCHEMECOLOR_INDEX" val="13"/>
  <p:tag name="KSO_WM_UNIT_TEXT_FILL_TYPE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28060_3*l_i*1_1"/>
  <p:tag name="KSO_WM_TEMPLATE_CATEGORY" val="diagram"/>
  <p:tag name="KSO_WM_TEMPLATE_INDEX" val="20228060"/>
  <p:tag name="KSO_WM_UNIT_LAYERLEVEL" val="1_1"/>
  <p:tag name="KSO_WM_TAG_VERSION" val="1.0"/>
  <p:tag name="KSO_WM_BEAUTIFY_FLAG" val="#wm#"/>
  <p:tag name="KSO_WM_UNIT_FILL_FORE_SCHEMECOLOR_INDEX" val="9"/>
  <p:tag name="KSO_WM_UNIT_FILL_TYPE" val="1"/>
  <p:tag name="KSO_WM_UNIT_TEXT_FILL_FORE_SCHEMECOLOR_INDEX" val="2"/>
  <p:tag name="KSO_WM_UNIT_TEXT_FILL_TYPE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28060_3*l_i*1_2"/>
  <p:tag name="KSO_WM_TEMPLATE_CATEGORY" val="diagram"/>
  <p:tag name="KSO_WM_TEMPLATE_INDEX" val="20228060"/>
  <p:tag name="KSO_WM_UNIT_LAYERLEVEL" val="1_1"/>
  <p:tag name="KSO_WM_TAG_VERSION" val="1.0"/>
  <p:tag name="KSO_WM_BEAUTIFY_FLAG" val="#wm#"/>
  <p:tag name="KSO_WM_UNIT_FILL_FORE_SCHEMECOLOR_INDEX" val="14"/>
  <p:tag name="KSO_WM_UNIT_FILL_TYPE" val="1"/>
  <p:tag name="KSO_WM_UNIT_SHADOW_SCHEMECOLOR_INDEX" val="13"/>
  <p:tag name="KSO_WM_UNIT_TEXT_FILL_FORE_SCHEMECOLOR_INDEX" val="2"/>
  <p:tag name="KSO_WM_UNIT_TEXT_FILL_TYPE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e"/>
  <p:tag name="KSO_WM_UNIT_TYPE" val="l_h_i"/>
  <p:tag name="KSO_WM_UNIT_INDEX" val="1_1_2"/>
  <p:tag name="KSO_WM_UNIT_ID" val="diagram20228060_3*l_h_i*1_1_2"/>
  <p:tag name="KSO_WM_TEMPLATE_CATEGORY" val="diagram"/>
  <p:tag name="KSO_WM_TEMPLATE_INDEX" val="20228060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SHADOW_SCHEMECOLOR_INDEX" val="13"/>
  <p:tag name="KSO_WM_UNIT_TEXT_FILL_FORE_SCHEMECOLOR_INDEX" val="2"/>
  <p:tag name="KSO_WM_UNIT_TEXT_FILL_TYPE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e"/>
  <p:tag name="KSO_WM_UNIT_TYPE" val="l_h_i"/>
  <p:tag name="KSO_WM_UNIT_INDEX" val="1_2_2"/>
  <p:tag name="KSO_WM_UNIT_ID" val="diagram20228060_3*l_h_i*1_2_2"/>
  <p:tag name="KSO_WM_TEMPLATE_CATEGORY" val="diagram"/>
  <p:tag name="KSO_WM_TEMPLATE_INDEX" val="20228060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SHADOW_SCHEMECOLOR_INDEX" val="13"/>
  <p:tag name="KSO_WM_UNIT_TEXT_FILL_FORE_SCHEMECOLOR_INDEX" val="2"/>
  <p:tag name="KSO_WM_UNIT_TEXT_FILL_TYPE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e"/>
  <p:tag name="KSO_WM_UNIT_TYPE" val="l_h_i"/>
  <p:tag name="KSO_WM_UNIT_INDEX" val="1_3_2"/>
  <p:tag name="KSO_WM_UNIT_ID" val="diagram20228060_3*l_h_i*1_3_2"/>
  <p:tag name="KSO_WM_TEMPLATE_CATEGORY" val="diagram"/>
  <p:tag name="KSO_WM_TEMPLATE_INDEX" val="20228060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SHADOW_SCHEMECOLOR_INDEX" val="13"/>
  <p:tag name="KSO_WM_UNIT_TEXT_FILL_FORE_SCHEMECOLOR_INDEX" val="2"/>
  <p:tag name="KSO_WM_UNIT_TEXT_FILL_TYPE" val="1"/>
</p:tagLst>
</file>

<file path=ppt/tags/tag50.xml><?xml version="1.0" encoding="utf-8"?>
<p:tagLst xmlns:p="http://schemas.openxmlformats.org/presentationml/2006/main">
  <p:tag name="KSO_WM_UNIT_VALUE" val="200*2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x"/>
  <p:tag name="KSO_WM_UNIT_INDEX" val="1_1"/>
  <p:tag name="KSO_WM_UNIT_ID" val="diagram20228060_3*l_x*1_1"/>
  <p:tag name="KSO_WM_TEMPLATE_CATEGORY" val="diagram"/>
  <p:tag name="KSO_WM_TEMPLATE_INDEX" val="20228060"/>
  <p:tag name="KSO_WM_UNIT_LAYERLEVEL" val="1_1"/>
  <p:tag name="KSO_WM_TAG_VERSION" val="1.0"/>
  <p:tag name="KSO_WM_BEAUTIFY_FLAG" val="#wm#"/>
  <p:tag name="KSO_WM_UNIT_SHADOW_SCHEMECOLOR_INDEX" val="13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060_3*l_h_a*1_1_1"/>
  <p:tag name="KSO_WM_TEMPLATE_CATEGORY" val="diagram"/>
  <p:tag name="KSO_WM_TEMPLATE_INDEX" val="20228060"/>
  <p:tag name="KSO_WM_UNIT_LAYERLEVEL" val="1_1_1"/>
  <p:tag name="KSO_WM_TAG_VERSION" val="1.0"/>
  <p:tag name="KSO_WM_BEAUTIFY_FLAG" val="#wm#"/>
  <p:tag name="KSO_WM_UNIT_TEXT_FILL_FORE_SCHEMECOLOR_INDEX" val="5"/>
  <p:tag name="KSO_WM_UNIT_TEXT_FILL_TYPE" val="1"/>
</p:tagLst>
</file>

<file path=ppt/tags/tag52.xml><?xml version="1.0" encoding="utf-8"?>
<p:tagLst xmlns:p="http://schemas.openxmlformats.org/presentationml/2006/main">
  <p:tag name="KSO_WM_UNIT_SUBTYPE" val="a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60_3*l_h_f*1_1_1"/>
  <p:tag name="KSO_WM_TEMPLATE_CATEGORY" val="diagram"/>
  <p:tag name="KSO_WM_TEMPLATE_INDEX" val="20228060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28060_3*l_h_a*1_2_1"/>
  <p:tag name="KSO_WM_TEMPLATE_CATEGORY" val="diagram"/>
  <p:tag name="KSO_WM_TEMPLATE_INDEX" val="20228060"/>
  <p:tag name="KSO_WM_UNIT_LAYERLEVEL" val="1_1_1"/>
  <p:tag name="KSO_WM_TAG_VERSION" val="1.0"/>
  <p:tag name="KSO_WM_BEAUTIFY_FLAG" val="#wm#"/>
  <p:tag name="KSO_WM_UNIT_TEXT_FILL_FORE_SCHEMECOLOR_INDEX" val="7"/>
  <p:tag name="KSO_WM_UNIT_TEXT_FILL_TYPE" val="1"/>
</p:tagLst>
</file>

<file path=ppt/tags/tag54.xml><?xml version="1.0" encoding="utf-8"?>
<p:tagLst xmlns:p="http://schemas.openxmlformats.org/presentationml/2006/main">
  <p:tag name="KSO_WM_UNIT_SUBTYPE" val="a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8060_3*l_h_f*1_2_1"/>
  <p:tag name="KSO_WM_TEMPLATE_CATEGORY" val="diagram"/>
  <p:tag name="KSO_WM_TEMPLATE_INDEX" val="20228060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28060_3*l_h_a*1_3_1"/>
  <p:tag name="KSO_WM_TEMPLATE_CATEGORY" val="diagram"/>
  <p:tag name="KSO_WM_TEMPLATE_INDEX" val="20228060"/>
  <p:tag name="KSO_WM_UNIT_LAYERLEVEL" val="1_1_1"/>
  <p:tag name="KSO_WM_TAG_VERSION" val="1.0"/>
  <p:tag name="KSO_WM_BEAUTIFY_FLAG" val="#wm#"/>
  <p:tag name="KSO_WM_UNIT_TEXT_FILL_FORE_SCHEMECOLOR_INDEX" val="8"/>
  <p:tag name="KSO_WM_UNIT_TEXT_FILL_TYPE" val="1"/>
</p:tagLst>
</file>

<file path=ppt/tags/tag56.xml><?xml version="1.0" encoding="utf-8"?>
<p:tagLst xmlns:p="http://schemas.openxmlformats.org/presentationml/2006/main">
  <p:tag name="KSO_WM_UNIT_SUBTYPE" val="a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8060_3*l_h_f*1_3_1"/>
  <p:tag name="KSO_WM_TEMPLATE_CATEGORY" val="diagram"/>
  <p:tag name="KSO_WM_TEMPLATE_INDEX" val="20228060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28060_3*l_h_i*1_1_1"/>
  <p:tag name="KSO_WM_TEMPLATE_CATEGORY" val="diagram"/>
  <p:tag name="KSO_WM_TEMPLATE_INDEX" val="20228060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28060_3*l_h_i*1_2_1"/>
  <p:tag name="KSO_WM_TEMPLATE_CATEGORY" val="diagram"/>
  <p:tag name="KSO_WM_TEMPLATE_INDEX" val="20228060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28060_3*l_h_i*1_3_1"/>
  <p:tag name="KSO_WM_TEMPLATE_CATEGORY" val="diagram"/>
  <p:tag name="KSO_WM_TEMPLATE_INDEX" val="20228060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大标题内容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28060_3*a*1"/>
  <p:tag name="KSO_WM_TEMPLATE_CATEGORY" val="diagram"/>
  <p:tag name="KSO_WM_TEMPLATE_INDEX" val="20228060"/>
  <p:tag name="KSO_WM_UNIT_LAYERLEVEL" val="1"/>
  <p:tag name="KSO_WM_TAG_VERSION" val="1.0"/>
  <p:tag name="KSO_WM_BEAUTIFY_FLAG" val="#wm#"/>
  <p:tag name="KSO_WM_UNIT_TEXT_FILL_FORE_SCHEMECOLOR_INDEX" val="13"/>
  <p:tag name="KSO_WM_UNIT_TEXT_FILL_TYPE" val="1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内容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diagram20228060_3*b*1"/>
  <p:tag name="KSO_WM_TEMPLATE_CATEGORY" val="diagram"/>
  <p:tag name="KSO_WM_TEMPLATE_INDEX" val="20228060"/>
  <p:tag name="KSO_WM_UNIT_LAYERLEVEL" val="1"/>
  <p:tag name="KSO_WM_TAG_VERSION" val="1.0"/>
  <p:tag name="KSO_WM_BEAUTIFY_FLAG" val="#wm#"/>
  <p:tag name="KSO_WM_UNIT_TEXT_FILL_FORE_SCHEMECOLOR_INDEX" val="13"/>
  <p:tag name="KSO_WM_UNIT_TEXT_FILL_TYPE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diagram20228060_3*i*1"/>
  <p:tag name="KSO_WM_TEMPLATE_CATEGORY" val="diagram"/>
  <p:tag name="KSO_WM_TEMPLATE_INDEX" val="20228060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63.xml><?xml version="1.0" encoding="utf-8"?>
<p:tagLst xmlns:p="http://schemas.openxmlformats.org/presentationml/2006/main">
  <p:tag name="KSO_WM_SLIDE_ITEM_CNT" val="5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大标题内容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28060_3*a*1"/>
  <p:tag name="KSO_WM_TEMPLATE_CATEGORY" val="diagram"/>
  <p:tag name="KSO_WM_TEMPLATE_INDEX" val="20228060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内容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diagram20228060_3*b*1"/>
  <p:tag name="KSO_WM_TEMPLATE_CATEGORY" val="diagram"/>
  <p:tag name="KSO_WM_TEMPLATE_INDEX" val="20228060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diagram20228060_3*i*1"/>
  <p:tag name="KSO_WM_TEMPLATE_CATEGORY" val="diagram"/>
  <p:tag name="KSO_WM_TEMPLATE_INDEX" val="20228060"/>
  <p:tag name="KSO_WM_UNIT_LAYERLEVEL" val="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7955_2*l_h_i*1_1_1"/>
  <p:tag name="KSO_WM_TEMPLATE_CATEGORY" val="diagram"/>
  <p:tag name="KSO_WM_TEMPLATE_INDEX" val="20227955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27955_2*l_h_i*1_1_2"/>
  <p:tag name="KSO_WM_TEMPLATE_CATEGORY" val="diagram"/>
  <p:tag name="KSO_WM_TEMPLATE_INDEX" val="20227955"/>
  <p:tag name="KSO_WM_UNIT_LAYERLEVEL" val="1_1_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7955_2*l_h_i*1_1_3"/>
  <p:tag name="KSO_WM_TEMPLATE_CATEGORY" val="diagram"/>
  <p:tag name="KSO_WM_TEMPLATE_INDEX" val="20227955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USESOURCEFORMAT_APPLY" val="1"/>
</p:tagLst>
</file>

<file path=ppt/tags/tag70.xml><?xml version="1.0" encoding="utf-8"?>
<p:tagLst xmlns:p="http://schemas.openxmlformats.org/presentationml/2006/main">
  <p:tag name="KSO_WM_UNIT_VALUE" val="100*1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27955_2*l_h_x*1_1_1"/>
  <p:tag name="KSO_WM_TEMPLATE_CATEGORY" val="diagram"/>
  <p:tag name="KSO_WM_TEMPLATE_INDEX" val="20227955"/>
  <p:tag name="KSO_WM_UNIT_LAYERLEVEL" val="1_1_1"/>
  <p:tag name="KSO_WM_TAG_VERSION" val="1.0"/>
  <p:tag name="KSO_WM_BEAUTIFY_FLAG" val="#wm#"/>
  <p:tag name="KSO_WM_UNIT_USESOURCEFORMAT_APPLY" val="1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7955_2*l_h_a*1_1_1"/>
  <p:tag name="KSO_WM_TEMPLATE_CATEGORY" val="diagram"/>
  <p:tag name="KSO_WM_TEMPLATE_INDEX" val="2022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5"/>
  <p:tag name="KSO_WM_UNIT_TEXT_FILL_TYPE" val="1"/>
  <p:tag name="KSO_WM_UNIT_USESOURCEFORMAT_APPLY" val="1"/>
</p:tagLst>
</file>

<file path=ppt/tags/tag72.xml><?xml version="1.0" encoding="utf-8"?>
<p:tagLst xmlns:p="http://schemas.openxmlformats.org/presentationml/2006/main">
  <p:tag name="KSO_WM_UNIT_SUBTYPE" val="a"/>
  <p:tag name="KSO_WM_UNIT_PRESET_TEXT" val="单击此处输入你的正文，文字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7955_2*l_h_f*1_1_1"/>
  <p:tag name="KSO_WM_TEMPLATE_CATEGORY" val="diagram"/>
  <p:tag name="KSO_WM_TEMPLATE_INDEX" val="20227955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7955_2*l_h_i*1_2_1"/>
  <p:tag name="KSO_WM_TEMPLATE_CATEGORY" val="diagram"/>
  <p:tag name="KSO_WM_TEMPLATE_INDEX" val="20227955"/>
  <p:tag name="KSO_WM_UNIT_LAYERLEVEL" val="1_1_1"/>
  <p:tag name="KSO_WM_TAG_VERSION" val="1.0"/>
  <p:tag name="KSO_WM_BEAUTIFY_FLAG" val="#wm#"/>
  <p:tag name="KSO_WM_UNIT_FILL_FORE_SCHEMECOLOR_INDEX_BRIGHTNESS" val="0.6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27955_2*l_h_i*1_2_2"/>
  <p:tag name="KSO_WM_TEMPLATE_CATEGORY" val="diagram"/>
  <p:tag name="KSO_WM_TEMPLATE_INDEX" val="20227955"/>
  <p:tag name="KSO_WM_UNIT_LAYERLEVEL" val="1_1_1"/>
  <p:tag name="KSO_WM_TAG_VERSION" val="1.0"/>
  <p:tag name="KSO_WM_BEAUTIFY_FLAG" val="#wm#"/>
  <p:tag name="KSO_WM_UNIT_FILL_FORE_SCHEMECOLOR_INDEX_BRIGHTNESS" val="0.8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27955_2*l_h_i*1_2_3"/>
  <p:tag name="KSO_WM_TEMPLATE_CATEGORY" val="diagram"/>
  <p:tag name="KSO_WM_TEMPLATE_INDEX" val="20227955"/>
  <p:tag name="KSO_WM_UNIT_LAYERLEVEL" val="1_1_1"/>
  <p:tag name="KSO_WM_TAG_VERSION" val="1.0"/>
  <p:tag name="KSO_WM_BEAUTIFY_FLAG" val="#wm#"/>
  <p:tag name="KSO_WM_UNIT_LINE_FORE_SCHEMECOLOR_INDEX_BRIGHTNESS" val="0.6"/>
  <p:tag name="KSO_WM_UNIT_LINE_FORE_SCHEMECOLOR_INDEX" val="6"/>
  <p:tag name="KSO_WM_UNIT_LINE_FILL_TYPE" val="2"/>
  <p:tag name="KSO_WM_UNIT_USESOURCEFORMAT_APPLY" val="1"/>
</p:tagLst>
</file>

<file path=ppt/tags/tag76.xml><?xml version="1.0" encoding="utf-8"?>
<p:tagLst xmlns:p="http://schemas.openxmlformats.org/presentationml/2006/main">
  <p:tag name="KSO_WM_UNIT_VALUE" val="100*1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27955_2*l_h_x*1_2_1"/>
  <p:tag name="KSO_WM_TEMPLATE_CATEGORY" val="diagram"/>
  <p:tag name="KSO_WM_TEMPLATE_INDEX" val="20227955"/>
  <p:tag name="KSO_WM_UNIT_LAYERLEVEL" val="1_1_1"/>
  <p:tag name="KSO_WM_TAG_VERSION" val="1.0"/>
  <p:tag name="KSO_WM_BEAUTIFY_FLAG" val="#wm#"/>
  <p:tag name="KSO_WM_UNIT_USESOURCEFORMAT_APPLY" val="1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27955_2*l_h_a*1_2_1"/>
  <p:tag name="KSO_WM_TEMPLATE_CATEGORY" val="diagram"/>
  <p:tag name="KSO_WM_TEMPLATE_INDEX" val="20227955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6"/>
  <p:tag name="KSO_WM_UNIT_TEXT_FILL_TYPE" val="1"/>
  <p:tag name="KSO_WM_UNIT_USESOURCEFORMAT_APPLY" val="1"/>
</p:tagLst>
</file>

<file path=ppt/tags/tag78.xml><?xml version="1.0" encoding="utf-8"?>
<p:tagLst xmlns:p="http://schemas.openxmlformats.org/presentationml/2006/main">
  <p:tag name="KSO_WM_UNIT_SUBTYPE" val="a"/>
  <p:tag name="KSO_WM_UNIT_PRESET_TEXT" val="单击此处输入你的正文，文字是您思想的提炼。"/>
  <p:tag name="KSO_WM_UNIT_NOCLEAR" val="0"/>
  <p:tag name="KSO_WM_UNIT_VALUE" val="2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7955_2*l_h_f*1_2_1"/>
  <p:tag name="KSO_WM_TEMPLATE_CATEGORY" val="diagram"/>
  <p:tag name="KSO_WM_TEMPLATE_INDEX" val="20227955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79.xml><?xml version="1.0" encoding="utf-8"?>
<p:tagLst xmlns:p="http://schemas.openxmlformats.org/presentationml/2006/main">
  <p:tag name="KSO_WM_SLIDE_ITEM_CNT" val="2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大标题内容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28060_3*a*1"/>
  <p:tag name="KSO_WM_TEMPLATE_CATEGORY" val="diagram"/>
  <p:tag name="KSO_WM_TEMPLATE_INDEX" val="20228060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内容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diagram20228060_3*b*1"/>
  <p:tag name="KSO_WM_TEMPLATE_CATEGORY" val="diagram"/>
  <p:tag name="KSO_WM_TEMPLATE_INDEX" val="20228060"/>
  <p:tag name="KSO_WM_UNIT_LAYERLEVEL" val="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diagram20228071_3*i*1"/>
  <p:tag name="KSO_WM_TEMPLATE_CATEGORY" val="diagram"/>
  <p:tag name="KSO_WM_TEMPLATE_INDEX" val="20228071"/>
  <p:tag name="KSO_WM_UNIT_LAYERLEVEL" val="1"/>
  <p:tag name="KSO_WM_TAG_VERSION" val="1.0"/>
  <p:tag name="KSO_WM_BEAUTIFY_FLAG" val="#wm#"/>
  <p:tag name="KSO_WM_UNIT_LINE_FORE_SCHEMECOLOR_INDEX" val="5"/>
  <p:tag name="KSO_WM_UNIT_LINE_FILL_TYPE" val="2"/>
  <p:tag name="KSO_WM_UNIT_USESOURCEFORMAT_APPLY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71_2*l_h_i*1_1_1"/>
  <p:tag name="KSO_WM_TEMPLATE_CATEGORY" val="diagram"/>
  <p:tag name="KSO_WM_TEMPLATE_INDEX" val="20228071"/>
  <p:tag name="KSO_WM_UNIT_LAYERLEVEL" val="1_1_1"/>
  <p:tag name="KSO_WM_TAG_VERSION" val="1.0"/>
  <p:tag name="KSO_WM_BEAUTIFY_FLAG" val="#wm#"/>
  <p:tag name="KSO_WM_UNIT_FILL_FORE_SCHEMECOLOR_INDEX_1_BRIGHTNESS" val="0.8"/>
  <p:tag name="KSO_WM_UNIT_FILL_FORE_SCHEMECOLOR_INDEX_1" val="6"/>
  <p:tag name="KSO_WM_UNIT_FILL_FORE_SCHEMECOLOR_INDEX_1_POS" val="0"/>
  <p:tag name="KSO_WM_UNIT_FILL_FORE_SCHEMECOLOR_INDEX_1_TRANS" val="0.98"/>
  <p:tag name="KSO_WM_UNIT_FILL_FORE_SCHEMECOLOR_INDEX_2_BRIGHTNESS" val="0.8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180"/>
  <p:tag name="KSO_WM_UNIT_FILL_GRADIENT_Direction" val="4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28071_2*l_h_i*1_1_2"/>
  <p:tag name="KSO_WM_TEMPLATE_CATEGORY" val="diagram"/>
  <p:tag name="KSO_WM_TEMPLATE_INDEX" val="20228071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USESOURCEFORMAT_APPLY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71_2*l_h_i*1_1_3"/>
  <p:tag name="KSO_WM_TEMPLATE_CATEGORY" val="diagram"/>
  <p:tag name="KSO_WM_TEMPLATE_INDEX" val="20228071"/>
  <p:tag name="KSO_WM_UNIT_LAYERLEVEL" val="1_1_1"/>
  <p:tag name="KSO_WM_TAG_VERSION" val="1.0"/>
  <p:tag name="KSO_WM_BEAUTIFY_FLAG" val="#wm#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1"/>
  <p:tag name="KSO_WM_UNIT_LINE_GRADIENT_TYPE" val="0"/>
  <p:tag name="KSO_WM_UNIT_LINE_GRADIENT_ANGLE" val="180"/>
  <p:tag name="KSO_WM_UNIT_LINE_GRADIENT_Direction" val="4"/>
  <p:tag name="KSO_WM_UNIT_LINE_FILL_TYPE" val="5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28071_2*l_h_i*1_1_4"/>
  <p:tag name="KSO_WM_TEMPLATE_CATEGORY" val="diagram"/>
  <p:tag name="KSO_WM_TEMPLATE_INDEX" val="2022807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28071_2*l_h_i*1_1_1"/>
  <p:tag name="KSO_WM_TEMPLATE_CATEGORY" val="diagram"/>
  <p:tag name="KSO_WM_TEMPLATE_INDEX" val="20228071"/>
  <p:tag name="KSO_WM_UNIT_LAYERLEVEL" val="1_1_1"/>
  <p:tag name="KSO_WM_TAG_VERSION" val="1.0"/>
  <p:tag name="KSO_WM_BEAUTIFY_FLAG" val="#wm#"/>
  <p:tag name="KSO_WM_UNIT_TEXT_FILL_FORE_SCHEMECOLOR_INDEX_1_BRIGHTNESS" val="0.6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-0.25"/>
  <p:tag name="KSO_WM_UNIT_TEXT_FILL_FORE_SCHEMECOLOR_INDEX_2" val="5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270"/>
  <p:tag name="KSO_WM_UNIT_TEXT_FILL_GRADIENT_Direction" val="6"/>
  <p:tag name="KSO_WM_UNIT_TEXT_FILL_TYPE" val="3"/>
  <p:tag name="KSO_WM_UNIT_USESOURCEFORMAT_APPLY" val="1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071_2*l_h_a*1_1_1"/>
  <p:tag name="KSO_WM_TEMPLATE_CATEGORY" val="diagram"/>
  <p:tag name="KSO_WM_TEMPLATE_INDEX" val="20228071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89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71_2*l_h_f*1_1_1"/>
  <p:tag name="KSO_WM_TEMPLATE_CATEGORY" val="diagram"/>
  <p:tag name="KSO_WM_TEMPLATE_INDEX" val="20228071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8071_2*l_h_i*1_2_1"/>
  <p:tag name="KSO_WM_TEMPLATE_CATEGORY" val="diagram"/>
  <p:tag name="KSO_WM_TEMPLATE_INDEX" val="20228071"/>
  <p:tag name="KSO_WM_UNIT_LAYERLEVEL" val="1_1_1"/>
  <p:tag name="KSO_WM_TAG_VERSION" val="1.0"/>
  <p:tag name="KSO_WM_BEAUTIFY_FLAG" val="#wm#"/>
  <p:tag name="KSO_WM_UNIT_FILL_FORE_SCHEMECOLOR_INDEX_1_BRIGHTNESS" val="0.8"/>
  <p:tag name="KSO_WM_UNIT_FILL_FORE_SCHEMECOLOR_INDEX_1" val="6"/>
  <p:tag name="KSO_WM_UNIT_FILL_FORE_SCHEMECOLOR_INDEX_1_POS" val="0"/>
  <p:tag name="KSO_WM_UNIT_FILL_FORE_SCHEMECOLOR_INDEX_1_TRANS" val="0.98"/>
  <p:tag name="KSO_WM_UNIT_FILL_FORE_SCHEMECOLOR_INDEX_2_BRIGHTNESS" val="0.8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180"/>
  <p:tag name="KSO_WM_UNIT_FILL_GRADIENT_Direction" val="4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28071_2*l_h_i*1_2_2"/>
  <p:tag name="KSO_WM_TEMPLATE_CATEGORY" val="diagram"/>
  <p:tag name="KSO_WM_TEMPLATE_INDEX" val="20228071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6"/>
  <p:tag name="KSO_WM_UNIT_LINE_FILL_TYPE" val="2"/>
  <p:tag name="KSO_WM_UNIT_USESOURCEFORMAT_APPLY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28071_2*l_h_i*1_2_3"/>
  <p:tag name="KSO_WM_TEMPLATE_CATEGORY" val="diagram"/>
  <p:tag name="KSO_WM_TEMPLATE_INDEX" val="20228071"/>
  <p:tag name="KSO_WM_UNIT_LAYERLEVEL" val="1_1_1"/>
  <p:tag name="KSO_WM_TAG_VERSION" val="1.0"/>
  <p:tag name="KSO_WM_BEAUTIFY_FLAG" val="#wm#"/>
  <p:tag name="KSO_WM_UNIT_LINE_FORE_SCHEMECOLOR_INDEX_1_BRIGHTNESS" val="0"/>
  <p:tag name="KSO_WM_UNIT_LINE_FORE_SCHEMECOLOR_INDEX_1" val="6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6"/>
  <p:tag name="KSO_WM_UNIT_LINE_FORE_SCHEMECOLOR_INDEX_2_POS" val="1"/>
  <p:tag name="KSO_WM_UNIT_LINE_FORE_SCHEMECOLOR_INDEX_2_TRANS" val="1"/>
  <p:tag name="KSO_WM_UNIT_LINE_GRADIENT_TYPE" val="0"/>
  <p:tag name="KSO_WM_UNIT_LINE_GRADIENT_ANGLE" val="180"/>
  <p:tag name="KSO_WM_UNIT_LINE_GRADIENT_Direction" val="4"/>
  <p:tag name="KSO_WM_UNIT_LINE_FILL_TYPE" val="5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28071_2*l_h_i*1_2_4"/>
  <p:tag name="KSO_WM_TEMPLATE_CATEGORY" val="diagram"/>
  <p:tag name="KSO_WM_TEMPLATE_INDEX" val="20228071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28071_2*l_h_i*1_2_1"/>
  <p:tag name="KSO_WM_TEMPLATE_CATEGORY" val="diagram"/>
  <p:tag name="KSO_WM_TEMPLATE_INDEX" val="20228071"/>
  <p:tag name="KSO_WM_UNIT_LAYERLEVEL" val="1_1_1"/>
  <p:tag name="KSO_WM_TAG_VERSION" val="1.0"/>
  <p:tag name="KSO_WM_BEAUTIFY_FLAG" val="#wm#"/>
  <p:tag name="KSO_WM_UNIT_TEXT_FILL_FORE_SCHEMECOLOR_INDEX_1_BRIGHTNESS" val="0.6"/>
  <p:tag name="KSO_WM_UNIT_TEXT_FILL_FORE_SCHEMECOLOR_INDEX_1" val="6"/>
  <p:tag name="KSO_WM_UNIT_TEXT_FILL_FORE_SCHEMECOLOR_INDEX_1_POS" val="0"/>
  <p:tag name="KSO_WM_UNIT_TEXT_FILL_FORE_SCHEMECOLOR_INDEX_1_TRANS" val="0"/>
  <p:tag name="KSO_WM_UNIT_TEXT_FILL_FORE_SCHEMECOLOR_INDEX_2_BRIGHTNESS" val="-0.25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270"/>
  <p:tag name="KSO_WM_UNIT_TEXT_FILL_GRADIENT_Direction" val="6"/>
  <p:tag name="KSO_WM_UNIT_TEXT_FILL_TYPE" val="3"/>
  <p:tag name="KSO_WM_UNIT_USESOURCEFORMAT_APPLY" val="1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28071_2*l_h_a*1_2_1"/>
  <p:tag name="KSO_WM_TEMPLATE_CATEGORY" val="diagram"/>
  <p:tag name="KSO_WM_TEMPLATE_INDEX" val="20228071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96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8071_2*l_h_f*1_2_1"/>
  <p:tag name="KSO_WM_TEMPLATE_CATEGORY" val="diagram"/>
  <p:tag name="KSO_WM_TEMPLATE_INDEX" val="20228071"/>
  <p:tag name="KSO_WM_UNIT_LAYERLEVEL" val="1_1_1"/>
  <p:tag name="KSO_WM_TAG_VERSION" val="1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SLIDE_ITEM_CNT" val="2"/>
</p:tagLst>
</file>

<file path=ppt/tags/tag98.xml><?xml version="1.0" encoding="utf-8"?>
<p:tagLst xmlns:p="http://schemas.openxmlformats.org/presentationml/2006/main">
  <p:tag name="KSO_WM_UNIT_TABLE_BEAUTIFY" val="smartTable{a75f1b83-a36d-4b67-955e-1bd193e27339}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83_3*l_h_i*1_1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83_3*l_h_i*1_1_3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28083_3*l_h_i*1_1_4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请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083_3*l_h_a*1_1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103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83_3*l_h_f*1_1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8083_3*l_h_i*1_2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28083_3*l_h_i*1_2_3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28083_3*l_h_i*1_2_4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请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28083_3*l_h_a*1_2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108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8083_3*l_h_f*1_2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109.xml><?xml version="1.0" encoding="utf-8"?>
<p:tagLst xmlns:p="http://schemas.openxmlformats.org/presentationml/2006/main">
  <p:tag name="KSO_WM_UNIT_PLACING_PICTURE_USER_VIEWPORT" val="{&quot;height&quot;:5013,&quot;width&quot;:8965}"/>
</p:tagLst>
</file>

<file path=ppt/tags/tag110.xml><?xml version="1.0" encoding="utf-8"?>
<p:tagLst xmlns:p="http://schemas.openxmlformats.org/presentationml/2006/main">
  <p:tag name="KSO_WM_UNIT_PLACING_PICTURE_USER_VIEWPORT" val="{&quot;height&quot;:4305,&quot;width&quot;:8966}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5"/>
  <p:tag name="KSO_WM_UNIT_ID" val="diagram20228083_3*l_h_i*1_3_5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LINE_FORE_SCHEMECOLOR_INDEX" val="7"/>
  <p:tag name="KSO_WM_UNIT_LINE_FILL_TYPE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83_3*l_h_i*1_1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83_3*l_h_i*1_1_3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28083_3*l_h_i*1_1_4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PRESET_TEXT" val="请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083_3*l_h_a*1_1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116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83_3*l_h_f*1_1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8083_3*l_h_i*1_2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28083_3*l_h_i*1_2_3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28083_3*l_h_i*1_2_4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PRESET_TEXT" val="请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28083_3*l_h_a*1_2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121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8083_3*l_h_f*1_2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83_3*l_h_i*1_1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83_3*l_h_i*1_1_3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28083_3*l_h_i*1_1_4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PRESET_TEXT" val="请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083_3*l_h_a*1_1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126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83_3*l_h_f*1_1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8083_3*l_h_i*1_2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28083_3*l_h_i*1_2_3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28083_3*l_h_i*1_2_4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PRESET_TEXT" val="请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28083_3*l_h_a*1_2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TEXT_FILL_FORE_SCHEMECOLOR_INDEX" val="14"/>
  <p:tag name="KSO_WM_UNIT_TEXT_FILL_TYPE" val="1"/>
</p:tagLst>
</file>

<file path=ppt/tags/tag131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8083_3*l_h_f*1_2_1"/>
  <p:tag name="KSO_WM_TEMPLATE_CATEGORY" val="diagram"/>
  <p:tag name="KSO_WM_TEMPLATE_INDEX" val="20228083"/>
  <p:tag name="KSO_WM_UNIT_LAYERLEVEL" val="1_1_1"/>
  <p:tag name="KSO_WM_TAG_VERSION" val="1.0"/>
  <p:tag name="KSO_WM_BEAUTIFY_FLAG" val="#wm#"/>
  <p:tag name="KSO_WM_UNIT_TEXT_FILL_FORE_SCHEMECOLOR_INDEX" val="13"/>
  <p:tag name="KSO_WM_UNIT_TEXT_FILL_TYPE" val="1"/>
</p:tagLst>
</file>

<file path=ppt/tags/tag132.xml><?xml version="1.0" encoding="utf-8"?>
<p:tagLst xmlns:p="http://schemas.openxmlformats.org/presentationml/2006/main">
  <p:tag name="COMMONDATA" val="eyJoZGlkIjoiZDMxNWJkNDc0NmRjMjJjYTk2YWVmNzU1YTljOTExODMifQ=="/>
  <p:tag name="KSO_WPP_MARK_KEY" val="e3506d02-5406-4896-b49f-3cabdc535f0a"/>
</p:tagLst>
</file>

<file path=ppt/theme/theme1.xml><?xml version="1.0" encoding="utf-8"?>
<a:theme xmlns:a="http://schemas.openxmlformats.org/drawingml/2006/main" name="Office 主题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C39B6D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C39B6D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C39B6D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C39B6D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2274</Words>
  <Application>WPS 演示</Application>
  <PresentationFormat>自定义</PresentationFormat>
  <Paragraphs>384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Impact</vt:lpstr>
      <vt:lpstr>Source Han Sans CN Normal</vt:lpstr>
      <vt:lpstr>Gill Sans</vt:lpstr>
      <vt:lpstr>黑体</vt:lpstr>
      <vt:lpstr>Segoe UI</vt:lpstr>
      <vt:lpstr>Calibri</vt:lpstr>
      <vt:lpstr>华文宋体</vt:lpstr>
      <vt:lpstr>等线</vt:lpstr>
      <vt:lpstr>Segoe Print</vt:lpstr>
      <vt:lpstr>Arial Unicode MS</vt:lpstr>
      <vt:lpstr>思源黑体 CN Bold</vt:lpstr>
      <vt:lpstr>思源黑体 CN Regular</vt:lpstr>
      <vt:lpstr>思源黑体 CN Heavy</vt:lpstr>
      <vt:lpstr>思源黑体 CN Light</vt:lpstr>
      <vt:lpstr>MiSans</vt:lpstr>
      <vt:lpstr>Wingdings</vt:lpstr>
      <vt:lpstr>Office 主题</vt:lpstr>
      <vt:lpstr>1_Office 主题</vt:lpstr>
      <vt:lpstr>2_Office 主题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zhh2</dc:creator>
  <cp:lastModifiedBy>Ethan  Lin</cp:lastModifiedBy>
  <cp:revision>396</cp:revision>
  <dcterms:created xsi:type="dcterms:W3CDTF">2018-03-22T02:47:00Z</dcterms:created>
  <dcterms:modified xsi:type="dcterms:W3CDTF">2022-12-10T01:48:42Z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53578EE5904B4F989FD6553969D60083</vt:lpwstr>
  </property>
</Properties>
</file>